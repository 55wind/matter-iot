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핵심 주제" id="{45afe2cf-732b-2a3f-ac8c-15c6aaa7f632}">
          <p14:sldIdLst>
            <p14:sldId id="256"/>
          </p14:sldIdLst>
        </p14:section>
        <p14:section name="주요 개발 내용" id="{b19d49fd-ffe7-a2a3-559a-03502d13e0b4}">
          <p14:sldIdLst>
            <p14:sldId id="257"/>
            <p14:sldId id="258"/>
            <p14:sldId id="259"/>
          </p14:sldIdLst>
        </p14:section>
        <p14:section name="시연 내용" id="{0d569fea-0129-3504-08d4-2d30195d8164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1D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D1D1F"/>
                </a:solidFill>
                <a:latin typeface="+mn-lt"/>
              </a:rPr>
              <a:t>벽 표면 온도별 허용 실내 습도 (실내 21℃)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허용 상한 (벽 표면 80%)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15℃</c:v>
                  </c:pt>
                  <c:pt idx="1">
                    <c:v>12℃</c:v>
                  </c:pt>
                  <c:pt idx="2">
                    <c:v>9℃</c:v>
                  </c:pt>
                  <c:pt idx="3">
                    <c:v>약 7.2℃</c:v>
                  </c:pt>
                  <c:pt idx="4">
                    <c:v>6℃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45</c:v>
                </c:pt>
                <c:pt idx="2">
                  <c:v>37</c:v>
                </c:pt>
                <c:pt idx="3">
                  <c:v>33</c:v>
                </c:pt>
                <c:pt idx="4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Base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요구 하한 (절대습도 6 g/㎥)</c:v>
                </c:pt>
              </c:strCache>
            </c:strRef>
          </c:tx>
          <c:spPr>
            <a:solidFill>
              <a:srgbClr val="E30000"/>
            </a:solidFill>
            <a:ln w="25400" cap="flat">
              <a:solidFill>
                <a:srgbClr val="E3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30000"/>
              </a:solidFill>
              <a:ln w="9525" cap="flat">
                <a:solidFill>
                  <a:srgbClr val="E3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15℃</c:v>
                  </c:pt>
                  <c:pt idx="1">
                    <c:v>12℃</c:v>
                  </c:pt>
                  <c:pt idx="2">
                    <c:v>9℃</c:v>
                  </c:pt>
                  <c:pt idx="3">
                    <c:v>약 7.2℃</c:v>
                  </c:pt>
                  <c:pt idx="4">
                    <c:v>6℃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DED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E6E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습도계가 45%로 안전해 보여도 12도까지 식은 북측 벽 표면에 닿은 공기는 80%입니다. 곰팡이 임계는 벽 표면 값으로 정해집니다. 수면, 점막 방어, 곰팡이 세 목표가 서로 충돌하고, 벽 온도에 따라 허용 습도 구간이 30%에서 55%까지 달라집니다. 이 구간을 계산해 지키는 것이 이 노드입니다.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구성은 측정, 판단, 개입, 노출 4계층입니다. 판단은 nRF54LM20 DK 안에서 끝나고, 결과는 릴레이로 가전 전원을 켜고 끄며, 같은 결과를 Matter 엔드포인트로 SmartThings에 보고합니다. 릴레이는 LOW에서 켜지는 모듈이라 핀을 active-low로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SDK 예제 위에 엔드포인트를 직접 추가했습니다. 습도·온도는 표준 측정 클러스터로, 가습기와 선풍기는 On/Off로 노출합니다. 판단부가 속성을 설정하면 SDK가 허브로 ReportData를 보내고, 시연 1회 동안 19번 보고해 19번 모두 수신 확인을 받았습니다. 앱에서 직접 조작한 값은 콜백으로 받아 판단부에 반영합니다.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노드는 0.5초마다 표면 습도와 절대습도를 계산합니다. 75%에서 가습을 멈추고, 그래도 오르면 선풍기를 켭니다. 선풍기를 켤 때 벽이 몇 도 오르는지 스스로 재서, 선풍기를 꺼도 안전한지를 판단합니다. 선풍기로 허용 구간을 넓힌 뒤에는 선풍기를 켠 채로 가습을 이어가 점막 방어와 곰팡이 방어를 동시에 지킵니다.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화면 하나로 시연합니다. 22시부터 08시까지를 60초로 압축했습니다. 실내 습도는 40%대에 머무는데 벽 표면 습도만 올라가고, 75%에서 노드가 가습을 멈춘 뒤 선풍기로 벽을 데웁니다. 그 순간 릴레이가 딸깍하고, 노드가 허브로 보고하는 것이 화면에 표시됩니다. 같은 밤 일반 가습기였다면 8시간 넘게 곰팡이 임계를 넘었을 것을 우리 노드는 0분으로 막았습니다.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침실 환경 면역 방어 노드 · 팀 밤새고 네집내집가기 · 지능형 홈(AI@Home) Matter AX Sprint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핵심 주제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방 습도계가 45%일 때, 차가운 벽 표면은 80%입니다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벽 표면의 습도를 계산해 곰팡이 임계 전에 가습기와 선풍기를 스스로 조절하는 Matter 디바이스 · 응모 분야 Living Assist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6" name="Image 0" descr="습도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19202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실내 습도 (방 습도계)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45%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방 공기의 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1" name="Image 1" descr="차가운 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9202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12℃ 북측 벽 표면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80%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ISO 13788 곰팡이 임계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4904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서로 충돌하는 침실의 세 목표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2" descr="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425305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41239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수면 · 침실 18~20℃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Prather, SLEEP 2015 · 사용자가 정하는 제약 조건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3" descr="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4893137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52144" y="476402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점막 방어 · 절대습도 6 g/㎥ 이상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Shaman &amp; Kohn, PNAS 2009 · 노드가 제어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54406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4" descr="vir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77" y="5533217"/>
            <a:ext cx="235549" cy="23554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52144" y="540410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곰팡이·진드기 · 벽 표면 80% 이하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ISO 13788:2012 · 노드가 제어</a:t>
            </a:r>
            <a:endParaRPr lang="en-US" sz="14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400800" y="1783080"/>
          <a:ext cx="5257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400800" y="55321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벽이 약 7.2℃ 아래로 내려가면 두 목표를 함께 만족하는 구간이 사라집니다. 노드는 선풍기로 벽 표면을 데워 이 구간을 되찾습니다.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주요 개발 내용 ① 시스템 구성과 회로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판단은 보드 안에서, 개입은 릴레이로, 결과는 Matter로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011" y="1638971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실내 온·습도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벽 표면 온도 · 침구 습도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시연: 가상 침실이 값 생성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7296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38328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rgbClr val="1D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1554480"/>
            <a:ext cx="384048" cy="384048"/>
          </a:xfrm>
          <a:prstGeom prst="ellipse">
            <a:avLst/>
          </a:prstGeom>
          <a:solidFill>
            <a:srgbClr val="2E7D60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1" descr="cp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651" y="163897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993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판단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9DD"/>
                </a:solidFill>
              </a:rPr>
              <a:t>nRF54LM20 DK 안에서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9DD"/>
                </a:solidFill>
              </a:rPr>
              <a:t>표면 습도 · 75/70% 판정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9DD"/>
                </a:solidFill>
              </a:rPr>
              <a:t>학습 · 예측 · 클라우드 불필요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0760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1792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8" name="Image 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91" y="1638971"/>
            <a:ext cx="215067" cy="215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9457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개입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2채널 릴레이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CH1 선풍기 · CH2 가습기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GPIO P1.20 · P1.21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192024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05256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354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3" descr="wa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31" y="1638971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2921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노출 · Matter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EP1 선풍기 · EP5 가습기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EP2·3 습도 · EP4 온도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표준 클러스터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78942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1851660" y="3182112"/>
            <a:ext cx="4937760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185166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headEnd type="triangle"/>
          </a:ln>
        </p:spPr>
      </p:sp>
      <p:sp>
        <p:nvSpPr>
          <p:cNvPr id="30" name="Text 24"/>
          <p:cNvSpPr txBox="1"/>
          <p:nvPr/>
        </p:nvSpPr>
        <p:spPr>
          <a:xfrm>
            <a:off x="2194560" y="32552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닫힌 고리: 선풍기·가습기가 바꾼 환경이 다시 측정값으로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052560" y="3035808"/>
            <a:ext cx="2606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32" name="Image 4" descr="SmartThings 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3145536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5480" y="305409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SmartThings Station · 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</a:rPr>
              <a:t>Thread로 보고 · 수신 확인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10355580" y="2834640"/>
            <a:ext cx="0" cy="201168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548640" y="3730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회로 · DK ↔ 2채널 릴레이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8640" y="4069080"/>
            <a:ext cx="2697480" cy="2212848"/>
          </a:xfrm>
          <a:prstGeom prst="roundRect">
            <a:avLst>
              <a:gd name="adj" fmla="val 4959"/>
            </a:avLst>
          </a:prstGeom>
          <a:solidFill>
            <a:schemeClr val="accent2"/>
          </a:solidFill>
          <a:ln w="12700">
            <a:solidFill>
              <a:srgbClr val="1D5C45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152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nRF54LM20 DK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3152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PCA10184 · nRF54LM20B</a:t>
            </a:r>
            <a:endParaRPr lang="en-US" sz="1100" dirty="0"/>
          </a:p>
        </p:txBody>
      </p:sp>
      <p:pic>
        <p:nvPicPr>
          <p:cNvPr id="39" name="Image 5" descr="D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6352" y="4187952"/>
            <a:ext cx="292608" cy="29260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4800600" y="4069080"/>
            <a:ext cx="2331720" cy="2212848"/>
          </a:xfrm>
          <a:prstGeom prst="roundRect">
            <a:avLst>
              <a:gd name="adj" fmla="val 495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493776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2채널 릴레이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493776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LOW에서 켜짐 (점퍼 L)</a:t>
            </a:r>
            <a:endParaRPr lang="en-US" sz="1100" dirty="0"/>
          </a:p>
        </p:txBody>
      </p:sp>
      <p:pic>
        <p:nvPicPr>
          <p:cNvPr id="43" name="Image 6" descr="릴레이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4187952"/>
            <a:ext cx="274320" cy="274320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749808" y="490118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932688" y="4800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LED0 Matter 상태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2331720" y="48006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33172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5V0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3108960" y="4946904"/>
            <a:ext cx="1810512" cy="0"/>
          </a:xfrm>
          <a:prstGeom prst="line">
            <a:avLst/>
          </a:prstGeom>
          <a:noFill/>
          <a:ln w="38100">
            <a:solidFill>
              <a:srgbClr val="E3000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46120" y="4690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5V 전원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4919472" y="480060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919472" y="48006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DC+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749808" y="526694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51663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LED1 선풍기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2331720" y="516636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331720" y="51663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GND</a:t>
            </a:r>
            <a:endParaRPr lang="en-US" sz="1100" dirty="0"/>
          </a:p>
        </p:txBody>
      </p:sp>
      <p:sp>
        <p:nvSpPr>
          <p:cNvPr id="56" name="Shape 47"/>
          <p:cNvSpPr/>
          <p:nvPr/>
        </p:nvSpPr>
        <p:spPr>
          <a:xfrm>
            <a:off x="3108960" y="5312664"/>
            <a:ext cx="1810512" cy="0"/>
          </a:xfrm>
          <a:prstGeom prst="line">
            <a:avLst/>
          </a:prstGeom>
          <a:noFill/>
          <a:ln w="38100">
            <a:solidFill>
              <a:srgbClr val="1D1D1F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246120" y="5056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접지</a:t>
            </a:r>
            <a:endParaRPr lang="en-US" sz="1000" dirty="0"/>
          </a:p>
        </p:txBody>
      </p:sp>
      <p:sp>
        <p:nvSpPr>
          <p:cNvPr id="58" name="Shape 49"/>
          <p:cNvSpPr/>
          <p:nvPr/>
        </p:nvSpPr>
        <p:spPr>
          <a:xfrm>
            <a:off x="4919472" y="516636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4919472" y="5166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DC−</a:t>
            </a:r>
            <a:endParaRPr lang="en-US" sz="1100" dirty="0"/>
          </a:p>
        </p:txBody>
      </p:sp>
      <p:sp>
        <p:nvSpPr>
          <p:cNvPr id="60" name="Shape 51"/>
          <p:cNvSpPr/>
          <p:nvPr/>
        </p:nvSpPr>
        <p:spPr>
          <a:xfrm>
            <a:off x="749808" y="563270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932688" y="5532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LED2 가습기</a:t>
            </a:r>
            <a:endParaRPr lang="en-US" sz="1100" dirty="0"/>
          </a:p>
        </p:txBody>
      </p:sp>
      <p:sp>
        <p:nvSpPr>
          <p:cNvPr id="62" name="Shape 53"/>
          <p:cNvSpPr/>
          <p:nvPr/>
        </p:nvSpPr>
        <p:spPr>
          <a:xfrm>
            <a:off x="2331720" y="55321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331720" y="55321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P1.20</a:t>
            </a:r>
            <a:endParaRPr lang="en-US" sz="1100" dirty="0"/>
          </a:p>
        </p:txBody>
      </p:sp>
      <p:sp>
        <p:nvSpPr>
          <p:cNvPr id="64" name="Shape 55"/>
          <p:cNvSpPr/>
          <p:nvPr/>
        </p:nvSpPr>
        <p:spPr>
          <a:xfrm>
            <a:off x="3108960" y="5678424"/>
            <a:ext cx="1810512" cy="0"/>
          </a:xfrm>
          <a:prstGeom prst="line">
            <a:avLst/>
          </a:prstGeom>
          <a:noFill/>
          <a:ln w="38100">
            <a:solidFill>
              <a:srgbClr val="0066C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3246120" y="5422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선풍기 신호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4919472" y="553212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4919472" y="5532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IN1</a:t>
            </a:r>
            <a:endParaRPr lang="en-US" sz="1100" dirty="0"/>
          </a:p>
        </p:txBody>
      </p:sp>
      <p:pic>
        <p:nvPicPr>
          <p:cNvPr id="68" name="Image 7" descr="CH1 선풍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5550408"/>
            <a:ext cx="256032" cy="25603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961888" y="5532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CH1 선풍기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749808" y="599846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32688" y="5897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LED3 표면 80%↑</a:t>
            </a:r>
            <a:endParaRPr lang="en-US" sz="1100" dirty="0"/>
          </a:p>
        </p:txBody>
      </p:sp>
      <p:sp>
        <p:nvSpPr>
          <p:cNvPr id="72" name="Shape 62"/>
          <p:cNvSpPr/>
          <p:nvPr/>
        </p:nvSpPr>
        <p:spPr>
          <a:xfrm>
            <a:off x="2331720" y="5897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2331720" y="58978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P1.21</a:t>
            </a:r>
            <a:endParaRPr lang="en-US" sz="1100" dirty="0"/>
          </a:p>
        </p:txBody>
      </p:sp>
      <p:sp>
        <p:nvSpPr>
          <p:cNvPr id="74" name="Shape 64"/>
          <p:cNvSpPr/>
          <p:nvPr/>
        </p:nvSpPr>
        <p:spPr>
          <a:xfrm>
            <a:off x="3108960" y="6044184"/>
            <a:ext cx="1810512" cy="0"/>
          </a:xfrm>
          <a:prstGeom prst="line">
            <a:avLst/>
          </a:prstGeom>
          <a:noFill/>
          <a:ln w="38100">
            <a:solidFill>
              <a:srgbClr val="F08A00"/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3246120" y="5788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가습기 신호</a:t>
            </a:r>
            <a:endParaRPr lang="en-US" sz="1000" dirty="0"/>
          </a:p>
        </p:txBody>
      </p:sp>
      <p:sp>
        <p:nvSpPr>
          <p:cNvPr id="76" name="Shape 66"/>
          <p:cNvSpPr/>
          <p:nvPr/>
        </p:nvSpPr>
        <p:spPr>
          <a:xfrm>
            <a:off x="4919472" y="589788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4919472" y="58978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IN2</a:t>
            </a:r>
            <a:endParaRPr lang="en-US" sz="1100" dirty="0"/>
          </a:p>
        </p:txBody>
      </p:sp>
      <p:pic>
        <p:nvPicPr>
          <p:cNvPr id="78" name="Image 8" descr="CH2 가습기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5916168"/>
            <a:ext cx="256032" cy="256032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5961888" y="5897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CH2 가습기</a:t>
            </a:r>
            <a:endParaRPr lang="en-US" sz="1100" dirty="0"/>
          </a:p>
        </p:txBody>
      </p:sp>
      <p:sp>
        <p:nvSpPr>
          <p:cNvPr id="80" name="Text 69"/>
          <p:cNvSpPr txBox="1"/>
          <p:nvPr/>
        </p:nvSpPr>
        <p:spPr>
          <a:xfrm>
            <a:off x="749808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하드웨어 구현에서 해결한 것</a:t>
            </a:r>
            <a:endParaRPr lang="en-US" sz="1400" dirty="0"/>
          </a:p>
        </p:txBody>
      </p:sp>
      <p:sp>
        <p:nvSpPr>
          <p:cNvPr id="81" name="Shape 70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2" name="Image 9" descr="cpu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2571" y="4245011"/>
            <a:ext cx="215067" cy="215067"/>
          </a:xfrm>
          <a:prstGeom prst="rect">
            <a:avLst/>
          </a:prstGeom>
        </p:spPr>
      </p:pic>
      <p:sp>
        <p:nvSpPr>
          <p:cNvPr id="83" name="Text 71"/>
          <p:cNvSpPr txBox="1"/>
          <p:nvPr/>
        </p:nvSpPr>
        <p:spPr>
          <a:xfrm>
            <a:off x="8065008" y="41239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보드 타깃 nrf54lm20b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칩이 nRF54LM20B라 설명서의 a 타깃 대신 b로 빌드</a:t>
            </a:r>
            <a:endParaRPr lang="en-US" sz="1300" dirty="0"/>
          </a:p>
        </p:txBody>
      </p:sp>
      <p:sp>
        <p:nvSpPr>
          <p:cNvPr id="84" name="Shape 72"/>
          <p:cNvSpPr/>
          <p:nvPr/>
        </p:nvSpPr>
        <p:spPr>
          <a:xfrm>
            <a:off x="749808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5" name="Image 10" descr="plu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2571" y="4930811"/>
            <a:ext cx="215067" cy="215067"/>
          </a:xfrm>
          <a:prstGeom prst="rect">
            <a:avLst/>
          </a:prstGeom>
        </p:spPr>
      </p:pic>
      <p:sp>
        <p:nvSpPr>
          <p:cNvPr id="86" name="Text 73"/>
          <p:cNvSpPr txBox="1"/>
          <p:nvPr/>
        </p:nvSpPr>
        <p:spPr>
          <a:xfrm>
            <a:off x="8065008" y="48097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devicetree overlay로 릴레이 핀 정의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P1.20 · P1.21 = GPIO_ACTIVE_LOW</a:t>
            </a:r>
            <a:endParaRPr lang="en-US" sz="1300" dirty="0"/>
          </a:p>
        </p:txBody>
      </p:sp>
      <p:sp>
        <p:nvSpPr>
          <p:cNvPr id="87" name="Shape 74"/>
          <p:cNvSpPr/>
          <p:nvPr/>
        </p:nvSpPr>
        <p:spPr>
          <a:xfrm>
            <a:off x="7498080" y="5532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8" name="Image 11" descr="aler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571" y="5616611"/>
            <a:ext cx="215067" cy="215067"/>
          </a:xfrm>
          <a:prstGeom prst="rect">
            <a:avLst/>
          </a:prstGeom>
        </p:spPr>
      </p:pic>
      <p:sp>
        <p:nvSpPr>
          <p:cNvPr id="89" name="Text 75"/>
          <p:cNvSpPr txBox="1"/>
          <p:nvPr/>
        </p:nvSpPr>
        <p:spPr>
          <a:xfrm>
            <a:off x="8065008" y="54955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P1.22 제외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DK의 LED0 핀과 겹쳐 오동작 → 옆 핀 P1.21로 이동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주요 개발 내용 ② Matter SDK 활용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nRF Connect SDK로 노드 하나를 엔드포인트 6개로 직접 구성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0372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48840"/>
                <a:gridCol w="2148840"/>
                <a:gridCol w="2194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 타입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클러스터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노드가 하는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Root Node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Basic Info · 커미셔닝 · Thread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커미셔닝 · Thread 합류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Dimmable Light → 선풍기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· Level · Identify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습도 (노드 계산)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실내 습도 (방 습도계)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Measurement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온도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Plug-in → 가습기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· Groups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d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4153571"/>
            <a:ext cx="215067" cy="2150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15568" y="403250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ZAP 데이터 모델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light_bulb.zap에 EP2~EP5 추가 → west zap-generate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9" name="Image 1" descr="uplo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4702211"/>
            <a:ext cx="215067" cy="21506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15568" y="458114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속성 게시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Accessors로 값 설정, ScheduleWork로 Matter 스레드에서 실행 → 허브에 ReportData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2" descr="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5250851"/>
            <a:ext cx="215067" cy="21506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978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앱 조작 수신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MatterPostAttributeChangeCallback → 릴레이 구동 + 판단부 반영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q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5799491"/>
            <a:ext cx="215067" cy="21506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15568" y="567842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커미셔닝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공장 데이터 + BLE로 SmartThings 등록 → Thread 네트워크 합류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772400" y="1371600"/>
            <a:ext cx="3886200" cy="48463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4" descr="SmartThings 앱에 등록된 노드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1554480"/>
            <a:ext cx="1600200" cy="34671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010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SmartThings 등록 화면</a:t>
            </a:r>
            <a:endParaRPr lang="en-US" sz="1100" dirty="0"/>
          </a:p>
        </p:txBody>
      </p:sp>
      <p:pic>
        <p:nvPicPr>
          <p:cNvPr id="20" name="Image 5" descr="wav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2368" y="1655064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168128" y="1600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19 / 19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9802368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허브 보고 / 수신 확인 (시연 1회)</a:t>
            </a:r>
            <a:endParaRPr lang="en-US" sz="1100" dirty="0"/>
          </a:p>
        </p:txBody>
      </p:sp>
      <p:pic>
        <p:nvPicPr>
          <p:cNvPr id="23" name="Image 6" descr="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2368" y="2660904"/>
            <a:ext cx="310896" cy="310896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168128" y="26060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91 ms</a:t>
            </a:r>
            <a:endParaRPr lang="en-US" sz="2200" dirty="0"/>
          </a:p>
        </p:txBody>
      </p:sp>
      <p:sp>
        <p:nvSpPr>
          <p:cNvPr id="25" name="Text 15"/>
          <p:cNvSpPr txBox="1"/>
          <p:nvPr/>
        </p:nvSpPr>
        <p:spPr>
          <a:xfrm>
            <a:off x="980236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보고 → 허브 응답</a:t>
            </a:r>
            <a:endParaRPr lang="en-US" sz="1100" dirty="0"/>
          </a:p>
        </p:txBody>
      </p:sp>
      <p:pic>
        <p:nvPicPr>
          <p:cNvPr id="26" name="Image 7" descr="cpu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368" y="3666744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0168128" y="361188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42%</a:t>
            </a:r>
            <a:endParaRPr lang="en-US" sz="2200" dirty="0"/>
          </a:p>
        </p:txBody>
      </p:sp>
      <p:sp>
        <p:nvSpPr>
          <p:cNvPr id="28" name="Text 17"/>
          <p:cNvSpPr txBox="1"/>
          <p:nvPr/>
        </p:nvSpPr>
        <p:spPr>
          <a:xfrm>
            <a:off x="9802368" y="4069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Flash 사용 (RAM 36%)</a:t>
            </a:r>
            <a:endParaRPr lang="en-US" sz="1100" dirty="0"/>
          </a:p>
        </p:txBody>
      </p:sp>
      <p:pic>
        <p:nvPicPr>
          <p:cNvPr id="29" name="Image 8" descr="d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4672584"/>
            <a:ext cx="310896" cy="310896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168128" y="46177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v3.4.1</a:t>
            </a:r>
            <a:endParaRPr lang="en-US" sz="2200" dirty="0"/>
          </a:p>
        </p:txBody>
      </p:sp>
      <p:sp>
        <p:nvSpPr>
          <p:cNvPr id="31" name="Text 19"/>
          <p:cNvSpPr txBox="1"/>
          <p:nvPr/>
        </p:nvSpPr>
        <p:spPr>
          <a:xfrm>
            <a:off x="9802368" y="50749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nRF Connect SDK</a:t>
            </a:r>
            <a:endParaRPr lang="en-US" sz="1100" dirty="0"/>
          </a:p>
        </p:txBody>
      </p:sp>
      <p:sp>
        <p:nvSpPr>
          <p:cNvPr id="32" name="Text 20"/>
          <p:cNvSpPr txBox="1"/>
          <p:nvPr/>
        </p:nvSpPr>
        <p:spPr>
          <a:xfrm>
            <a:off x="8001000" y="5486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SmartThings 앱은 스위치와 센서가 섞인 기기에서 센서 엔드포인트를 표시하지 않아, EP2~EP4 값은 시연 화면에서 함께 보여줍니다.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주요 개발 내용 ③ 온디바이스 판단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노드가 스스로 계산하고, 학습하고, 개입합니다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206240" cy="48463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cal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731" y="1657259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627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계산 (0.5초마다)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포화 수증기압 (Magnus)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23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Pₛ(T) = 6.112 · exp(17.62T / (243.12 + T))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벽 표면 상대습도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246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RHₛ = RH실내 · Pₛ(T실내) / Pₛ(T벽)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794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절대습도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069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AH = 216.7 · (RH/100 · Pₛ(T)) / (273.15 + T)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617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허용 상한 (표 3)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8920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RH상한 = 80 · Pₛ(T벽) / Pₛ(T실내)</a:t>
            </a:r>
            <a:endParaRPr lang="en-US" sz="1400" dirty="0"/>
          </a:p>
        </p:txBody>
      </p:sp>
      <p:pic>
        <p:nvPicPr>
          <p:cNvPr id="16" name="Image 1" descr="클라우드 불필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532120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88720" y="54864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판단·학습·예측은 모두 DK 안에서. Wi-Fi나 클라우드가 끊겨도 방어는 계속됩니다.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7492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2" descr="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411" y="1456091"/>
            <a:ext cx="215067" cy="21506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41848" y="1335024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곰팡이 방어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벽 표면 75%(ISO 80 − 불확실성 5%p)에서 가습 정지, 70% 아래에서만 재개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74920" y="1975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9411" y="2059595"/>
            <a:ext cx="215067" cy="21506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641848" y="1938528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 점막 방어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절대습도 6.5 g/㎥ 아래면 가습, 8 g/㎥에서 정지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074920" y="25786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5" name="Image 4" descr="f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9411" y="2663099"/>
            <a:ext cx="215067" cy="21506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641848" y="2542032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선풍기 개입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가습을 멈춰도 75% 이상이면 0.5초 뒤 선풍기 ON → 벽 표면을 데움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5074920" y="318211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8" name="Image 5" descr="bra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9411" y="3266603"/>
            <a:ext cx="215067" cy="21506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641848" y="3145536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 학습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선풍기 ON 후 3분간 벽 표면 상승폭을 재고(시연 +2.8℃) 끄는 시점을 판단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507492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1" name="Image 6" descr="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9411" y="3870107"/>
            <a:ext cx="215067" cy="215067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1848" y="3749040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 예측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벽 표면 온도 추세로 임계 80% 도달까지 남은 시간 계산</a:t>
            </a:r>
            <a:endParaRPr lang="en-US" sz="1400" dirty="0"/>
          </a:p>
        </p:txBody>
      </p:sp>
      <p:sp>
        <p:nvSpPr>
          <p:cNvPr id="33" name="Shape 24"/>
          <p:cNvSpPr/>
          <p:nvPr/>
        </p:nvSpPr>
        <p:spPr>
          <a:xfrm>
            <a:off x="5074920" y="4389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4" name="Image 7" descr="jo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9411" y="4473611"/>
            <a:ext cx="215067" cy="215067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641848" y="4352544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동시 가동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선풍기로 넓힌 구간 안에서 선풍기를 켠 채 가습 재개 (②·③ 동시 충족)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5074920" y="49926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7" name="Image 8" descr="us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9411" y="5077115"/>
            <a:ext cx="215067" cy="215067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5641848" y="4956048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사용자 우선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앱·버튼 조작은 30분 존중, 벽 표면 80%를 넘으면 방어 우선</a:t>
            </a:r>
            <a:endParaRPr lang="en-US" sz="1400" dirty="0"/>
          </a:p>
        </p:txBody>
      </p:sp>
      <p:sp>
        <p:nvSpPr>
          <p:cNvPr id="39" name="Shape 28"/>
          <p:cNvSpPr/>
          <p:nvPr/>
        </p:nvSpPr>
        <p:spPr>
          <a:xfrm>
            <a:off x="5074920" y="55961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0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411" y="5680619"/>
            <a:ext cx="215067" cy="215067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5641848" y="5559552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기록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벽 표면 80% 이상이었던 시간을 누적 위험 시간으로 기록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시연 내용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한파의 밤 10시간을 60초에: 누적 위험 시간 0분</a:t>
            </a:r>
            <a:endParaRPr lang="en-US" sz="3000" dirty="0"/>
          </a:p>
        </p:txBody>
      </p:sp>
      <p:pic>
        <p:nvPicPr>
          <p:cNvPr id="4" name="Image 0" descr="시연 화면: 가상 침실과 판단 노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900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76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시연 화면 하나에 실내·벽 표면 습도, 노드의 판단, 가습기·선풍기, SmartThings 허브 보고가 함께 보입니다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092440" y="14447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7" name="Image 1" descr="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977" y="1537289"/>
            <a:ext cx="235549" cy="23554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59368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0분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8659368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누적 위험 시간 · 우리 노드 (실제 보드)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92440" y="235915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1" name="Image 2" descr="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4977" y="2451689"/>
            <a:ext cx="235549" cy="23554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59368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8시간 38분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8659368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같은 밤 · 일반 가습기(60% 목표)였다면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092440" y="32735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977" y="3366089"/>
            <a:ext cx="235549" cy="23554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59368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77% / 119%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8659368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최고 벽 표면 습도 · 우리 노드 / 일반 가습기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092440" y="4187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4" descr="f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977" y="4280489"/>
            <a:ext cx="235549" cy="23554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59368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+2.8℃</a:t>
            </a:r>
            <a:endParaRPr lang="en-US" sz="3000" dirty="0"/>
          </a:p>
        </p:txBody>
      </p:sp>
      <p:sp>
        <p:nvSpPr>
          <p:cNvPr id="21" name="Text 14"/>
          <p:cNvSpPr txBox="1"/>
          <p:nvPr/>
        </p:nvSpPr>
        <p:spPr>
          <a:xfrm>
            <a:off x="8659368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노드가 학습한 선풍기 효과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0080" y="5815584"/>
            <a:ext cx="10927080" cy="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4864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22:00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건조 → 가습 시작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278892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78892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표면 75% → 가습 정지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02920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02920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선풍기 ON · 효과 학습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26948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26948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03:00~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선풍기 켠 채 가습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950976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50976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07:25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벽 회복 → 선풍기 OFF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droom Node">
  <a:themeElements>
    <a:clrScheme name="Bedroom Node">
      <a:dk1>
        <a:srgbClr val="1D1D1F"/>
      </a:dk1>
      <a:lt1>
        <a:srgbClr val="FFFFFF"/>
      </a:lt1>
      <a:dk2>
        <a:srgbClr val="6E6E73"/>
      </a:dk2>
      <a:lt2>
        <a:srgbClr val="F5F5F7"/>
      </a:lt2>
      <a:accent1>
        <a:srgbClr val="0066CC"/>
      </a:accent1>
      <a:accent2>
        <a:srgbClr val="1D5C45"/>
      </a:accent2>
      <a:accent3>
        <a:srgbClr val="E30000"/>
      </a:accent3>
      <a:accent4>
        <a:srgbClr val="BF4800"/>
      </a:accent4>
      <a:accent5>
        <a:srgbClr val="8E8E93"/>
      </a:accent5>
      <a:accent6>
        <a:srgbClr val="2997FF"/>
      </a:accent6>
      <a:hlink>
        <a:srgbClr val="0066CC"/>
      </a:hlink>
      <a:folHlink>
        <a:srgbClr val="6E6E73"/>
      </a:folHlink>
    </a:clrScheme>
    <a:fontScheme name="Bedroom Nod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침실 환경 면역 방어 노드</dc:title>
  <dc:subject>PptxGenJS Presentation</dc:subject>
  <dc:creator>밤새고 네집내집가기</dc:creator>
  <cp:lastModifiedBy>밤새고 네집내집가기</cp:lastModifiedBy>
  <cp:revision>1</cp:revision>
  <dcterms:created xsi:type="dcterms:W3CDTF">2026-10-11T19:57:09Z</dcterms:created>
  <dcterms:modified xsi:type="dcterms:W3CDTF">2026-10-11T19:57:09Z</dcterms:modified>
</cp:coreProperties>
</file>