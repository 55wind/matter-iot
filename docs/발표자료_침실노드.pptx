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embeddedFontLst>
    <p:embeddedFont>
      <p:font typeface="Pretendard" panose="02000503000000020004" pitchFamily="2" charset="-127"/>
      <p:regular r:id="rId8"/>
      <p:bold r:id="rId9"/>
    </p:embeddedFont>
    <p:embeddedFont>
      <p:font typeface="Cambria Math" panose="02040503050406030204" pitchFamily="18" charset="0"/>
      <p:regular r:id="rId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핵심 주제" id="{689C6C88-72E9-1E51-89F8-C749CF744295}">
          <p14:sldIdLst>
            <p14:sldId id="256"/>
          </p14:sldIdLst>
        </p14:section>
        <p14:section name="주요 개발 내용" id="{46F6B7B3-0F13-D520-9C4A-41514C2F408B}">
          <p14:sldIdLst>
            <p14:sldId id="257"/>
            <p14:sldId id="258"/>
            <p14:sldId id="259"/>
          </p14:sldIdLst>
        </p14:section>
        <p14:section name="시연 내용" id="{047EEC36-9F7F-0D14-C0A4-22563502B5B7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lang="ko-KR" altLang="en-US" sz="1400" b="0" i="0" u="none" strike="noStrike">
                <a:solidFill>
                  <a:srgbClr val="000000"/>
                </a:solidFill>
                <a:latin typeface="+mn-lt"/>
              </a:rPr>
              <a:t>벽 표면 온도별 허용 실내 습도 </a:t>
            </a:r>
            <a:r>
              <a:rPr lang="en-US" altLang="ko-KR" sz="1400" b="0" i="0" u="none" strike="noStrike">
                <a:solidFill>
                  <a:srgbClr val="000000"/>
                </a:solidFill>
                <a:latin typeface="+mn-lt"/>
              </a:rPr>
              <a:t>(</a:t>
            </a:r>
            <a:r>
              <a:rPr lang="ko-KR" altLang="en-US" sz="1400" b="0" i="0" u="none" strike="noStrike">
                <a:solidFill>
                  <a:srgbClr val="000000"/>
                </a:solidFill>
                <a:latin typeface="+mn-lt"/>
              </a:rPr>
              <a:t>실내 </a:t>
            </a:r>
            <a:r>
              <a:rPr lang="en-US" altLang="ko-KR" sz="1400" b="0" i="0" u="none" strike="noStrike">
                <a:solidFill>
                  <a:srgbClr val="000000"/>
                </a:solidFill>
                <a:latin typeface="+mn-lt"/>
              </a:rPr>
              <a:t>21℃)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허용 상한 (벽 표면 80%)</c:v>
                </c:pt>
              </c:strCache>
            </c:strRef>
          </c:tx>
          <c:spPr>
            <a:solidFill>
              <a:srgbClr val="8CB8E8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15℃</c:v>
                </c:pt>
                <c:pt idx="1">
                  <c:v>12℃</c:v>
                </c:pt>
                <c:pt idx="2">
                  <c:v>9℃</c:v>
                </c:pt>
                <c:pt idx="3">
                  <c:v>약 7.2℃</c:v>
                </c:pt>
                <c:pt idx="4">
                  <c:v>6℃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45</c:v>
                </c:pt>
                <c:pt idx="2">
                  <c:v>37</c:v>
                </c:pt>
                <c:pt idx="3">
                  <c:v>33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CF-4FFC-B523-5A38D82C41C7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요구 하한 (절대습도 6 g/㎥)</c:v>
                </c:pt>
              </c:strCache>
            </c:strRef>
          </c:tx>
          <c:spPr>
            <a:ln w="25400" cap="flat">
              <a:solidFill>
                <a:srgbClr val="E30000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15℃</c:v>
                </c:pt>
                <c:pt idx="1">
                  <c:v>12℃</c:v>
                </c:pt>
                <c:pt idx="2">
                  <c:v>9℃</c:v>
                </c:pt>
                <c:pt idx="3">
                  <c:v>약 7.2℃</c:v>
                </c:pt>
                <c:pt idx="4">
                  <c:v>6℃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</c:v>
                </c:pt>
                <c:pt idx="1">
                  <c:v>33</c:v>
                </c:pt>
                <c:pt idx="2">
                  <c:v>33</c:v>
                </c:pt>
                <c:pt idx="3">
                  <c:v>33</c:v>
                </c:pt>
                <c:pt idx="4">
                  <c:v>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1CF-4FFC-B523-5A38D82C41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EDEDED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0000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5705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 습도계가 45%로 안전해 보여도 12℃까지 식은 북측 벽 표면에 닿은 공기는 80%임. 곰팡이 임계는 벽 표면 값으로 정해짐. 수면, 점막 방어, 곰팡이 세 목표가 서로 충돌하고, 벽 온도에 따라 허용 습도 구간이 30%에서 55%까지 달라짐. 이 구간을 계산해 지키는 것이 이 노드임.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구성은 측정, 판단, 개입, 노출 4계층임. 판단은 nRF54LM20 DK 안에서 끝나고, 결과는 릴레이로 가전 전원을 켜고 끄며, 같은 결과를 Matter 엔드포인트로 SmartThings에 보고함. 릴레이는 LOW에서 켜지는 모듈이라 핀을 active-low로 정의함.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SDK 예제 위에 엔드포인트를 직접 추가함. 습도와 온도는 표준 측정 클러스터로, 가습기와 선풍기는 On/Off로 노출함. 판단부가 속성을 설정하면 SDK가 허브로 ReportData를 보내고, 시연 1회 동안 12번 보고해 12번 모두 수신 확인을 받았으며 응답은 평균 92ms였음. 앱에서 직접 조작한 값은 콜백으로 받아 판단부에 반영함.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노드는 0.5초마다 벽 표면 습도와 절대습도를 계산함. 예를 들어 방이 21℃, 45%이고 벽이 12℃이면 벽 표면 습도는 약 80%로 곰팡이 임계에 닿음. 75%에서 가습을 멈추고, 그래도 오르면 선풍기를 켬. 선풍기를 켤 때 벽이 몇 도 오르는지 스스로 재서, 선풍기를 꺼도 안전한지를 판단함. 선풍기로 허용 구간을 넓힌 뒤에는 선풍기를 켠 채로 가습을 이어가 점막 방어와 곰팡이 방어를 동시에 지킴.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시연은 오른쪽 순서로 동작함. 노트북의 가상 침실이 한파의 밤을 진행하며 0.5초마다 센서값을 DK로 보내고, DK가 벽 표면 습도를 계산해 릴레이로 가습기와 선풍기를 켜고 끄며, 같은 결과를 SmartThings 허브에 보고함. 바뀐 가전 상태는 다시 가상 침실에 반영됨. 실내 습도는 40%대에 머무는데 벽 표면 습도만 올라가고, 75%에서 노드가 가습을 멈춘 뒤 선풍기로 벽을 데움. 같은 밤 일반 가습기였다면 8시간 넘게 곰팡이 임계를 넘고, 그중 6시간 넘게 벽이 이슬점(12.9℃)보다 차가워 결로가 생겼을 것을 우리 노드는 0분으로 막음.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침실 환경 면역 방어 노드  |  팀 밤새고 네집내집가기  |  지능형 홈(AI@Home) Matter AX Sprint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17.png"/><Relationship Id="rId4" Type="http://schemas.openxmlformats.org/officeDocument/2006/relationships/image" Target="../media/image34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핵심 주제  (응모 분야 Living Assist)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방 습도계가 45%여도 차가운 벽 표면은 80%임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벽 표면 습도를 계산해 곰팡이 임계 전에 가습기와 선풍기를 스스로 조절하는 Matter 디바이스를 제안함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6" name="Image 0" descr="습도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920240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실내 습도 (방 습도계)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tx1"/>
                </a:solidFill>
              </a:rPr>
              <a:t>45%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방 공기 기준 값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2900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E30000"/>
            </a:solidFill>
            <a:prstDash val="solid"/>
          </a:ln>
        </p:spPr>
      </p:sp>
      <p:pic>
        <p:nvPicPr>
          <p:cNvPr id="11" name="Image 1" descr="차가운 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192024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12℃ 북측 벽 표면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tx1"/>
                </a:solidFill>
              </a:rPr>
              <a:t>80%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ISO 13788 곰팡이 임계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4904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서로 충돌하는 침실의 세 목표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416052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7" name="Image 2" descr="b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77" y="4253057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52144" y="412394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① 수면: 침실 18~20℃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사용자가 정하는 제약 조건임 (Prather, SLEEP 2015)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006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0" name="Image 3" descr="shiel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77" y="4893137"/>
            <a:ext cx="235549" cy="2355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52144" y="476402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② 점막 방어: 절대습도 6 g/㎥ 이상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노드가 제어함 (Shaman &amp; Kohn, PNAS 2009)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548640" y="54406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3" name="Image 4" descr="viru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7" y="5533217"/>
            <a:ext cx="235549" cy="23554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52144" y="540410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③ 곰팡이와 진드기: 벽 표면 80% 이하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노드가 제어함 (ISO 13788:2012)</a:t>
            </a:r>
            <a:endParaRPr lang="en-US" sz="140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6400800" y="1783080"/>
          <a:ext cx="52578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6" name="Text 18"/>
          <p:cNvSpPr txBox="1"/>
          <p:nvPr/>
        </p:nvSpPr>
        <p:spPr>
          <a:xfrm>
            <a:off x="6400800" y="55321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벽이 약 7.2℃ 아래로 내려가면 두 목표를 함께 만족하는 구간이 사라짐.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노드는 선풍기로 벽 표면을 데워 이 구간을 되찾음.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① 시스템 구성과 회로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보드 안에서 판단하고, 릴레이로 개입하고, Matter로 보고함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gau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11" y="1638971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2529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측정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실내 온도와 습도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온도, 침구 습도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시연에서는 가상 침실이 값을 생성함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7296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38328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D5C4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1554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1" descr="cp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651" y="1638971"/>
            <a:ext cx="215067" cy="215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5993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판단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nRF54LM20 DK 안에서 처리함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표면 습도 계산, 75/70% 판정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학습과 예측, 클라우드 불필요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0760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21792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8" name="Image 2" descr="plu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291" y="1638971"/>
            <a:ext cx="215067" cy="215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9457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개입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2채널 릴레이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CH1 선풍기, CH2 가습기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GPIO P1.20, P1.21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842248" y="2103120"/>
            <a:ext cx="192024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05256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0066C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23544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4" name="Image 3" descr="wav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9931" y="1638971"/>
            <a:ext cx="215067" cy="21506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72921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노출 (Matter)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23544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EP1 선풍기, EP5 가습기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EP2, EP3 습도, EP4 온도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표준 클러스터 사용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78942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8" name="Shape 22"/>
          <p:cNvSpPr/>
          <p:nvPr/>
        </p:nvSpPr>
        <p:spPr>
          <a:xfrm>
            <a:off x="1851660" y="3182112"/>
            <a:ext cx="4937760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9" name="Shape 23"/>
          <p:cNvSpPr/>
          <p:nvPr/>
        </p:nvSpPr>
        <p:spPr>
          <a:xfrm>
            <a:off x="185166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  <a:headEnd type="triangle"/>
          </a:ln>
        </p:spPr>
      </p:sp>
      <p:sp>
        <p:nvSpPr>
          <p:cNvPr id="30" name="Text 24"/>
          <p:cNvSpPr txBox="1"/>
          <p:nvPr/>
        </p:nvSpPr>
        <p:spPr>
          <a:xfrm>
            <a:off x="2194560" y="32552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닫힌 고리: 선풍기와 가습기가 바꾼 환경이 다시 측정값으로 돌아옴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052560" y="3035808"/>
            <a:ext cx="260604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32" name="Image 4" descr="SmartThings Sta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3145536"/>
            <a:ext cx="292608" cy="29260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5480" y="305409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SmartThings Station과 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Thread로 보고, 수신 확인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10355580" y="2834640"/>
            <a:ext cx="0" cy="201168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548640" y="3730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회로: DK ↔ 2채널 릴레이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548640" y="4069080"/>
            <a:ext cx="269748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9050">
            <a:solidFill>
              <a:srgbClr val="1D5C45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3152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nRF54LM20 DK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73152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PCA10184, nRF54LM20B</a:t>
            </a:r>
            <a:endParaRPr lang="en-US" sz="1100" dirty="0"/>
          </a:p>
        </p:txBody>
      </p:sp>
      <p:pic>
        <p:nvPicPr>
          <p:cNvPr id="39" name="Image 5" descr="D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6352" y="4187952"/>
            <a:ext cx="292608" cy="292608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4800600" y="4069080"/>
            <a:ext cx="2331720" cy="2212848"/>
          </a:xfrm>
          <a:prstGeom prst="roundRect">
            <a:avLst>
              <a:gd name="adj" fmla="val 4959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4937760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2채널 릴레이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493776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LOW에서 켜짐 (점퍼 L)</a:t>
            </a:r>
            <a:endParaRPr lang="en-US" sz="1100" dirty="0"/>
          </a:p>
        </p:txBody>
      </p:sp>
      <p:pic>
        <p:nvPicPr>
          <p:cNvPr id="43" name="Image 6" descr="릴레이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4187952"/>
            <a:ext cx="274320" cy="274320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749808" y="490118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932688" y="4800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LED0 Matter 상태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2331720" y="480060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331720" y="48006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5V0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3108960" y="4946904"/>
            <a:ext cx="1810512" cy="0"/>
          </a:xfrm>
          <a:prstGeom prst="line">
            <a:avLst/>
          </a:prstGeom>
          <a:noFill/>
          <a:ln w="38100">
            <a:solidFill>
              <a:srgbClr val="E30000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3246120" y="4690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5V 전원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4919472" y="480060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4919472" y="480060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DC+</a:t>
            </a:r>
            <a:endParaRPr lang="en-US" sz="1100" dirty="0"/>
          </a:p>
        </p:txBody>
      </p:sp>
      <p:sp>
        <p:nvSpPr>
          <p:cNvPr id="52" name="Shape 43"/>
          <p:cNvSpPr/>
          <p:nvPr/>
        </p:nvSpPr>
        <p:spPr>
          <a:xfrm>
            <a:off x="749808" y="526694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932688" y="516636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LED1 선풍기</a:t>
            </a:r>
            <a:endParaRPr lang="en-US" sz="1100" dirty="0"/>
          </a:p>
        </p:txBody>
      </p:sp>
      <p:sp>
        <p:nvSpPr>
          <p:cNvPr id="54" name="Shape 45"/>
          <p:cNvSpPr/>
          <p:nvPr/>
        </p:nvSpPr>
        <p:spPr>
          <a:xfrm>
            <a:off x="2331720" y="516636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2331720" y="51663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GND</a:t>
            </a:r>
            <a:endParaRPr lang="en-US" sz="1100" dirty="0"/>
          </a:p>
        </p:txBody>
      </p:sp>
      <p:sp>
        <p:nvSpPr>
          <p:cNvPr id="56" name="Shape 47"/>
          <p:cNvSpPr/>
          <p:nvPr/>
        </p:nvSpPr>
        <p:spPr>
          <a:xfrm>
            <a:off x="3108960" y="5312664"/>
            <a:ext cx="1810512" cy="0"/>
          </a:xfrm>
          <a:prstGeom prst="line">
            <a:avLst/>
          </a:prstGeom>
          <a:noFill/>
          <a:ln w="38100">
            <a:solidFill>
              <a:srgbClr val="1D1D1F"/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3246120" y="5056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접지</a:t>
            </a:r>
            <a:endParaRPr lang="en-US" sz="1000" dirty="0"/>
          </a:p>
        </p:txBody>
      </p:sp>
      <p:sp>
        <p:nvSpPr>
          <p:cNvPr id="58" name="Shape 49"/>
          <p:cNvSpPr/>
          <p:nvPr/>
        </p:nvSpPr>
        <p:spPr>
          <a:xfrm>
            <a:off x="4919472" y="516636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4919472" y="51663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DC−</a:t>
            </a:r>
            <a:endParaRPr lang="en-US" sz="1100" dirty="0"/>
          </a:p>
        </p:txBody>
      </p:sp>
      <p:sp>
        <p:nvSpPr>
          <p:cNvPr id="60" name="Shape 51"/>
          <p:cNvSpPr/>
          <p:nvPr/>
        </p:nvSpPr>
        <p:spPr>
          <a:xfrm>
            <a:off x="749808" y="563270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932688" y="55321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LED2 가습기</a:t>
            </a:r>
            <a:endParaRPr lang="en-US" sz="1100" dirty="0"/>
          </a:p>
        </p:txBody>
      </p:sp>
      <p:sp>
        <p:nvSpPr>
          <p:cNvPr id="62" name="Shape 53"/>
          <p:cNvSpPr/>
          <p:nvPr/>
        </p:nvSpPr>
        <p:spPr>
          <a:xfrm>
            <a:off x="2331720" y="55321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2331720" y="55321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P1.20</a:t>
            </a:r>
            <a:endParaRPr lang="en-US" sz="1100" dirty="0"/>
          </a:p>
        </p:txBody>
      </p:sp>
      <p:sp>
        <p:nvSpPr>
          <p:cNvPr id="64" name="Shape 55"/>
          <p:cNvSpPr/>
          <p:nvPr/>
        </p:nvSpPr>
        <p:spPr>
          <a:xfrm>
            <a:off x="3108960" y="5678424"/>
            <a:ext cx="1810512" cy="0"/>
          </a:xfrm>
          <a:prstGeom prst="line">
            <a:avLst/>
          </a:prstGeom>
          <a:noFill/>
          <a:ln w="38100">
            <a:solidFill>
              <a:srgbClr val="0066CC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3246120" y="5422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선풍기 신호</a:t>
            </a:r>
            <a:endParaRPr lang="en-US" sz="1000" dirty="0"/>
          </a:p>
        </p:txBody>
      </p:sp>
      <p:sp>
        <p:nvSpPr>
          <p:cNvPr id="66" name="Shape 57"/>
          <p:cNvSpPr/>
          <p:nvPr/>
        </p:nvSpPr>
        <p:spPr>
          <a:xfrm>
            <a:off x="4919472" y="553212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4919472" y="55321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IN1</a:t>
            </a:r>
            <a:endParaRPr lang="en-US" sz="1100" dirty="0"/>
          </a:p>
        </p:txBody>
      </p:sp>
      <p:pic>
        <p:nvPicPr>
          <p:cNvPr id="68" name="Image 7" descr="CH1 선풍기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5550408"/>
            <a:ext cx="256032" cy="256032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5961888" y="55321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CH1 선풍기</a:t>
            </a:r>
            <a:endParaRPr lang="en-US" sz="1100" dirty="0"/>
          </a:p>
        </p:txBody>
      </p:sp>
      <p:sp>
        <p:nvSpPr>
          <p:cNvPr id="70" name="Shape 60"/>
          <p:cNvSpPr/>
          <p:nvPr/>
        </p:nvSpPr>
        <p:spPr>
          <a:xfrm>
            <a:off x="749808" y="599846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932688" y="58978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LED3 표면 80%↑</a:t>
            </a:r>
            <a:endParaRPr lang="en-US" sz="1100" dirty="0"/>
          </a:p>
        </p:txBody>
      </p:sp>
      <p:sp>
        <p:nvSpPr>
          <p:cNvPr id="72" name="Shape 62"/>
          <p:cNvSpPr/>
          <p:nvPr/>
        </p:nvSpPr>
        <p:spPr>
          <a:xfrm>
            <a:off x="2331720" y="5897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2331720" y="58978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P1.21</a:t>
            </a:r>
            <a:endParaRPr lang="en-US" sz="1100" dirty="0"/>
          </a:p>
        </p:txBody>
      </p:sp>
      <p:sp>
        <p:nvSpPr>
          <p:cNvPr id="74" name="Shape 64"/>
          <p:cNvSpPr/>
          <p:nvPr/>
        </p:nvSpPr>
        <p:spPr>
          <a:xfrm>
            <a:off x="3108960" y="6044184"/>
            <a:ext cx="1810512" cy="0"/>
          </a:xfrm>
          <a:prstGeom prst="line">
            <a:avLst/>
          </a:prstGeom>
          <a:noFill/>
          <a:ln w="38100">
            <a:solidFill>
              <a:srgbClr val="F08A00"/>
            </a:solidFill>
            <a:prstDash val="solid"/>
          </a:ln>
        </p:spPr>
      </p:sp>
      <p:sp>
        <p:nvSpPr>
          <p:cNvPr id="75" name="Text 65"/>
          <p:cNvSpPr txBox="1"/>
          <p:nvPr/>
        </p:nvSpPr>
        <p:spPr>
          <a:xfrm>
            <a:off x="3246120" y="57881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가습기 신호</a:t>
            </a:r>
            <a:endParaRPr lang="en-US" sz="1000" dirty="0"/>
          </a:p>
        </p:txBody>
      </p:sp>
      <p:sp>
        <p:nvSpPr>
          <p:cNvPr id="76" name="Shape 66"/>
          <p:cNvSpPr/>
          <p:nvPr/>
        </p:nvSpPr>
        <p:spPr>
          <a:xfrm>
            <a:off x="4919472" y="589788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4919472" y="58978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IN2</a:t>
            </a:r>
            <a:endParaRPr lang="en-US" sz="1100" dirty="0"/>
          </a:p>
        </p:txBody>
      </p:sp>
      <p:pic>
        <p:nvPicPr>
          <p:cNvPr id="78" name="Image 8" descr="CH2 가습기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0" y="5916168"/>
            <a:ext cx="256032" cy="256032"/>
          </a:xfrm>
          <a:prstGeom prst="rect">
            <a:avLst/>
          </a:prstGeom>
        </p:spPr>
      </p:pic>
      <p:sp>
        <p:nvSpPr>
          <p:cNvPr id="79" name="Text 68"/>
          <p:cNvSpPr txBox="1"/>
          <p:nvPr/>
        </p:nvSpPr>
        <p:spPr>
          <a:xfrm>
            <a:off x="5961888" y="5897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CH2 가습기</a:t>
            </a:r>
            <a:endParaRPr lang="en-US" sz="1100" dirty="0"/>
          </a:p>
        </p:txBody>
      </p:sp>
      <p:sp>
        <p:nvSpPr>
          <p:cNvPr id="80" name="Text 69"/>
          <p:cNvSpPr txBox="1"/>
          <p:nvPr/>
        </p:nvSpPr>
        <p:spPr>
          <a:xfrm>
            <a:off x="7498080" y="37307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하드웨어 구현에서 해결한 것</a:t>
            </a:r>
            <a:endParaRPr lang="en-US" sz="1400" dirty="0"/>
          </a:p>
        </p:txBody>
      </p:sp>
      <p:sp>
        <p:nvSpPr>
          <p:cNvPr id="81" name="Shape 70"/>
          <p:cNvSpPr/>
          <p:nvPr/>
        </p:nvSpPr>
        <p:spPr>
          <a:xfrm>
            <a:off x="7498080" y="4160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2" name="Image 9" descr="cp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2571" y="4245011"/>
            <a:ext cx="215067" cy="215067"/>
          </a:xfrm>
          <a:prstGeom prst="rect">
            <a:avLst/>
          </a:prstGeom>
        </p:spPr>
      </p:pic>
      <p:sp>
        <p:nvSpPr>
          <p:cNvPr id="83" name="Text 71"/>
          <p:cNvSpPr txBox="1"/>
          <p:nvPr/>
        </p:nvSpPr>
        <p:spPr>
          <a:xfrm>
            <a:off x="8065008" y="41239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보드 타깃 nrf54lm20b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칩이 nRF54LM20B라 설명서의 a 타깃 대신 b로 빌드함</a:t>
            </a:r>
            <a:endParaRPr lang="en-US" sz="1300" dirty="0"/>
          </a:p>
        </p:txBody>
      </p:sp>
      <p:sp>
        <p:nvSpPr>
          <p:cNvPr id="84" name="Shape 72"/>
          <p:cNvSpPr/>
          <p:nvPr/>
        </p:nvSpPr>
        <p:spPr>
          <a:xfrm>
            <a:off x="7498080" y="4846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5" name="Image 10" descr="plu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2571" y="4930811"/>
            <a:ext cx="215067" cy="215067"/>
          </a:xfrm>
          <a:prstGeom prst="rect">
            <a:avLst/>
          </a:prstGeom>
        </p:spPr>
      </p:pic>
      <p:sp>
        <p:nvSpPr>
          <p:cNvPr id="86" name="Text 73"/>
          <p:cNvSpPr txBox="1"/>
          <p:nvPr/>
        </p:nvSpPr>
        <p:spPr>
          <a:xfrm>
            <a:off x="8065008" y="48097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devicetree overlay로 릴레이 핀 정의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P1.20, P1.21을 GPIO_ACTIVE_LOW로 정의함</a:t>
            </a:r>
            <a:endParaRPr lang="en-US" sz="1300" dirty="0"/>
          </a:p>
        </p:txBody>
      </p:sp>
      <p:sp>
        <p:nvSpPr>
          <p:cNvPr id="87" name="Shape 74"/>
          <p:cNvSpPr/>
          <p:nvPr/>
        </p:nvSpPr>
        <p:spPr>
          <a:xfrm>
            <a:off x="7498080" y="5532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8" name="Image 11" descr="aler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2571" y="5616611"/>
            <a:ext cx="215067" cy="215067"/>
          </a:xfrm>
          <a:prstGeom prst="rect">
            <a:avLst/>
          </a:prstGeom>
        </p:spPr>
      </p:pic>
      <p:sp>
        <p:nvSpPr>
          <p:cNvPr id="89" name="Text 75"/>
          <p:cNvSpPr txBox="1"/>
          <p:nvPr/>
        </p:nvSpPr>
        <p:spPr>
          <a:xfrm>
            <a:off x="8065008" y="54955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P1.22 제외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DK의 LED0 핀과 겹쳐 오동작해 옆 핀 P1.21로 이동함</a:t>
            </a:r>
            <a:endParaRPr lang="en-US" sz="1300" dirty="0"/>
          </a:p>
        </p:txBody>
      </p:sp>
      <p:sp>
        <p:nvSpPr>
          <p:cNvPr id="9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② Matter SDK 활용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nRF Connect SDK로 노드 하나를 엔드포인트 6개로 직접 구성함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03720" cy="2432304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 타입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클러스터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노드가 하는 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Root Node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Basic Info, 커미셔닝, Thread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커미셔닝, Thread 합류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Dimmable Light → 선풍기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On/Off, Level, Identify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습도 (노드 계산)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실내 습도 (방 습도계)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Measurement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온도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Plug-in → 가습기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On/Off, Groups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d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4153571"/>
            <a:ext cx="215067" cy="2150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15568" y="403250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ZAP 데이터 모델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light_bulb.zap에 EP2~EP5를 추가하고 west zap-generate로 생성함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4617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9" name="Image 1" descr="uploa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4702211"/>
            <a:ext cx="215067" cy="21506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15568" y="458114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속성 게시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Accessors로 값 설정, ScheduleWork로 Matter 스레드에서 실행, 허브에 ReportData 전송함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2" descr="han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5250851"/>
            <a:ext cx="215067" cy="215067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15568" y="512978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앱 조작 수신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MatterPostAttributeChangeCallback으로 받아 릴레이 구동과 판단부에 반영함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q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5799491"/>
            <a:ext cx="215067" cy="21506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15568" y="567842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커미셔닝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공장 데이터와 BLE로 SmartThings에 등록하고 Thread 네트워크에 합류함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772400" y="1371600"/>
            <a:ext cx="3886200" cy="484632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4" descr="SmartThings 앱에 등록된 노드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1554480"/>
            <a:ext cx="1600200" cy="34671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0100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SmartThings 등록 화면</a:t>
            </a:r>
            <a:endParaRPr lang="en-US" sz="1100" dirty="0"/>
          </a:p>
        </p:txBody>
      </p:sp>
      <p:pic>
        <p:nvPicPr>
          <p:cNvPr id="20" name="Image 5" descr="wav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2368" y="1655064"/>
            <a:ext cx="310896" cy="31089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168128" y="1600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12 / 12</a:t>
            </a:r>
            <a:endParaRPr lang="en-US" sz="2200" dirty="0"/>
          </a:p>
        </p:txBody>
      </p:sp>
      <p:sp>
        <p:nvSpPr>
          <p:cNvPr id="22" name="Text 13"/>
          <p:cNvSpPr txBox="1"/>
          <p:nvPr/>
        </p:nvSpPr>
        <p:spPr>
          <a:xfrm>
            <a:off x="9802368" y="2057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허브 보고 / 수신 확인 (시연 1회)</a:t>
            </a:r>
            <a:endParaRPr lang="en-US" sz="1100" dirty="0"/>
          </a:p>
        </p:txBody>
      </p:sp>
      <p:pic>
        <p:nvPicPr>
          <p:cNvPr id="23" name="Image 6" descr="char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02368" y="2660904"/>
            <a:ext cx="310896" cy="310896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168128" y="260604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92 ms</a:t>
            </a:r>
            <a:endParaRPr lang="en-US" sz="2200" dirty="0"/>
          </a:p>
        </p:txBody>
      </p:sp>
      <p:sp>
        <p:nvSpPr>
          <p:cNvPr id="25" name="Text 15"/>
          <p:cNvSpPr txBox="1"/>
          <p:nvPr/>
        </p:nvSpPr>
        <p:spPr>
          <a:xfrm>
            <a:off x="9802368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보고 후 허브 응답 (평균)</a:t>
            </a:r>
            <a:endParaRPr lang="en-US" sz="1100" dirty="0"/>
          </a:p>
        </p:txBody>
      </p:sp>
      <p:pic>
        <p:nvPicPr>
          <p:cNvPr id="26" name="Image 7" descr="cpu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02368" y="3666744"/>
            <a:ext cx="310896" cy="310896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10168128" y="361188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42%</a:t>
            </a:r>
            <a:endParaRPr lang="en-US" sz="2200" dirty="0"/>
          </a:p>
        </p:txBody>
      </p:sp>
      <p:sp>
        <p:nvSpPr>
          <p:cNvPr id="28" name="Text 17"/>
          <p:cNvSpPr txBox="1"/>
          <p:nvPr/>
        </p:nvSpPr>
        <p:spPr>
          <a:xfrm>
            <a:off x="9802368" y="4069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Flash 사용 (RAM 36%)</a:t>
            </a:r>
            <a:endParaRPr lang="en-US" sz="1100" dirty="0"/>
          </a:p>
        </p:txBody>
      </p:sp>
      <p:pic>
        <p:nvPicPr>
          <p:cNvPr id="29" name="Image 8" descr="db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02368" y="4672584"/>
            <a:ext cx="310896" cy="310896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168128" y="46177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v3.4.1</a:t>
            </a:r>
            <a:endParaRPr lang="en-US" sz="2200" dirty="0"/>
          </a:p>
        </p:txBody>
      </p:sp>
      <p:sp>
        <p:nvSpPr>
          <p:cNvPr id="31" name="Text 19"/>
          <p:cNvSpPr txBox="1"/>
          <p:nvPr/>
        </p:nvSpPr>
        <p:spPr>
          <a:xfrm>
            <a:off x="9802368" y="50749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nRF Connect SDK</a:t>
            </a:r>
            <a:endParaRPr lang="en-US" sz="1100" dirty="0"/>
          </a:p>
        </p:txBody>
      </p:sp>
      <p:sp>
        <p:nvSpPr>
          <p:cNvPr id="32" name="Text 20"/>
          <p:cNvSpPr txBox="1"/>
          <p:nvPr/>
        </p:nvSpPr>
        <p:spPr>
          <a:xfrm>
            <a:off x="8001000" y="5486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SmartThings 앱은 스위치와 센서가 섞인 기기에서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센서 엔드포인트를 표시하지 않음.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그래서 EP2~EP4 값은 시연 화면에서 함께 보여줌.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③ 온디바이스 판단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노드가 스스로 계산하고 학습하고 개입함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893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cal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1" y="1657259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계산: 차가운 벽 앞 공기의 습도를 구함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81965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DK가 0.5초마다 직접 계산함, 클라우드 불필요</a:t>
            </a:r>
            <a:endParaRPr lang="en-US" sz="11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mx_lg"/>
              <p:cNvSpPr txBox="1"/>
              <p:nvPr/>
            </p:nvSpPr>
            <p:spPr>
              <a:xfrm>
                <a:off x="777240" y="2157984"/>
                <a:ext cx="557784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nor/>
                          </m:rPr>
                          <a:rPr lang="ko-KR" altLang="en-US" sz="1150" b="0" i="0">
                            <a:solidFill>
                              <a:srgbClr val="000000"/>
                            </a:solidFill>
                            <a:latin typeface="Pretendard"/>
                            <a:ea typeface="Pretendard"/>
                          </a:rPr>
                          <m:t>실내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방 온도,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nor/>
                          </m:rPr>
                          <a:rPr lang="ko-KR" altLang="en-US" sz="1150" b="0" i="0">
                            <a:solidFill>
                              <a:srgbClr val="000000"/>
                            </a:solidFill>
                            <a:latin typeface="Pretendard"/>
                            <a:ea typeface="Pretendard"/>
                          </a:rPr>
                          <m:t>벽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벽 표면 온도,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150" b="0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RH</m:t>
                    </m:r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상대습도(%),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50" b="0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포화 수증기압(hPa)</a:t>
                </a:r>
                <a:endParaRPr lang="ko-KR" sz="1150"/>
              </a:p>
            </p:txBody>
          </p:sp>
        </mc:Choice>
        <mc:Fallback xmlns="">
          <p:sp>
            <p:nvSpPr>
              <p:cNvPr id="9" name="mx_lg"/>
              <p:cNvSpPr txBox="1"/>
              <p:nvPr/>
            </p:nvSpPr>
            <p:spPr>
              <a:xfrm>
                <a:off x="777240" y="2157984"/>
                <a:ext cx="557784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150" dirty="0">
                    <a:solidFill>
                      <a:schemeClr val="tx1"/>
                    </a:solidFill>
                  </a:rPr>
                  <a:t>T실내: 방 온도, T벽: 벽 표면 온도, RH: 상대습도(%), Pₛ: 포화 수증기압(hPa)</a:t>
                </a:r>
                <a:endParaRPr lang="en-US" sz="1150" dirty="0"/>
              </a:p>
            </p:txBody>
          </p:sp>
        </mc:Fallback>
      </mc:AlternateContent>
      <p:sp>
        <p:nvSpPr>
          <p:cNvPr id="10" name="Shape 7"/>
          <p:cNvSpPr/>
          <p:nvPr/>
        </p:nvSpPr>
        <p:spPr>
          <a:xfrm>
            <a:off x="777240" y="2560320"/>
            <a:ext cx="553212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2651760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① 포화 수증기압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온도별로 공기가 품을 수 있는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수증기의 최대치임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q0"/>
              <p:cNvSpPr txBox="1"/>
              <p:nvPr/>
            </p:nvSpPr>
            <p:spPr>
              <a:xfrm>
                <a:off x="3200400" y="2651760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)=6.112</m:t>
                      </m:r>
                      <m:func>
                        <m:func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17.62</m:t>
                                  </m:r>
                                  <m:r>
                                    <a:rPr lang="en-US" sz="15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num>
                                <m:den>
                                  <m: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243.12+</m:t>
                                  </m:r>
                                  <m:r>
                                    <a:rPr lang="en-US" sz="15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2" name="eq0"/>
              <p:cNvSpPr txBox="1"/>
              <p:nvPr/>
            </p:nvSpPr>
            <p:spPr>
              <a:xfrm>
                <a:off x="3200400" y="2651760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Pₛ(T) = 6.112 exp(17.62T / (243.12 + T))</a:t>
                </a:r>
                <a:endParaRPr lang="en-US" sz="1500" dirty="0"/>
              </a:p>
            </p:txBody>
          </p:sp>
        </mc:Fallback>
      </mc:AlternateContent>
      <p:sp>
        <p:nvSpPr>
          <p:cNvPr id="13" name="Text 10"/>
          <p:cNvSpPr txBox="1"/>
          <p:nvPr/>
        </p:nvSpPr>
        <p:spPr>
          <a:xfrm>
            <a:off x="777240" y="3401568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② 벽 표면 상대습도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방 공기가 벽 온도로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식었을 때의 습도임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eq1"/>
              <p:cNvSpPr txBox="1"/>
              <p:nvPr/>
            </p:nvSpPr>
            <p:spPr>
              <a:xfrm>
                <a:off x="3200400" y="3401568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표면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실내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실내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벽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4" name="eq1"/>
              <p:cNvSpPr txBox="1"/>
              <p:nvPr/>
            </p:nvSpPr>
            <p:spPr>
              <a:xfrm>
                <a:off x="3200400" y="3401568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RH표면 = RH실내 × Pₛ(T실내) / Pₛ(T벽)</a:t>
                </a:r>
                <a:endParaRPr lang="en-US" sz="1500" dirty="0"/>
              </a:p>
            </p:txBody>
          </p:sp>
        </mc:Fallback>
      </mc:AlternateContent>
      <p:sp>
        <p:nvSpPr>
          <p:cNvPr id="15" name="Text 12"/>
          <p:cNvSpPr txBox="1"/>
          <p:nvPr/>
        </p:nvSpPr>
        <p:spPr>
          <a:xfrm>
            <a:off x="777240" y="4151376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③ 절대습도 (g/㎥)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공기 1㎥에 든 수증기 양,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점막 방어의 기준임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q2"/>
              <p:cNvSpPr txBox="1"/>
              <p:nvPr/>
            </p:nvSpPr>
            <p:spPr>
              <a:xfrm>
                <a:off x="3200400" y="4151376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AH</m:t>
                      </m:r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216.7×</m:t>
                          </m:r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  <m:d>
                            <m:dPr>
                              <m:ctrl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273.15+</m:t>
                              </m:r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6" name="eq2"/>
              <p:cNvSpPr txBox="1"/>
              <p:nvPr/>
            </p:nvSpPr>
            <p:spPr>
              <a:xfrm>
                <a:off x="3200400" y="4151376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AH = 216.7 × RH × Pₛ(T) / (100 (273.15 + T))</a:t>
                </a:r>
                <a:endParaRPr lang="en-US" sz="1500" dirty="0"/>
              </a:p>
            </p:txBody>
          </p:sp>
        </mc:Fallback>
      </mc:AlternateContent>
      <p:sp>
        <p:nvSpPr>
          <p:cNvPr id="17" name="Text 14"/>
          <p:cNvSpPr txBox="1"/>
          <p:nvPr/>
        </p:nvSpPr>
        <p:spPr>
          <a:xfrm>
            <a:off x="777240" y="4901184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④ 허용 상한 (표 3)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벽 표면이 80%를 넘지 않는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실내 습도의 최댓값임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eq3"/>
              <p:cNvSpPr txBox="1"/>
              <p:nvPr/>
            </p:nvSpPr>
            <p:spPr>
              <a:xfrm>
                <a:off x="3200400" y="4901184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상한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=80×</m:t>
                      </m:r>
                      <m:f>
                        <m:f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벽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실내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8" name="eq3"/>
              <p:cNvSpPr txBox="1"/>
              <p:nvPr/>
            </p:nvSpPr>
            <p:spPr>
              <a:xfrm>
                <a:off x="3200400" y="4901184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RH상한 = 80 × Pₛ(T벽) / Pₛ(T실내)</a:t>
                </a:r>
                <a:endParaRPr lang="en-US" sz="1500" dirty="0"/>
              </a:p>
            </p:txBody>
          </p:sp>
        </mc:Fallback>
      </mc:AlternateContent>
      <p:sp>
        <p:nvSpPr>
          <p:cNvPr id="19" name="Shape 16"/>
          <p:cNvSpPr/>
          <p:nvPr/>
        </p:nvSpPr>
        <p:spPr>
          <a:xfrm>
            <a:off x="731520" y="5641848"/>
            <a:ext cx="562356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564184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예) 방 21℃, 45%이고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벽이 12℃이면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eq4"/>
              <p:cNvSpPr txBox="1"/>
              <p:nvPr/>
            </p:nvSpPr>
            <p:spPr>
              <a:xfrm>
                <a:off x="3200400" y="5641848"/>
                <a:ext cx="3108960" cy="5120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4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표면</m:t>
                          </m:r>
                        </m:sub>
                      </m:sSub>
                      <m:r>
                        <a:rPr lang="en-US" sz="14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=45×</m:t>
                      </m:r>
                      <m:f>
                        <m:fPr>
                          <m:ctrl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24.8</m:t>
                          </m:r>
                        </m:num>
                        <m:den>
                          <m: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14.0</m:t>
                          </m:r>
                        </m:den>
                      </m:f>
                      <m:r>
                        <a:rPr lang="en-US" sz="14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≈80%</m:t>
                      </m:r>
                    </m:oMath>
                  </m:oMathPara>
                </a14:m>
                <a:endParaRPr lang="ko-KR" sz="1400"/>
              </a:p>
            </p:txBody>
          </p:sp>
        </mc:Choice>
        <mc:Fallback xmlns="">
          <p:sp>
            <p:nvSpPr>
              <p:cNvPr id="21" name="eq4"/>
              <p:cNvSpPr txBox="1"/>
              <p:nvPr/>
            </p:nvSpPr>
            <p:spPr>
              <a:xfrm>
                <a:off x="3200400" y="5641848"/>
                <a:ext cx="3108960" cy="5120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400" dirty="0">
                    <a:solidFill>
                      <a:schemeClr val="tx1"/>
                    </a:solidFill>
                  </a:rPr>
                  <a:t>RH표면 = 45 × 24.8 / 14.0 ≈ 80%</a:t>
                </a:r>
                <a:endParaRPr lang="en-US" sz="1400" dirty="0"/>
              </a:p>
            </p:txBody>
          </p:sp>
        </mc:Fallback>
      </mc:AlternateContent>
      <p:sp>
        <p:nvSpPr>
          <p:cNvPr id="22" name="Text 19"/>
          <p:cNvSpPr txBox="1"/>
          <p:nvPr/>
        </p:nvSpPr>
        <p:spPr>
          <a:xfrm>
            <a:off x="6812280" y="13716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판단 규칙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812280" y="181051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4" name="Image 1" descr="shie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2747" y="1890979"/>
            <a:ext cx="204826" cy="20482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360920" y="1773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A 곰팡이 방어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75%에서 가습 정지, 70% 미만에서만 재개함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812280" y="23591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7" name="Image 2" descr="drople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747" y="2439619"/>
            <a:ext cx="204826" cy="20482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360920" y="23225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B 점막 방어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절대습도 6.5 g/㎥ 미만이면 가습, 8 g/㎥에서 정지함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6812280" y="29077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0" name="Image 3" descr="fa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2747" y="2988259"/>
            <a:ext cx="204826" cy="20482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360920" y="2871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선풍기 개입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가습을 멈춰도 75% 이상이면 선풍기로 벽 표면을 데움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812280" y="34564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3" name="Image 4" descr="bra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2747" y="3536899"/>
            <a:ext cx="204826" cy="204826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360920" y="341985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E 학습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효과(시연 +2.8℃)를 재서 끄는 시점을 판단함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6812280" y="400507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6" name="Image 5" descr="char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2747" y="4085539"/>
            <a:ext cx="204826" cy="20482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360920" y="3968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E 예측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온도 추세로 임계 80%까지 남은 시간을 계산함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6812280" y="455371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9" name="Image 6" descr="joi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92747" y="4634179"/>
            <a:ext cx="204826" cy="204826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360920" y="45171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동시 가동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선풍기로 넓힌 구간에서 켠 채 가습해 ②, ③을 함께 지킴</a:t>
            </a:r>
            <a:endParaRPr lang="en-US" sz="1300" dirty="0"/>
          </a:p>
        </p:txBody>
      </p:sp>
      <p:sp>
        <p:nvSpPr>
          <p:cNvPr id="41" name="Shape 32"/>
          <p:cNvSpPr/>
          <p:nvPr/>
        </p:nvSpPr>
        <p:spPr>
          <a:xfrm>
            <a:off x="6812280" y="5102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42" name="Image 7" descr="user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92747" y="5182819"/>
            <a:ext cx="204826" cy="20482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360920" y="5065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우선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앱 조작은 30분 존중, 벽 표면 80%를 넘으면 방어를 우선함</a:t>
            </a:r>
            <a:endParaRPr lang="en-US" sz="1300" dirty="0"/>
          </a:p>
        </p:txBody>
      </p:sp>
      <p:sp>
        <p:nvSpPr>
          <p:cNvPr id="44" name="Shape 34"/>
          <p:cNvSpPr/>
          <p:nvPr/>
        </p:nvSpPr>
        <p:spPr>
          <a:xfrm>
            <a:off x="6812280" y="56509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45" name="Image 8" descr="history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92747" y="5731459"/>
            <a:ext cx="204826" cy="204826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7360920" y="56144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기록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80% 이상인 시간을 누적 위험 시간으로 기록함</a:t>
            </a:r>
            <a:endParaRPr lang="en-US" sz="13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시연 내용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한파의 밤 10시간을 60초로 재현해 누적 위험 시간 0분을 달성함</a:t>
            </a:r>
            <a:endParaRPr lang="en-US" sz="3000" dirty="0"/>
          </a:p>
        </p:txBody>
      </p:sp>
      <p:pic>
        <p:nvPicPr>
          <p:cNvPr id="4" name="Image 0" descr="시연 화면: 가상 침실과 판단 노드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99008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766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실제 보드를 연결한 03:00 화면. 실내와 벽 표면 습도, 노드의 판단, 가습기와 선풍기, 허브 보고를 한 화면에 보여줌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84464" y="1563624"/>
            <a:ext cx="0" cy="3291840"/>
          </a:xfrm>
          <a:prstGeom prst="line">
            <a:avLst/>
          </a:prstGeom>
          <a:noFill/>
          <a:ln w="19050">
            <a:solidFill>
              <a:srgbClr val="E0E0E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00416" y="4197096"/>
            <a:ext cx="192024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7900416" y="1563624"/>
            <a:ext cx="0" cy="2633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7900416" y="1563624"/>
            <a:ext cx="192024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09244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1" name="Image 1" descr="lap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6931" y="1456091"/>
            <a:ext cx="215067" cy="215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659368" y="1335024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① 가상 침실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한파의 밤 10시간을 60초로 진행함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가전 상태를 반영해 온습도와 벽 온도를 만듦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09244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4" name="Image 2" descr="uploa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6931" y="2114459"/>
            <a:ext cx="215067" cy="21506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659368" y="1993392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② 센서값 전송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0.5초마다 USB로 DK에 보냄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실제 제품에서는 센서가 이 값을 측정함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92440" y="268833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7" name="Image 3" descr="cp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6931" y="2772827"/>
            <a:ext cx="215067" cy="21506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659368" y="2651760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③ DK 판단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벽 표면 습도와 절대습도를 계산해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가습기와 선풍기 ON/OFF를 결정함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8092440" y="33467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0" name="Image 4" descr="plu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6931" y="3431195"/>
            <a:ext cx="215067" cy="21506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659368" y="3310128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④ 릴레이 구동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CH1 선풍기, CH2 가습기 전원을 켜고 끔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딸깍 소리와 함께 가전이 실제로 바뀜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092440" y="400507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3" name="Image 5" descr="wav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6931" y="4089563"/>
            <a:ext cx="215067" cy="21506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659368" y="3968496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⑤ Matter 보고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같은 결과를 SmartThings 허브에 보고함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12회 모두 수신 확인, 평균 92ms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8092440" y="46634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6" name="Image 6" descr="shiel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6931" y="4747931"/>
            <a:ext cx="215067" cy="21506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659368" y="4626864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⑥ 결과: 누적 위험 시간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우리 노드 0분, 최고 벽 표면 78%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일반 가습기였다면 8시간 38분, 결로 6시간 14분</a:t>
            </a:r>
            <a:endParaRPr lang="en-US" sz="1300" dirty="0"/>
          </a:p>
        </p:txBody>
      </p:sp>
      <p:sp>
        <p:nvSpPr>
          <p:cNvPr id="28" name="Shape 19"/>
          <p:cNvSpPr/>
          <p:nvPr/>
        </p:nvSpPr>
        <p:spPr>
          <a:xfrm>
            <a:off x="640080" y="5815584"/>
            <a:ext cx="10927080" cy="0"/>
          </a:xfrm>
          <a:prstGeom prst="line">
            <a:avLst/>
          </a:prstGeom>
          <a:noFill/>
          <a:ln w="19050">
            <a:solidFill>
              <a:srgbClr val="E0E0E0"/>
            </a:solidFill>
            <a:prstDash val="solid"/>
          </a:ln>
        </p:spPr>
      </p:sp>
      <p:sp>
        <p:nvSpPr>
          <p:cNvPr id="29" name="Shape 20"/>
          <p:cNvSpPr/>
          <p:nvPr/>
        </p:nvSpPr>
        <p:spPr>
          <a:xfrm>
            <a:off x="54864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54864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22:00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건조 → 가습 시작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278892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278892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표면 75% → 가습 정지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502920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502920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01:10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ON, 효과 학습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726948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26948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02:55~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켠 채 가습</a:t>
            </a:r>
            <a:endParaRPr lang="en-US" sz="1200" dirty="0"/>
          </a:p>
        </p:txBody>
      </p:sp>
      <p:sp>
        <p:nvSpPr>
          <p:cNvPr id="37" name="Shape 28"/>
          <p:cNvSpPr/>
          <p:nvPr/>
        </p:nvSpPr>
        <p:spPr>
          <a:xfrm>
            <a:off x="950976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950976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07:30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회복 → 선풍기 OFF</a:t>
            </a:r>
            <a:endParaRPr lang="en-US" sz="12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droom Node">
  <a:themeElements>
    <a:clrScheme name="Bedroom Node">
      <a:dk1>
        <a:srgbClr val="000000"/>
      </a:dk1>
      <a:lt1>
        <a:srgbClr val="FFFFFF"/>
      </a:lt1>
      <a:dk2>
        <a:srgbClr val="000000"/>
      </a:dk2>
      <a:lt2>
        <a:srgbClr val="F5F5F7"/>
      </a:lt2>
      <a:accent1>
        <a:srgbClr val="0066CC"/>
      </a:accent1>
      <a:accent2>
        <a:srgbClr val="1D5C45"/>
      </a:accent2>
      <a:accent3>
        <a:srgbClr val="E30000"/>
      </a:accent3>
      <a:accent4>
        <a:srgbClr val="BF4800"/>
      </a:accent4>
      <a:accent5>
        <a:srgbClr val="8E8E93"/>
      </a:accent5>
      <a:accent6>
        <a:srgbClr val="2997FF"/>
      </a:accent6>
      <a:hlink>
        <a:srgbClr val="0066CC"/>
      </a:hlink>
      <a:folHlink>
        <a:srgbClr val="000000"/>
      </a:folHlink>
    </a:clrScheme>
    <a:fontScheme name="Bedroom Node">
      <a:majorFont>
        <a:latin typeface="Pretendard"/>
        <a:ea typeface="Pretendard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1350</Words>
  <Application>Microsoft Office PowerPoint</Application>
  <PresentationFormat>와이드스크린</PresentationFormat>
  <Paragraphs>207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Pretendard</vt:lpstr>
      <vt:lpstr>Arial</vt:lpstr>
      <vt:lpstr>Cambria Math</vt:lpstr>
      <vt:lpstr>Bedroom Node</vt:lpstr>
      <vt:lpstr>방 습도계가 45%여도 차가운 벽 표면은 80%임</vt:lpstr>
      <vt:lpstr>보드 안에서 판단하고, 릴레이로 개입하고, Matter로 보고함</vt:lpstr>
      <vt:lpstr>nRF Connect SDK로 노드 하나를 엔드포인트 6개로 직접 구성함</vt:lpstr>
      <vt:lpstr>노드가 스스로 계산하고 학습하고 개입함</vt:lpstr>
      <vt:lpstr>한파의 밤 10시간을 60초로 재현해 누적 위험 시간 0분을 달성함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침실 환경 면역 방어 노드</dc:title>
  <dc:subject>PptxGenJS Presentation</dc:subject>
  <dc:creator>밤새고 네집내집가기</dc:creator>
  <cp:lastModifiedBy>건우 박</cp:lastModifiedBy>
  <cp:revision>2</cp:revision>
  <dcterms:created xsi:type="dcterms:W3CDTF">2026-10-12T01:59:39Z</dcterms:created>
  <dcterms:modified xsi:type="dcterms:W3CDTF">2026-10-12T01:59:47Z</dcterms:modified>
</cp:coreProperties>
</file>