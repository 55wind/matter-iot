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embeddedFontLst>
    <p:embeddedFont>
      <p:font typeface="Pretendard" panose="02000503000000020004" pitchFamily="2" charset="-127"/>
      <p:regular r:id="rId8"/>
      <p:bold r:id="rId9"/>
    </p:embeddedFont>
    <p:embeddedFont>
      <p:font typeface="Cambria Math" panose="02040503050406030204" pitchFamily="18" charset="0"/>
      <p:regular r:id="rId1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핵심 주제" id="{D0CA97D2-FEF8-296B-FB8F-C370505C267E}">
          <p14:sldIdLst>
            <p14:sldId id="256"/>
          </p14:sldIdLst>
        </p14:section>
        <p14:section name="주요 개발 내용" id="{09AAF208-B5B0-3BC0-539D-DAC3DF917B3F}">
          <p14:sldIdLst>
            <p14:sldId id="257"/>
            <p14:sldId id="258"/>
          </p14:sldIdLst>
        </p14:section>
        <p14:section name="시연 내용" id="{D07245AF-4013-F2D8-2A20-E984D622239F}">
          <p14:sldIdLst>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0" i="0" u="none" strike="noStrike">
                <a:solidFill>
                  <a:srgbClr val="000000"/>
                </a:solidFill>
                <a:latin typeface="+mn-lt"/>
              </a:defRPr>
            </a:pPr>
            <a:r>
              <a:rPr lang="ko-KR" altLang="en-US" sz="1400" b="0" i="0" u="none" strike="noStrike">
                <a:solidFill>
                  <a:srgbClr val="000000"/>
                </a:solidFill>
                <a:latin typeface="+mn-lt"/>
              </a:rPr>
              <a:t>벽 표면 온도별 허용 실내 습도 </a:t>
            </a:r>
            <a:r>
              <a:rPr lang="en-US" altLang="ko-KR" sz="1400" b="0" i="0" u="none" strike="noStrike">
                <a:solidFill>
                  <a:srgbClr val="000000"/>
                </a:solidFill>
                <a:latin typeface="+mn-lt"/>
              </a:rPr>
              <a:t>(</a:t>
            </a:r>
            <a:r>
              <a:rPr lang="ko-KR" altLang="en-US" sz="1400" b="0" i="0" u="none" strike="noStrike">
                <a:solidFill>
                  <a:srgbClr val="000000"/>
                </a:solidFill>
                <a:latin typeface="+mn-lt"/>
              </a:rPr>
              <a:t>실내 </a:t>
            </a:r>
            <a:r>
              <a:rPr lang="en-US" altLang="ko-KR" sz="1400" b="0" i="0" u="none" strike="noStrike">
                <a:solidFill>
                  <a:srgbClr val="000000"/>
                </a:solidFill>
                <a:latin typeface="+mn-lt"/>
              </a:rPr>
              <a:t>21℃)</a:t>
            </a:r>
          </a:p>
        </c:rich>
      </c:tx>
      <c:overlay val="0"/>
    </c:title>
    <c:autoTitleDeleted val="0"/>
    <c:plotArea>
      <c:layout/>
      <c:barChart>
        <c:barDir val="col"/>
        <c:grouping val="clustered"/>
        <c:varyColors val="0"/>
        <c:ser>
          <c:idx val="0"/>
          <c:order val="0"/>
          <c:tx>
            <c:strRef>
              <c:f>Sheet1!$B$1</c:f>
              <c:strCache>
                <c:ptCount val="1"/>
                <c:pt idx="0">
                  <c:v>허용 상한 (벽 표면 80%)</c:v>
                </c:pt>
              </c:strCache>
            </c:strRef>
          </c:tx>
          <c:spPr>
            <a:solidFill>
              <a:srgbClr val="8CB8E8"/>
            </a:solidFill>
            <a:effectLst/>
          </c:spPr>
          <c:invertIfNegative val="0"/>
          <c:dLbls>
            <c:numFmt formatCode="0&quot;%&quot;" sourceLinked="0"/>
            <c:spPr>
              <a:noFill/>
              <a:ln>
                <a:noFill/>
              </a:ln>
              <a:effectLst/>
            </c:spPr>
            <c:txPr>
              <a:bodyPr/>
              <a:lstStyle/>
              <a:p>
                <a:pPr>
                  <a:defRPr sz="1200" b="0" i="0" u="none" strike="noStrike">
                    <a:solidFill>
                      <a:srgbClr val="000000"/>
                    </a:solidFill>
                    <a:latin typeface="+mn-lt"/>
                  </a:defRPr>
                </a:pPr>
                <a:endParaRPr lang="ko-KR"/>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15℃</c:v>
                </c:pt>
                <c:pt idx="1">
                  <c:v>12℃</c:v>
                </c:pt>
                <c:pt idx="2">
                  <c:v>9℃</c:v>
                </c:pt>
                <c:pt idx="3">
                  <c:v>약 7.2℃</c:v>
                </c:pt>
                <c:pt idx="4">
                  <c:v>6℃</c:v>
                </c:pt>
              </c:strCache>
            </c:strRef>
          </c:cat>
          <c:val>
            <c:numRef>
              <c:f>Sheet1!$B$2:$B$6</c:f>
              <c:numCache>
                <c:formatCode>General</c:formatCode>
                <c:ptCount val="5"/>
                <c:pt idx="0">
                  <c:v>55</c:v>
                </c:pt>
                <c:pt idx="1">
                  <c:v>45</c:v>
                </c:pt>
                <c:pt idx="2">
                  <c:v>37</c:v>
                </c:pt>
                <c:pt idx="3">
                  <c:v>33</c:v>
                </c:pt>
                <c:pt idx="4">
                  <c:v>30</c:v>
                </c:pt>
              </c:numCache>
            </c:numRef>
          </c:val>
          <c:extLst>
            <c:ext xmlns:c16="http://schemas.microsoft.com/office/drawing/2014/chart" uri="{C3380CC4-5D6E-409C-BE32-E72D297353CC}">
              <c16:uniqueId val="{00000000-7B07-4D9E-8294-E54EC1043E4A}"/>
            </c:ext>
          </c:extLst>
        </c:ser>
        <c:dLbls>
          <c:dLblPos val="inBase"/>
          <c:showLegendKey val="0"/>
          <c:showVal val="1"/>
          <c:showCatName val="0"/>
          <c:showSerName val="0"/>
          <c:showPercent val="0"/>
          <c:showBubbleSize val="0"/>
        </c:dLbls>
        <c:gapWidth val="60"/>
        <c:axId val="2094734554"/>
        <c:axId val="2094734552"/>
      </c:barChart>
      <c:lineChart>
        <c:grouping val="standard"/>
        <c:varyColors val="0"/>
        <c:ser>
          <c:idx val="1"/>
          <c:order val="1"/>
          <c:tx>
            <c:strRef>
              <c:f>Sheet1!$C$1</c:f>
              <c:strCache>
                <c:ptCount val="1"/>
                <c:pt idx="0">
                  <c:v>요구 하한 (절대습도 6 g/㎥)</c:v>
                </c:pt>
              </c:strCache>
            </c:strRef>
          </c:tx>
          <c:spPr>
            <a:ln w="25400" cap="flat">
              <a:solidFill>
                <a:srgbClr val="E30000"/>
              </a:solidFill>
              <a:prstDash val="solid"/>
              <a:round/>
            </a:ln>
            <a:effectLst/>
          </c:spPr>
          <c:marker>
            <c:symbol val="none"/>
          </c:marker>
          <c:cat>
            <c:strRef>
              <c:f>Sheet1!$A$2:$A$6</c:f>
              <c:strCache>
                <c:ptCount val="5"/>
                <c:pt idx="0">
                  <c:v>15℃</c:v>
                </c:pt>
                <c:pt idx="1">
                  <c:v>12℃</c:v>
                </c:pt>
                <c:pt idx="2">
                  <c:v>9℃</c:v>
                </c:pt>
                <c:pt idx="3">
                  <c:v>약 7.2℃</c:v>
                </c:pt>
                <c:pt idx="4">
                  <c:v>6℃</c:v>
                </c:pt>
              </c:strCache>
            </c:strRef>
          </c:cat>
          <c:val>
            <c:numRef>
              <c:f>Sheet1!$C$2:$C$6</c:f>
              <c:numCache>
                <c:formatCode>General</c:formatCode>
                <c:ptCount val="5"/>
                <c:pt idx="0">
                  <c:v>33</c:v>
                </c:pt>
                <c:pt idx="1">
                  <c:v>33</c:v>
                </c:pt>
                <c:pt idx="2">
                  <c:v>33</c:v>
                </c:pt>
                <c:pt idx="3">
                  <c:v>33</c:v>
                </c:pt>
                <c:pt idx="4">
                  <c:v>33</c:v>
                </c:pt>
              </c:numCache>
            </c:numRef>
          </c:val>
          <c:smooth val="0"/>
          <c:extLst>
            <c:ext xmlns:c16="http://schemas.microsoft.com/office/drawing/2014/chart" uri="{C3380CC4-5D6E-409C-BE32-E72D297353CC}">
              <c16:uniqueId val="{00000001-7B07-4D9E-8294-E54EC1043E4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9525" cap="flat">
              <a:solidFill>
                <a:srgbClr val="EDEDED"/>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00000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499530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 습도계가 45%로 안전해 보여도 12℃까지 식은 북측 벽 표면에 닿은 공기는 80%임. 곰팡이 임계는 벽 표면 값으로 정해짐. 수면, 점막 방어, 곰팡이 세 목표가 서로 충돌하고, 벽 온도에 따라 허용 습도 구간이 30%에서 55%까지 달라짐. 이 구간을 계산해 지키는 것이 이 노드임.</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펌웨어는 C와 C++로, 시연 화면은 JavaScript와 HTML로, 시험 도구는 Python으로 작성함. nRF Connect SDK v3.4.1의 Matter 예제 위에 엔드포인트를 직접 추가함. 습도와 온도는 표준 측정 클러스터로, 가습기와 선풍기는 On/Off로 노출함. 판단부가 속성을 설정하면 SDK가 허브로 ReportData를 보내고, 시연 1회 동안 12번 보고해 12번 모두 수신 확인을 받았으며 응답은 평균 92ms였음. 앱에서 직접 조작한 값은 콜백으로 받아 판단부에 반영함. 칩이 nRF54LM20B라 보드 타깃을 b로 빌드함.</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노드는 0.5초마다 벽 표면 습도와 절대습도를 계산함. 예를 들어 방이 21℃, 45%이고 벽이 12℃이면 벽 표면 습도는 약 80%로 곰팡이 임계에 닿음. 75%에서 가습을 멈추고, 그래도 오르면 선풍기를 켬. 선풍기를 켤 때 벽이 몇 도 오르는지 스스로 재서, 선풍기를 꺼도 안전한지를 판단함. 선풍기로 허용 구간을 넓힌 뒤에는 선풍기를 켠 채로 가습을 이어가 점막 방어와 곰팡이 방어를 동시에 지킴.</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시연에 쓰는 기기와 연결임. 노트북은 가상 침실을 계산해 센서 대신 0.5초마다 USB로 DK에 값을 보내고, DK는 벽 표면 습도를 계산해 판단한 뒤 GPIO로 릴레이를 움직여 선풍기와 가습기 전원을 켜고 끔. 같은 결과는 Thread로 SmartThings Station에 Matter 보고되고, 앱에서 상태를 보고 조작할 수 있음. 실제 제품에서는 노트북 자리에 온습도 센서와 벽 온도 센서가 들어감. 릴레이는 LOW에서 켜지는 모듈이라 overlay에서 핀을 active-low로 정의했고, P1.22는 DK의 LED0 핀과 겹쳐 P1.21로 옮김.</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시연은 오른쪽 순서로 동작함. 노트북의 가상 침실이 한파의 밤을 진행하며 0.5초마다 센서값을 DK로 보내고, DK가 벽 표면 습도를 계산해 릴레이로 가습기와 선풍기를 켜고 끄며, 같은 결과를 SmartThings 허브에 보고함. 바뀐 가전 상태는 다시 가상 침실에 반영됨. 실내 습도는 40%대에 머무는데 벽 표면 습도만 올라가고, 75%에서 노드가 가습을 멈춘 뒤 선풍기로 벽을 데움. 같은 밤 일반 가습기였다면 8시간 넘게 곰팡이 임계를 넘고, 그중 6시간 넘게 벽이 이슬점(12.9℃)보다 차가워 결로가 생겼을 것을 우리 노드는 0분으로 막음.</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92608"/>
          </a:xfrm>
          <a:prstGeom prst="rect">
            <a:avLst/>
          </a:prstGeom>
          <a:noFill/>
          <a:ln/>
        </p:spPr>
        <p:txBody>
          <a:bodyPr wrap="square" rtlCol="0"/>
          <a:lstStyle>
            <a:lvl1pPr marL="0" indent="0">
              <a:buNone/>
              <a:defRPr lang="en-US" sz="1300" b="1" dirty="0">
                <a:solidFill>
                  <a:schemeClr val="tx1"/>
                </a:solidFill>
              </a:defRPr>
            </a:lvl1pPr>
          </a:lstStyle>
          <a:p>
            <a:pPr marL="0" indent="0">
              <a:buNone/>
            </a:pP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4" name="Text 0"/>
          <p:cNvSpPr/>
          <p:nvPr/>
        </p:nvSpPr>
        <p:spPr>
          <a:xfrm>
            <a:off x="548640" y="6446520"/>
            <a:ext cx="8229600" cy="228600"/>
          </a:xfrm>
          <a:prstGeom prst="rect">
            <a:avLst/>
          </a:prstGeom>
          <a:noFill/>
          <a:ln/>
        </p:spPr>
        <p:txBody>
          <a:bodyPr wrap="square" lIns="0" tIns="0" rIns="0" bIns="0" rtlCol="0" anchor="ctr"/>
          <a:lstStyle/>
          <a:p>
            <a:pPr marL="0" indent="0">
              <a:buNone/>
            </a:pPr>
            <a:r>
              <a:rPr lang="en-US" sz="1000" dirty="0">
                <a:solidFill>
                  <a:schemeClr val="tx1"/>
                </a:solidFill>
              </a:rPr>
              <a:t>침실 환경 면역 방어 노드  |  팀 밤새고 네집내집가기  |  지능형 홈(AI@Home) Matter AX Sprint 2026</a:t>
            </a:r>
            <a:endParaRPr lang="en-US" sz="10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4.png"/><Relationship Id="rId9"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3.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30.png"/><Relationship Id="rId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24.png"/><Relationship Id="rId9" Type="http://schemas.openxmlformats.org/officeDocument/2006/relationships/image" Target="../media/image28.png"/></Relationships>
</file>

<file path=ppt/slides/_rels/slide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3.pn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7.png"/><Relationship Id="rId4" Type="http://schemas.openxmlformats.org/officeDocument/2006/relationships/image" Target="../media/image23.png"/><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92608"/>
          </a:xfrm>
          <a:prstGeom prst="rect">
            <a:avLst/>
          </a:prstGeom>
          <a:noFill/>
          <a:ln/>
        </p:spPr>
        <p:txBody>
          <a:bodyPr wrap="square" lIns="0" tIns="0" rIns="0" bIns="0" rtlCol="0"/>
          <a:lstStyle/>
          <a:p>
            <a:pPr marL="0" indent="0">
              <a:buNone/>
            </a:pPr>
            <a:r>
              <a:rPr lang="en-US" sz="1300" b="1" dirty="0">
                <a:solidFill>
                  <a:schemeClr val="tx1"/>
                </a:solidFill>
              </a:rPr>
              <a:t>핵심 주제  (응모 분야 Living Assist)</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t"/>
          <a:lstStyle/>
          <a:p>
            <a:pPr marL="0" indent="0" algn="l">
              <a:buNone/>
            </a:pPr>
            <a:r>
              <a:rPr lang="en-US" sz="3000" b="1" dirty="0">
                <a:solidFill>
                  <a:schemeClr val="tx1"/>
                </a:solidFill>
              </a:rPr>
              <a:t>방 습도계가 45%여도 차가운 벽 표면은 80%임</a:t>
            </a:r>
            <a:endParaRPr lang="en-US" sz="3000" dirty="0"/>
          </a:p>
        </p:txBody>
      </p:sp>
      <p:sp>
        <p:nvSpPr>
          <p:cNvPr id="4" name="Shape 2"/>
          <p:cNvSpPr/>
          <p:nvPr/>
        </p:nvSpPr>
        <p:spPr>
          <a:xfrm>
            <a:off x="8503920" y="256032"/>
            <a:ext cx="868680" cy="292608"/>
          </a:xfrm>
          <a:prstGeom prst="roundRect">
            <a:avLst>
              <a:gd name="adj" fmla="val 50000"/>
            </a:avLst>
          </a:prstGeom>
          <a:solidFill>
            <a:srgbClr val="F5F5F7"/>
          </a:solidFill>
          <a:ln w="12700">
            <a:solidFill>
              <a:srgbClr val="0066CC"/>
            </a:solidFill>
            <a:prstDash val="solid"/>
          </a:ln>
        </p:spPr>
      </p:sp>
      <p:sp>
        <p:nvSpPr>
          <p:cNvPr id="5" name="Text 3"/>
          <p:cNvSpPr txBox="1"/>
          <p:nvPr/>
        </p:nvSpPr>
        <p:spPr>
          <a:xfrm>
            <a:off x="8503920" y="256032"/>
            <a:ext cx="868680" cy="292608"/>
          </a:xfrm>
          <a:prstGeom prst="rect">
            <a:avLst/>
          </a:prstGeom>
          <a:noFill/>
          <a:ln/>
        </p:spPr>
        <p:txBody>
          <a:bodyPr wrap="square" lIns="0" tIns="0" rIns="0" bIns="0" rtlCol="0" anchor="ctr"/>
          <a:lstStyle/>
          <a:p>
            <a:pPr marL="0" indent="0" algn="ctr">
              <a:buNone/>
            </a:pPr>
            <a:r>
              <a:rPr lang="en-US" sz="1150" b="1" dirty="0">
                <a:solidFill>
                  <a:schemeClr val="tx1"/>
                </a:solidFill>
              </a:rPr>
              <a:t>핵심 주제</a:t>
            </a:r>
            <a:endParaRPr lang="en-US" sz="1150" dirty="0"/>
          </a:p>
        </p:txBody>
      </p:sp>
      <p:sp>
        <p:nvSpPr>
          <p:cNvPr id="6" name="Text 4"/>
          <p:cNvSpPr txBox="1"/>
          <p:nvPr/>
        </p:nvSpPr>
        <p:spPr>
          <a:xfrm>
            <a:off x="9464040" y="256032"/>
            <a:ext cx="1234440" cy="292608"/>
          </a:xfrm>
          <a:prstGeom prst="rect">
            <a:avLst/>
          </a:prstGeom>
          <a:noFill/>
          <a:ln/>
        </p:spPr>
        <p:txBody>
          <a:bodyPr wrap="square" lIns="0" tIns="0" rIns="0" bIns="0" rtlCol="0" anchor="ctr"/>
          <a:lstStyle/>
          <a:p>
            <a:pPr marL="0" indent="0" algn="ctr">
              <a:buNone/>
            </a:pPr>
            <a:r>
              <a:rPr lang="en-US" sz="1150" dirty="0">
                <a:solidFill>
                  <a:schemeClr val="tx1"/>
                </a:solidFill>
              </a:rPr>
              <a:t>주요 개발 내용</a:t>
            </a:r>
            <a:endParaRPr lang="en-US" sz="1150" dirty="0"/>
          </a:p>
        </p:txBody>
      </p:sp>
      <p:sp>
        <p:nvSpPr>
          <p:cNvPr id="7" name="Text 5"/>
          <p:cNvSpPr txBox="1"/>
          <p:nvPr/>
        </p:nvSpPr>
        <p:spPr>
          <a:xfrm>
            <a:off x="10789920" y="256032"/>
            <a:ext cx="868680" cy="292608"/>
          </a:xfrm>
          <a:prstGeom prst="rect">
            <a:avLst/>
          </a:prstGeom>
          <a:noFill/>
          <a:ln/>
        </p:spPr>
        <p:txBody>
          <a:bodyPr wrap="square" lIns="0" tIns="0" rIns="0" bIns="0" rtlCol="0" anchor="ctr"/>
          <a:lstStyle/>
          <a:p>
            <a:pPr marL="0" indent="0" algn="ctr">
              <a:buNone/>
            </a:pPr>
            <a:r>
              <a:rPr lang="en-US" sz="1150" dirty="0">
                <a:solidFill>
                  <a:schemeClr val="tx1"/>
                </a:solidFill>
              </a:rPr>
              <a:t>시연 내용</a:t>
            </a:r>
            <a:endParaRPr lang="en-US" sz="1150" dirty="0"/>
          </a:p>
        </p:txBody>
      </p:sp>
      <p:sp>
        <p:nvSpPr>
          <p:cNvPr id="8" name="Text 6"/>
          <p:cNvSpPr txBox="1"/>
          <p:nvPr/>
        </p:nvSpPr>
        <p:spPr>
          <a:xfrm>
            <a:off x="548640" y="1243584"/>
            <a:ext cx="11064240" cy="320040"/>
          </a:xfrm>
          <a:prstGeom prst="rect">
            <a:avLst/>
          </a:prstGeom>
          <a:noFill/>
          <a:ln/>
        </p:spPr>
        <p:txBody>
          <a:bodyPr wrap="square" lIns="0" tIns="0" rIns="0" bIns="0" rtlCol="0" anchor="t"/>
          <a:lstStyle/>
          <a:p>
            <a:pPr marL="0" indent="0">
              <a:buNone/>
            </a:pPr>
            <a:r>
              <a:rPr lang="en-US" sz="1500" dirty="0">
                <a:solidFill>
                  <a:schemeClr val="tx1"/>
                </a:solidFill>
              </a:rPr>
              <a:t>벽 표면 습도를 계산해 곰팡이 임계 전에 가습기와 선풍기를 스스로 조절하는 Matter 디바이스를 제안함</a:t>
            </a:r>
            <a:endParaRPr lang="en-US" sz="1500" dirty="0"/>
          </a:p>
        </p:txBody>
      </p:sp>
      <p:sp>
        <p:nvSpPr>
          <p:cNvPr id="9" name="Shape 7"/>
          <p:cNvSpPr/>
          <p:nvPr/>
        </p:nvSpPr>
        <p:spPr>
          <a:xfrm>
            <a:off x="548640" y="1783080"/>
            <a:ext cx="2651760" cy="1737360"/>
          </a:xfrm>
          <a:prstGeom prst="roundRect">
            <a:avLst>
              <a:gd name="adj" fmla="val 6316"/>
            </a:avLst>
          </a:prstGeom>
          <a:solidFill>
            <a:schemeClr val="bg2"/>
          </a:solidFill>
          <a:ln w="9525">
            <a:solidFill>
              <a:srgbClr val="E0E0E0"/>
            </a:solidFill>
            <a:prstDash val="solid"/>
          </a:ln>
        </p:spPr>
      </p:sp>
      <p:pic>
        <p:nvPicPr>
          <p:cNvPr id="10" name="Image 0" descr="습도계"/>
          <p:cNvPicPr>
            <a:picLocks noChangeAspect="1"/>
          </p:cNvPicPr>
          <p:nvPr/>
        </p:nvPicPr>
        <p:blipFill>
          <a:blip r:embed="rId3"/>
          <a:stretch>
            <a:fillRect/>
          </a:stretch>
        </p:blipFill>
        <p:spPr>
          <a:xfrm>
            <a:off x="2697480" y="1920240"/>
            <a:ext cx="347472" cy="347472"/>
          </a:xfrm>
          <a:prstGeom prst="rect">
            <a:avLst/>
          </a:prstGeom>
        </p:spPr>
      </p:pic>
      <p:sp>
        <p:nvSpPr>
          <p:cNvPr id="11" name="Text 8"/>
          <p:cNvSpPr txBox="1"/>
          <p:nvPr/>
        </p:nvSpPr>
        <p:spPr>
          <a:xfrm>
            <a:off x="777240" y="1938528"/>
            <a:ext cx="1920240" cy="274320"/>
          </a:xfrm>
          <a:prstGeom prst="rect">
            <a:avLst/>
          </a:prstGeom>
          <a:noFill/>
          <a:ln/>
        </p:spPr>
        <p:txBody>
          <a:bodyPr wrap="square" lIns="0" tIns="0" rIns="0" bIns="0" rtlCol="0" anchor="t"/>
          <a:lstStyle/>
          <a:p>
            <a:pPr marL="0" indent="0">
              <a:buNone/>
            </a:pPr>
            <a:r>
              <a:rPr lang="en-US" sz="1300" dirty="0">
                <a:solidFill>
                  <a:schemeClr val="tx1"/>
                </a:solidFill>
              </a:rPr>
              <a:t>실내 습도 (방 습도계)</a:t>
            </a:r>
            <a:endParaRPr lang="en-US" sz="1300" dirty="0"/>
          </a:p>
        </p:txBody>
      </p:sp>
      <p:sp>
        <p:nvSpPr>
          <p:cNvPr id="12" name="Text 9"/>
          <p:cNvSpPr txBox="1"/>
          <p:nvPr/>
        </p:nvSpPr>
        <p:spPr>
          <a:xfrm>
            <a:off x="777240" y="2212848"/>
            <a:ext cx="2286000" cy="868680"/>
          </a:xfrm>
          <a:prstGeom prst="rect">
            <a:avLst/>
          </a:prstGeom>
          <a:noFill/>
          <a:ln/>
        </p:spPr>
        <p:txBody>
          <a:bodyPr wrap="square" lIns="0" tIns="0" rIns="0" bIns="0" rtlCol="0" anchor="t"/>
          <a:lstStyle/>
          <a:p>
            <a:pPr marL="0" indent="0">
              <a:buNone/>
            </a:pPr>
            <a:r>
              <a:rPr lang="en-US" sz="5400" b="1" dirty="0">
                <a:solidFill>
                  <a:schemeClr val="tx1"/>
                </a:solidFill>
              </a:rPr>
              <a:t>45%</a:t>
            </a:r>
            <a:endParaRPr lang="en-US" sz="5400" dirty="0"/>
          </a:p>
        </p:txBody>
      </p:sp>
      <p:sp>
        <p:nvSpPr>
          <p:cNvPr id="13" name="Text 10"/>
          <p:cNvSpPr txBox="1"/>
          <p:nvPr/>
        </p:nvSpPr>
        <p:spPr>
          <a:xfrm>
            <a:off x="777240" y="3090672"/>
            <a:ext cx="2286000" cy="274320"/>
          </a:xfrm>
          <a:prstGeom prst="rect">
            <a:avLst/>
          </a:prstGeom>
          <a:noFill/>
          <a:ln/>
        </p:spPr>
        <p:txBody>
          <a:bodyPr wrap="square" lIns="0" tIns="0" rIns="0" bIns="0" rtlCol="0" anchor="t"/>
          <a:lstStyle/>
          <a:p>
            <a:pPr marL="0" indent="0">
              <a:buNone/>
            </a:pPr>
            <a:r>
              <a:rPr lang="en-US" sz="1300" dirty="0">
                <a:solidFill>
                  <a:schemeClr val="tx1"/>
                </a:solidFill>
              </a:rPr>
              <a:t>방 공기 기준 값</a:t>
            </a:r>
            <a:endParaRPr lang="en-US" sz="1300" dirty="0"/>
          </a:p>
        </p:txBody>
      </p:sp>
      <p:sp>
        <p:nvSpPr>
          <p:cNvPr id="14" name="Shape 11"/>
          <p:cNvSpPr/>
          <p:nvPr/>
        </p:nvSpPr>
        <p:spPr>
          <a:xfrm>
            <a:off x="3429000" y="1783080"/>
            <a:ext cx="2651760" cy="1737360"/>
          </a:xfrm>
          <a:prstGeom prst="roundRect">
            <a:avLst>
              <a:gd name="adj" fmla="val 6316"/>
            </a:avLst>
          </a:prstGeom>
          <a:solidFill>
            <a:srgbClr val="FFFFFF"/>
          </a:solidFill>
          <a:ln w="19050">
            <a:solidFill>
              <a:srgbClr val="E30000"/>
            </a:solidFill>
            <a:prstDash val="solid"/>
          </a:ln>
        </p:spPr>
      </p:sp>
      <p:pic>
        <p:nvPicPr>
          <p:cNvPr id="15" name="Image 1" descr="차가운 벽"/>
          <p:cNvPicPr>
            <a:picLocks noChangeAspect="1"/>
          </p:cNvPicPr>
          <p:nvPr/>
        </p:nvPicPr>
        <p:blipFill>
          <a:blip r:embed="rId4"/>
          <a:stretch>
            <a:fillRect/>
          </a:stretch>
        </p:blipFill>
        <p:spPr>
          <a:xfrm>
            <a:off x="5577840" y="1920240"/>
            <a:ext cx="347472" cy="347472"/>
          </a:xfrm>
          <a:prstGeom prst="rect">
            <a:avLst/>
          </a:prstGeom>
        </p:spPr>
      </p:pic>
      <p:sp>
        <p:nvSpPr>
          <p:cNvPr id="16" name="Text 12"/>
          <p:cNvSpPr txBox="1"/>
          <p:nvPr/>
        </p:nvSpPr>
        <p:spPr>
          <a:xfrm>
            <a:off x="3657600" y="1938528"/>
            <a:ext cx="1920240" cy="274320"/>
          </a:xfrm>
          <a:prstGeom prst="rect">
            <a:avLst/>
          </a:prstGeom>
          <a:noFill/>
          <a:ln/>
        </p:spPr>
        <p:txBody>
          <a:bodyPr wrap="square" lIns="0" tIns="0" rIns="0" bIns="0" rtlCol="0" anchor="t"/>
          <a:lstStyle/>
          <a:p>
            <a:pPr marL="0" indent="0">
              <a:buNone/>
            </a:pPr>
            <a:r>
              <a:rPr lang="en-US" sz="1300" dirty="0">
                <a:solidFill>
                  <a:schemeClr val="tx1"/>
                </a:solidFill>
              </a:rPr>
              <a:t>12℃ 북측 벽 표면</a:t>
            </a:r>
            <a:endParaRPr lang="en-US" sz="1300" dirty="0"/>
          </a:p>
        </p:txBody>
      </p:sp>
      <p:sp>
        <p:nvSpPr>
          <p:cNvPr id="17" name="Text 13"/>
          <p:cNvSpPr txBox="1"/>
          <p:nvPr/>
        </p:nvSpPr>
        <p:spPr>
          <a:xfrm>
            <a:off x="3657600" y="2212848"/>
            <a:ext cx="2286000" cy="868680"/>
          </a:xfrm>
          <a:prstGeom prst="rect">
            <a:avLst/>
          </a:prstGeom>
          <a:noFill/>
          <a:ln/>
        </p:spPr>
        <p:txBody>
          <a:bodyPr wrap="square" lIns="0" tIns="0" rIns="0" bIns="0" rtlCol="0" anchor="t"/>
          <a:lstStyle/>
          <a:p>
            <a:pPr marL="0" indent="0">
              <a:buNone/>
            </a:pPr>
            <a:r>
              <a:rPr lang="en-US" sz="5400" b="1" dirty="0">
                <a:solidFill>
                  <a:schemeClr val="tx1"/>
                </a:solidFill>
              </a:rPr>
              <a:t>80%</a:t>
            </a:r>
            <a:endParaRPr lang="en-US" sz="5400" dirty="0"/>
          </a:p>
        </p:txBody>
      </p:sp>
      <p:sp>
        <p:nvSpPr>
          <p:cNvPr id="18" name="Text 14"/>
          <p:cNvSpPr txBox="1"/>
          <p:nvPr/>
        </p:nvSpPr>
        <p:spPr>
          <a:xfrm>
            <a:off x="3657600" y="3090672"/>
            <a:ext cx="2286000" cy="274320"/>
          </a:xfrm>
          <a:prstGeom prst="rect">
            <a:avLst/>
          </a:prstGeom>
          <a:noFill/>
          <a:ln/>
        </p:spPr>
        <p:txBody>
          <a:bodyPr wrap="square" lIns="0" tIns="0" rIns="0" bIns="0" rtlCol="0" anchor="t"/>
          <a:lstStyle/>
          <a:p>
            <a:pPr marL="0" indent="0">
              <a:buNone/>
            </a:pPr>
            <a:r>
              <a:rPr lang="en-US" sz="1300" dirty="0">
                <a:solidFill>
                  <a:schemeClr val="tx1"/>
                </a:solidFill>
              </a:rPr>
              <a:t>ISO 13788 곰팡이 임계</a:t>
            </a:r>
            <a:endParaRPr lang="en-US" sz="1300" dirty="0"/>
          </a:p>
        </p:txBody>
      </p:sp>
      <p:sp>
        <p:nvSpPr>
          <p:cNvPr id="19" name="Text 15"/>
          <p:cNvSpPr txBox="1"/>
          <p:nvPr/>
        </p:nvSpPr>
        <p:spPr>
          <a:xfrm>
            <a:off x="548640" y="3749040"/>
            <a:ext cx="5532120" cy="292608"/>
          </a:xfrm>
          <a:prstGeom prst="rect">
            <a:avLst/>
          </a:prstGeom>
          <a:noFill/>
          <a:ln/>
        </p:spPr>
        <p:txBody>
          <a:bodyPr wrap="square" lIns="0" tIns="0" rIns="0" bIns="0" rtlCol="0" anchor="t"/>
          <a:lstStyle/>
          <a:p>
            <a:pPr marL="0" indent="0">
              <a:buNone/>
            </a:pPr>
            <a:r>
              <a:rPr lang="en-US" sz="1500" b="1" dirty="0">
                <a:solidFill>
                  <a:schemeClr val="tx1"/>
                </a:solidFill>
              </a:rPr>
              <a:t>서로 충돌하는 침실의 세 목표</a:t>
            </a:r>
            <a:endParaRPr lang="en-US" sz="1500" dirty="0"/>
          </a:p>
        </p:txBody>
      </p:sp>
      <p:sp>
        <p:nvSpPr>
          <p:cNvPr id="20" name="Shape 16"/>
          <p:cNvSpPr/>
          <p:nvPr/>
        </p:nvSpPr>
        <p:spPr>
          <a:xfrm>
            <a:off x="548640" y="4160520"/>
            <a:ext cx="420624" cy="420624"/>
          </a:xfrm>
          <a:prstGeom prst="ellipse">
            <a:avLst/>
          </a:prstGeom>
          <a:solidFill>
            <a:schemeClr val="accent1"/>
          </a:solidFill>
          <a:ln w="12700">
            <a:solidFill>
              <a:srgbClr val="0066CC"/>
            </a:solidFill>
            <a:prstDash val="solid"/>
          </a:ln>
        </p:spPr>
      </p:sp>
      <p:pic>
        <p:nvPicPr>
          <p:cNvPr id="21" name="Image 2" descr="bed"/>
          <p:cNvPicPr>
            <a:picLocks noChangeAspect="1"/>
          </p:cNvPicPr>
          <p:nvPr/>
        </p:nvPicPr>
        <p:blipFill>
          <a:blip r:embed="rId5"/>
          <a:stretch>
            <a:fillRect/>
          </a:stretch>
        </p:blipFill>
        <p:spPr>
          <a:xfrm>
            <a:off x="641177" y="4253057"/>
            <a:ext cx="235549" cy="235549"/>
          </a:xfrm>
          <a:prstGeom prst="rect">
            <a:avLst/>
          </a:prstGeom>
        </p:spPr>
      </p:pic>
      <p:sp>
        <p:nvSpPr>
          <p:cNvPr id="22" name="Text 17"/>
          <p:cNvSpPr txBox="1"/>
          <p:nvPr/>
        </p:nvSpPr>
        <p:spPr>
          <a:xfrm>
            <a:off x="1152144" y="4123944"/>
            <a:ext cx="4928616" cy="566928"/>
          </a:xfrm>
          <a:prstGeom prst="rect">
            <a:avLst/>
          </a:prstGeom>
          <a:noFill/>
          <a:ln/>
        </p:spPr>
        <p:txBody>
          <a:bodyPr wrap="square" lIns="0" tIns="0" rIns="0" bIns="0" rtlCol="0" anchor="t"/>
          <a:lstStyle/>
          <a:p>
            <a:pPr marL="0" indent="0">
              <a:buNone/>
            </a:pPr>
            <a:r>
              <a:rPr lang="en-US" sz="1400" b="1" dirty="0">
                <a:solidFill>
                  <a:schemeClr val="tx1"/>
                </a:solidFill>
              </a:rPr>
              <a:t>① 수면: 침실 18~20℃</a:t>
            </a:r>
            <a:endParaRPr lang="en-US" sz="1400" dirty="0"/>
          </a:p>
          <a:p>
            <a:pPr marL="0" indent="0">
              <a:buNone/>
            </a:pPr>
            <a:r>
              <a:rPr lang="en-US" sz="1300" dirty="0">
                <a:solidFill>
                  <a:schemeClr val="tx1"/>
                </a:solidFill>
              </a:rPr>
              <a:t>사용자가 정하는 제약 조건임 (Prather, SLEEP 2015)</a:t>
            </a:r>
            <a:endParaRPr lang="en-US" sz="1400" dirty="0"/>
          </a:p>
        </p:txBody>
      </p:sp>
      <p:sp>
        <p:nvSpPr>
          <p:cNvPr id="23" name="Shape 18"/>
          <p:cNvSpPr/>
          <p:nvPr/>
        </p:nvSpPr>
        <p:spPr>
          <a:xfrm>
            <a:off x="548640" y="4800600"/>
            <a:ext cx="420624" cy="420624"/>
          </a:xfrm>
          <a:prstGeom prst="ellipse">
            <a:avLst/>
          </a:prstGeom>
          <a:solidFill>
            <a:schemeClr val="accent1"/>
          </a:solidFill>
          <a:ln w="12700">
            <a:solidFill>
              <a:srgbClr val="0066CC"/>
            </a:solidFill>
            <a:prstDash val="solid"/>
          </a:ln>
        </p:spPr>
      </p:sp>
      <p:pic>
        <p:nvPicPr>
          <p:cNvPr id="24" name="Image 3" descr="shield"/>
          <p:cNvPicPr>
            <a:picLocks noChangeAspect="1"/>
          </p:cNvPicPr>
          <p:nvPr/>
        </p:nvPicPr>
        <p:blipFill>
          <a:blip r:embed="rId6"/>
          <a:stretch>
            <a:fillRect/>
          </a:stretch>
        </p:blipFill>
        <p:spPr>
          <a:xfrm>
            <a:off x="641177" y="4893137"/>
            <a:ext cx="235549" cy="235549"/>
          </a:xfrm>
          <a:prstGeom prst="rect">
            <a:avLst/>
          </a:prstGeom>
        </p:spPr>
      </p:pic>
      <p:sp>
        <p:nvSpPr>
          <p:cNvPr id="25" name="Text 19"/>
          <p:cNvSpPr txBox="1"/>
          <p:nvPr/>
        </p:nvSpPr>
        <p:spPr>
          <a:xfrm>
            <a:off x="1152144" y="4764024"/>
            <a:ext cx="4928616" cy="566928"/>
          </a:xfrm>
          <a:prstGeom prst="rect">
            <a:avLst/>
          </a:prstGeom>
          <a:noFill/>
          <a:ln/>
        </p:spPr>
        <p:txBody>
          <a:bodyPr wrap="square" lIns="0" tIns="0" rIns="0" bIns="0" rtlCol="0" anchor="t"/>
          <a:lstStyle/>
          <a:p>
            <a:pPr marL="0" indent="0">
              <a:buNone/>
            </a:pPr>
            <a:r>
              <a:rPr lang="en-US" sz="1400" b="1" dirty="0">
                <a:solidFill>
                  <a:schemeClr val="tx1"/>
                </a:solidFill>
              </a:rPr>
              <a:t>② 점막 방어: 절대습도 6 g/㎥ 이상</a:t>
            </a:r>
            <a:endParaRPr lang="en-US" sz="1400" dirty="0"/>
          </a:p>
          <a:p>
            <a:pPr marL="0" indent="0">
              <a:buNone/>
            </a:pPr>
            <a:r>
              <a:rPr lang="en-US" sz="1300" dirty="0">
                <a:solidFill>
                  <a:schemeClr val="tx1"/>
                </a:solidFill>
              </a:rPr>
              <a:t>노드가 제어함 (Shaman &amp; Kohn, PNAS 2009)</a:t>
            </a:r>
            <a:endParaRPr lang="en-US" sz="1400" dirty="0"/>
          </a:p>
        </p:txBody>
      </p:sp>
      <p:sp>
        <p:nvSpPr>
          <p:cNvPr id="26" name="Shape 20"/>
          <p:cNvSpPr/>
          <p:nvPr/>
        </p:nvSpPr>
        <p:spPr>
          <a:xfrm>
            <a:off x="548640" y="5440680"/>
            <a:ext cx="420624" cy="420624"/>
          </a:xfrm>
          <a:prstGeom prst="ellipse">
            <a:avLst/>
          </a:prstGeom>
          <a:solidFill>
            <a:schemeClr val="accent1"/>
          </a:solidFill>
          <a:ln w="12700">
            <a:solidFill>
              <a:srgbClr val="0066CC"/>
            </a:solidFill>
            <a:prstDash val="solid"/>
          </a:ln>
        </p:spPr>
      </p:sp>
      <p:pic>
        <p:nvPicPr>
          <p:cNvPr id="27" name="Image 4" descr="virus"/>
          <p:cNvPicPr>
            <a:picLocks noChangeAspect="1"/>
          </p:cNvPicPr>
          <p:nvPr/>
        </p:nvPicPr>
        <p:blipFill>
          <a:blip r:embed="rId7"/>
          <a:stretch>
            <a:fillRect/>
          </a:stretch>
        </p:blipFill>
        <p:spPr>
          <a:xfrm>
            <a:off x="641177" y="5533217"/>
            <a:ext cx="235549" cy="235549"/>
          </a:xfrm>
          <a:prstGeom prst="rect">
            <a:avLst/>
          </a:prstGeom>
        </p:spPr>
      </p:pic>
      <p:sp>
        <p:nvSpPr>
          <p:cNvPr id="28" name="Text 21"/>
          <p:cNvSpPr txBox="1"/>
          <p:nvPr/>
        </p:nvSpPr>
        <p:spPr>
          <a:xfrm>
            <a:off x="1152144" y="5404104"/>
            <a:ext cx="4928616" cy="566928"/>
          </a:xfrm>
          <a:prstGeom prst="rect">
            <a:avLst/>
          </a:prstGeom>
          <a:noFill/>
          <a:ln/>
        </p:spPr>
        <p:txBody>
          <a:bodyPr wrap="square" lIns="0" tIns="0" rIns="0" bIns="0" rtlCol="0" anchor="t"/>
          <a:lstStyle/>
          <a:p>
            <a:pPr marL="0" indent="0">
              <a:buNone/>
            </a:pPr>
            <a:r>
              <a:rPr lang="en-US" sz="1400" b="1" dirty="0">
                <a:solidFill>
                  <a:schemeClr val="tx1"/>
                </a:solidFill>
              </a:rPr>
              <a:t>③ 곰팡이와 진드기: 벽 표면 80% 이하</a:t>
            </a:r>
            <a:endParaRPr lang="en-US" sz="1400" dirty="0"/>
          </a:p>
          <a:p>
            <a:pPr marL="0" indent="0">
              <a:buNone/>
            </a:pPr>
            <a:r>
              <a:rPr lang="en-US" sz="1300" dirty="0">
                <a:solidFill>
                  <a:schemeClr val="tx1"/>
                </a:solidFill>
              </a:rPr>
              <a:t>노드가 제어함 (ISO 13788:2012)</a:t>
            </a:r>
            <a:endParaRPr lang="en-US" sz="1400" dirty="0"/>
          </a:p>
        </p:txBody>
      </p:sp>
      <p:graphicFrame>
        <p:nvGraphicFramePr>
          <p:cNvPr id="29" name="Chart 0"/>
          <p:cNvGraphicFramePr/>
          <p:nvPr/>
        </p:nvGraphicFramePr>
        <p:xfrm>
          <a:off x="6400800" y="1783080"/>
          <a:ext cx="5257800" cy="3657600"/>
        </p:xfrm>
        <a:graphic>
          <a:graphicData uri="http://schemas.openxmlformats.org/drawingml/2006/chart">
            <c:chart xmlns:c="http://schemas.openxmlformats.org/drawingml/2006/chart" xmlns:r="http://schemas.openxmlformats.org/officeDocument/2006/relationships" r:id="rId8"/>
          </a:graphicData>
        </a:graphic>
      </p:graphicFrame>
      <p:sp>
        <p:nvSpPr>
          <p:cNvPr id="30" name="Text 22"/>
          <p:cNvSpPr txBox="1"/>
          <p:nvPr/>
        </p:nvSpPr>
        <p:spPr>
          <a:xfrm>
            <a:off x="6400800" y="5532120"/>
            <a:ext cx="5257800" cy="640080"/>
          </a:xfrm>
          <a:prstGeom prst="rect">
            <a:avLst/>
          </a:prstGeom>
          <a:noFill/>
          <a:ln/>
        </p:spPr>
        <p:txBody>
          <a:bodyPr wrap="square" lIns="0" tIns="0" rIns="0" bIns="0" rtlCol="0" anchor="t"/>
          <a:lstStyle/>
          <a:p>
            <a:pPr marL="0" indent="0">
              <a:buNone/>
            </a:pPr>
            <a:r>
              <a:rPr lang="en-US" sz="1400" dirty="0">
                <a:solidFill>
                  <a:schemeClr val="tx1"/>
                </a:solidFill>
              </a:rPr>
              <a:t>벽이 약 7.2℃ 아래로 내려가면 두 목표를 함께 만족하는 구간이 사라짐.</a:t>
            </a:r>
            <a:endParaRPr lang="en-US" sz="1400" dirty="0"/>
          </a:p>
          <a:p>
            <a:pPr marL="0" indent="0">
              <a:buNone/>
            </a:pPr>
            <a:r>
              <a:rPr lang="en-US" sz="1400" dirty="0">
                <a:solidFill>
                  <a:schemeClr val="tx1"/>
                </a:solidFill>
              </a:rPr>
              <a:t>노드는 선풍기로 벽 표면을 데워 이 구간을 되찾음.</a:t>
            </a:r>
            <a:endParaRPr lang="en-US" sz="1400" dirty="0"/>
          </a:p>
        </p:txBody>
      </p:sp>
      <p:sp>
        <p:nvSpPr>
          <p:cNvPr id="31"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92608"/>
          </a:xfrm>
          <a:prstGeom prst="rect">
            <a:avLst/>
          </a:prstGeom>
          <a:noFill/>
          <a:ln/>
        </p:spPr>
        <p:txBody>
          <a:bodyPr wrap="square" lIns="0" tIns="0" rIns="0" bIns="0" rtlCol="0"/>
          <a:lstStyle/>
          <a:p>
            <a:pPr marL="0" indent="0">
              <a:buNone/>
            </a:pPr>
            <a:r>
              <a:rPr lang="en-US" sz="1300" b="1" dirty="0">
                <a:solidFill>
                  <a:schemeClr val="tx1"/>
                </a:solidFill>
              </a:rPr>
              <a:t>주요 개발 내용 ① 개발 환경과 Matter SDK</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t"/>
          <a:lstStyle/>
          <a:p>
            <a:pPr marL="0" indent="0" algn="l">
              <a:buNone/>
            </a:pPr>
            <a:r>
              <a:rPr lang="en-US" sz="3000" b="1" dirty="0">
                <a:solidFill>
                  <a:schemeClr val="tx1"/>
                </a:solidFill>
              </a:rPr>
              <a:t>nRF Connect SDK로 노드 하나를 엔드포인트 6개로 직접 구성함</a:t>
            </a:r>
            <a:endParaRPr lang="en-US" sz="3000" dirty="0"/>
          </a:p>
        </p:txBody>
      </p:sp>
      <p:sp>
        <p:nvSpPr>
          <p:cNvPr id="4" name="Text 2"/>
          <p:cNvSpPr txBox="1"/>
          <p:nvPr/>
        </p:nvSpPr>
        <p:spPr>
          <a:xfrm>
            <a:off x="8503920" y="256032"/>
            <a:ext cx="868680" cy="292608"/>
          </a:xfrm>
          <a:prstGeom prst="rect">
            <a:avLst/>
          </a:prstGeom>
          <a:noFill/>
          <a:ln/>
        </p:spPr>
        <p:txBody>
          <a:bodyPr wrap="square" lIns="0" tIns="0" rIns="0" bIns="0" rtlCol="0" anchor="ctr"/>
          <a:lstStyle/>
          <a:p>
            <a:pPr marL="0" indent="0" algn="ctr">
              <a:buNone/>
            </a:pPr>
            <a:r>
              <a:rPr lang="en-US" sz="1150" dirty="0">
                <a:solidFill>
                  <a:schemeClr val="tx1"/>
                </a:solidFill>
              </a:rPr>
              <a:t>핵심 주제</a:t>
            </a:r>
            <a:endParaRPr lang="en-US" sz="1150" dirty="0"/>
          </a:p>
        </p:txBody>
      </p:sp>
      <p:sp>
        <p:nvSpPr>
          <p:cNvPr id="5" name="Shape 3"/>
          <p:cNvSpPr/>
          <p:nvPr/>
        </p:nvSpPr>
        <p:spPr>
          <a:xfrm>
            <a:off x="9464040" y="256032"/>
            <a:ext cx="1234440" cy="292608"/>
          </a:xfrm>
          <a:prstGeom prst="roundRect">
            <a:avLst>
              <a:gd name="adj" fmla="val 50000"/>
            </a:avLst>
          </a:prstGeom>
          <a:solidFill>
            <a:srgbClr val="F5F5F7"/>
          </a:solidFill>
          <a:ln w="12700">
            <a:solidFill>
              <a:srgbClr val="0066CC"/>
            </a:solidFill>
            <a:prstDash val="solid"/>
          </a:ln>
        </p:spPr>
      </p:sp>
      <p:sp>
        <p:nvSpPr>
          <p:cNvPr id="6" name="Text 4"/>
          <p:cNvSpPr txBox="1"/>
          <p:nvPr/>
        </p:nvSpPr>
        <p:spPr>
          <a:xfrm>
            <a:off x="9464040" y="256032"/>
            <a:ext cx="1234440" cy="292608"/>
          </a:xfrm>
          <a:prstGeom prst="rect">
            <a:avLst/>
          </a:prstGeom>
          <a:noFill/>
          <a:ln/>
        </p:spPr>
        <p:txBody>
          <a:bodyPr wrap="square" lIns="0" tIns="0" rIns="0" bIns="0" rtlCol="0" anchor="ctr"/>
          <a:lstStyle/>
          <a:p>
            <a:pPr marL="0" indent="0" algn="ctr">
              <a:buNone/>
            </a:pPr>
            <a:r>
              <a:rPr lang="en-US" sz="1150" b="1" dirty="0">
                <a:solidFill>
                  <a:schemeClr val="tx1"/>
                </a:solidFill>
              </a:rPr>
              <a:t>주요 개발 내용</a:t>
            </a:r>
            <a:endParaRPr lang="en-US" sz="1150" dirty="0"/>
          </a:p>
        </p:txBody>
      </p:sp>
      <p:sp>
        <p:nvSpPr>
          <p:cNvPr id="7" name="Text 5"/>
          <p:cNvSpPr txBox="1"/>
          <p:nvPr/>
        </p:nvSpPr>
        <p:spPr>
          <a:xfrm>
            <a:off x="10789920" y="256032"/>
            <a:ext cx="868680" cy="292608"/>
          </a:xfrm>
          <a:prstGeom prst="rect">
            <a:avLst/>
          </a:prstGeom>
          <a:noFill/>
          <a:ln/>
        </p:spPr>
        <p:txBody>
          <a:bodyPr wrap="square" lIns="0" tIns="0" rIns="0" bIns="0" rtlCol="0" anchor="ctr"/>
          <a:lstStyle/>
          <a:p>
            <a:pPr marL="0" indent="0" algn="ctr">
              <a:buNone/>
            </a:pPr>
            <a:r>
              <a:rPr lang="en-US" sz="1150" dirty="0">
                <a:solidFill>
                  <a:schemeClr val="tx1"/>
                </a:solidFill>
              </a:rPr>
              <a:t>시연 내용</a:t>
            </a:r>
            <a:endParaRPr lang="en-US" sz="1150" dirty="0"/>
          </a:p>
        </p:txBody>
      </p:sp>
      <p:sp>
        <p:nvSpPr>
          <p:cNvPr id="8" name="Text 6"/>
          <p:cNvSpPr txBox="1"/>
          <p:nvPr/>
        </p:nvSpPr>
        <p:spPr>
          <a:xfrm>
            <a:off x="548640" y="1371600"/>
            <a:ext cx="5120640" cy="274320"/>
          </a:xfrm>
          <a:prstGeom prst="rect">
            <a:avLst/>
          </a:prstGeom>
          <a:noFill/>
          <a:ln/>
        </p:spPr>
        <p:txBody>
          <a:bodyPr wrap="square" lIns="0" tIns="0" rIns="0" bIns="0" rtlCol="0" anchor="t"/>
          <a:lstStyle/>
          <a:p>
            <a:pPr marL="0" indent="0">
              <a:buNone/>
            </a:pPr>
            <a:r>
              <a:rPr lang="en-US" sz="1400" b="1" dirty="0">
                <a:solidFill>
                  <a:schemeClr val="tx1"/>
                </a:solidFill>
              </a:rPr>
              <a:t>개발 환경</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120640" cy="2221992"/>
        </p:xfrm>
        <a:graphic>
          <a:graphicData uri="http://schemas.openxmlformats.org/drawingml/2006/table">
            <a:tbl>
              <a:tblPr/>
              <a:tblGrid>
                <a:gridCol w="10972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20040">
                <a:tc>
                  <a:txBody>
                    <a:bodyPr/>
                    <a:lstStyle/>
                    <a:p>
                      <a:pPr marL="0" indent="0" algn="ctr">
                        <a:buNone/>
                      </a:pPr>
                      <a:r>
                        <a:rPr lang="en-US" sz="1100" b="1" dirty="0">
                          <a:solidFill>
                            <a:srgbClr val="000000"/>
                          </a:solidFill>
                          <a:latin typeface="Pretendard" pitchFamily="34" charset="0"/>
                          <a:ea typeface="Pretendard" pitchFamily="34" charset="-122"/>
                          <a:cs typeface="Pretendard" pitchFamily="34" charset="-120"/>
                        </a:rPr>
                        <a:t>구분</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7"/>
                    </a:solidFill>
                  </a:tcPr>
                </a:tc>
                <a:tc>
                  <a:txBody>
                    <a:bodyPr/>
                    <a:lstStyle/>
                    <a:p>
                      <a:pPr marL="0" indent="0" algn="ctr">
                        <a:buNone/>
                      </a:pPr>
                      <a:r>
                        <a:rPr lang="en-US" sz="1100" b="1" dirty="0">
                          <a:solidFill>
                            <a:srgbClr val="000000"/>
                          </a:solidFill>
                          <a:latin typeface="Pretendard" pitchFamily="34" charset="0"/>
                          <a:ea typeface="Pretendard" pitchFamily="34" charset="-122"/>
                          <a:cs typeface="Pretendard" pitchFamily="34" charset="-120"/>
                        </a:rPr>
                        <a:t>내용</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475488">
                <a:tc>
                  <a:txBody>
                    <a:bodyPr/>
                    <a:lstStyle/>
                    <a:p>
                      <a:pPr marL="0" indent="0" algn="ctr">
                        <a:buNone/>
                      </a:pPr>
                      <a:r>
                        <a:rPr lang="en-US" sz="1100" b="1" dirty="0">
                          <a:solidFill>
                            <a:srgbClr val="000000"/>
                          </a:solidFill>
                          <a:latin typeface="Pretendard" pitchFamily="34" charset="0"/>
                          <a:ea typeface="Pretendard" pitchFamily="34" charset="-122"/>
                          <a:cs typeface="Pretendard" pitchFamily="34" charset="-120"/>
                        </a:rPr>
                        <a:t>사용 언어</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C (판단 로직), C++ (Matter 앱)</a:t>
                      </a:r>
                      <a:endParaRPr lang="en-US" sz="1100" dirty="0">
                        <a:latin typeface="Pretendard" charset="0"/>
                        <a:ea typeface="Pretendard" charset="0"/>
                        <a:cs typeface="Pretendard" charset="0"/>
                      </a:endParaRPr>
                    </a:p>
                    <a:p>
                      <a:pPr marL="0" indent="0" algn="ctr">
                        <a:buNone/>
                      </a:pPr>
                      <a:r>
                        <a:rPr lang="en-US" sz="1100" dirty="0">
                          <a:solidFill>
                            <a:srgbClr val="000000"/>
                          </a:solidFill>
                          <a:latin typeface="Pretendard" pitchFamily="34" charset="0"/>
                          <a:ea typeface="Pretendard" pitchFamily="34" charset="-122"/>
                          <a:cs typeface="Pretendard" pitchFamily="34" charset="-120"/>
                        </a:rPr>
                        <a:t>JavaScript, HTML (시연 화면), Python (시험 도구)</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ctr">
                        <a:buNone/>
                      </a:pPr>
                      <a:r>
                        <a:rPr lang="en-US" sz="1100" b="1" dirty="0">
                          <a:solidFill>
                            <a:srgbClr val="000000"/>
                          </a:solidFill>
                          <a:latin typeface="Pretendard" pitchFamily="34" charset="0"/>
                          <a:ea typeface="Pretendard" pitchFamily="34" charset="-122"/>
                          <a:cs typeface="Pretendard" pitchFamily="34" charset="-120"/>
                        </a:rPr>
                        <a:t>사용 기기</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nRF54LM20 DK, 2채널 릴레이, 노트북</a:t>
                      </a:r>
                      <a:endParaRPr lang="en-US" sz="1100" dirty="0">
                        <a:latin typeface="Pretendard" charset="0"/>
                        <a:ea typeface="Pretendard" charset="0"/>
                        <a:cs typeface="Pretendard" charset="0"/>
                      </a:endParaRPr>
                    </a:p>
                    <a:p>
                      <a:pPr marL="0" indent="0" algn="ctr">
                        <a:buNone/>
                      </a:pPr>
                      <a:r>
                        <a:rPr lang="en-US" sz="1100" dirty="0">
                          <a:solidFill>
                            <a:srgbClr val="000000"/>
                          </a:solidFill>
                          <a:latin typeface="Pretendard" pitchFamily="34" charset="0"/>
                          <a:ea typeface="Pretendard" pitchFamily="34" charset="-122"/>
                          <a:cs typeface="Pretendard" pitchFamily="34" charset="-120"/>
                        </a:rPr>
                        <a:t>SmartThings Station, 스마트폰 (SmartThings 앱)</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ctr">
                        <a:buNone/>
                      </a:pPr>
                      <a:r>
                        <a:rPr lang="en-US" sz="1100" b="1" dirty="0">
                          <a:solidFill>
                            <a:srgbClr val="000000"/>
                          </a:solidFill>
                          <a:latin typeface="Pretendard" pitchFamily="34" charset="0"/>
                          <a:ea typeface="Pretendard" pitchFamily="34" charset="-122"/>
                          <a:cs typeface="Pretendard" pitchFamily="34" charset="-120"/>
                        </a:rPr>
                        <a:t>SDK, 도구</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nRF Connect SDK v3.4.1 (Zephyr RTOS, Matter)</a:t>
                      </a:r>
                      <a:endParaRPr lang="en-US" sz="1100" dirty="0">
                        <a:latin typeface="Pretendard" charset="0"/>
                        <a:ea typeface="Pretendard" charset="0"/>
                        <a:cs typeface="Pretendard" charset="0"/>
                      </a:endParaRPr>
                    </a:p>
                    <a:p>
                      <a:pPr marL="0" indent="0" algn="ctr">
                        <a:buNone/>
                      </a:pPr>
                      <a:r>
                        <a:rPr lang="en-US" sz="1100" dirty="0">
                          <a:solidFill>
                            <a:srgbClr val="000000"/>
                          </a:solidFill>
                          <a:latin typeface="Pretendard" pitchFamily="34" charset="0"/>
                          <a:ea typeface="Pretendard" pitchFamily="34" charset="-122"/>
                          <a:cs typeface="Pretendard" pitchFamily="34" charset="-120"/>
                        </a:rPr>
                        <a:t>ZAP, west, J-Link, nrfutil</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lgn="ctr">
                        <a:buNone/>
                      </a:pPr>
                      <a:r>
                        <a:rPr lang="en-US" sz="1100" b="1" dirty="0">
                          <a:solidFill>
                            <a:srgbClr val="000000"/>
                          </a:solidFill>
                          <a:latin typeface="Pretendard" pitchFamily="34" charset="0"/>
                          <a:ea typeface="Pretendard" pitchFamily="34" charset="-122"/>
                          <a:cs typeface="Pretendard" pitchFamily="34" charset="-120"/>
                        </a:rPr>
                        <a:t>통신</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Matter over Thread, BLE 커미셔닝</a:t>
                      </a:r>
                      <a:endParaRPr lang="en-US" sz="1100" dirty="0">
                        <a:latin typeface="Pretendard" charset="0"/>
                        <a:ea typeface="Pretendard" charset="0"/>
                        <a:cs typeface="Pretendard" charset="0"/>
                      </a:endParaRPr>
                    </a:p>
                    <a:p>
                      <a:pPr marL="0" indent="0" algn="ctr">
                        <a:buNone/>
                      </a:pPr>
                      <a:r>
                        <a:rPr lang="en-US" sz="1100" dirty="0">
                          <a:solidFill>
                            <a:srgbClr val="000000"/>
                          </a:solidFill>
                          <a:latin typeface="Pretendard" pitchFamily="34" charset="0"/>
                          <a:ea typeface="Pretendard" pitchFamily="34" charset="-122"/>
                          <a:cs typeface="Pretendard" pitchFamily="34" charset="-120"/>
                        </a:rPr>
                        <a:t>USB 시리얼 (Web Serial, 115200)</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 7"/>
          <p:cNvSpPr txBox="1"/>
          <p:nvPr/>
        </p:nvSpPr>
        <p:spPr>
          <a:xfrm>
            <a:off x="548640" y="4069080"/>
            <a:ext cx="5120640" cy="274320"/>
          </a:xfrm>
          <a:prstGeom prst="rect">
            <a:avLst/>
          </a:prstGeom>
          <a:noFill/>
          <a:ln/>
        </p:spPr>
        <p:txBody>
          <a:bodyPr wrap="square" lIns="0" tIns="0" rIns="0" bIns="0" rtlCol="0" anchor="t"/>
          <a:lstStyle/>
          <a:p>
            <a:pPr marL="0" indent="0">
              <a:buNone/>
            </a:pPr>
            <a:r>
              <a:rPr lang="en-US" sz="1400" b="1" dirty="0">
                <a:solidFill>
                  <a:schemeClr val="tx1"/>
                </a:solidFill>
              </a:rPr>
              <a:t>Matter SDK 활용</a:t>
            </a:r>
            <a:endParaRPr lang="en-US" sz="1400" dirty="0"/>
          </a:p>
        </p:txBody>
      </p:sp>
      <p:sp>
        <p:nvSpPr>
          <p:cNvPr id="11" name="Shape 8"/>
          <p:cNvSpPr/>
          <p:nvPr/>
        </p:nvSpPr>
        <p:spPr>
          <a:xfrm>
            <a:off x="548640" y="4462272"/>
            <a:ext cx="347472" cy="347472"/>
          </a:xfrm>
          <a:prstGeom prst="ellipse">
            <a:avLst/>
          </a:prstGeom>
          <a:solidFill>
            <a:schemeClr val="accent1"/>
          </a:solidFill>
          <a:ln w="12700">
            <a:solidFill>
              <a:srgbClr val="0066CC"/>
            </a:solidFill>
            <a:prstDash val="solid"/>
          </a:ln>
        </p:spPr>
      </p:sp>
      <p:pic>
        <p:nvPicPr>
          <p:cNvPr id="12" name="Image 0" descr="db"/>
          <p:cNvPicPr>
            <a:picLocks noChangeAspect="1"/>
          </p:cNvPicPr>
          <p:nvPr/>
        </p:nvPicPr>
        <p:blipFill>
          <a:blip r:embed="rId3"/>
          <a:stretch>
            <a:fillRect/>
          </a:stretch>
        </p:blipFill>
        <p:spPr>
          <a:xfrm>
            <a:off x="625084" y="4538716"/>
            <a:ext cx="194584" cy="194584"/>
          </a:xfrm>
          <a:prstGeom prst="rect">
            <a:avLst/>
          </a:prstGeom>
        </p:spPr>
      </p:pic>
      <p:sp>
        <p:nvSpPr>
          <p:cNvPr id="13" name="Text 9"/>
          <p:cNvSpPr txBox="1"/>
          <p:nvPr/>
        </p:nvSpPr>
        <p:spPr>
          <a:xfrm>
            <a:off x="1078992" y="4425696"/>
            <a:ext cx="4590288" cy="420624"/>
          </a:xfrm>
          <a:prstGeom prst="rect">
            <a:avLst/>
          </a:prstGeom>
          <a:noFill/>
          <a:ln/>
        </p:spPr>
        <p:txBody>
          <a:bodyPr wrap="square" lIns="0" tIns="0" rIns="0" bIns="0" rtlCol="0" anchor="t"/>
          <a:lstStyle/>
          <a:p>
            <a:pPr marL="0" indent="0">
              <a:buNone/>
            </a:pPr>
            <a:r>
              <a:rPr lang="en-US" sz="1200" b="1" dirty="0">
                <a:solidFill>
                  <a:schemeClr val="tx1"/>
                </a:solidFill>
              </a:rPr>
              <a:t>ZAP 데이터 모델</a:t>
            </a:r>
            <a:endParaRPr lang="en-US" sz="1200" dirty="0"/>
          </a:p>
          <a:p>
            <a:pPr marL="0" indent="0">
              <a:buNone/>
            </a:pPr>
            <a:r>
              <a:rPr lang="en-US" sz="1100" dirty="0">
                <a:solidFill>
                  <a:schemeClr val="tx1"/>
                </a:solidFill>
              </a:rPr>
              <a:t>light_bulb.zap에 EP2~EP5를 추가해 west zap-generate로 생성함</a:t>
            </a:r>
            <a:endParaRPr lang="en-US" sz="1200" dirty="0"/>
          </a:p>
        </p:txBody>
      </p:sp>
      <p:sp>
        <p:nvSpPr>
          <p:cNvPr id="14" name="Shape 10"/>
          <p:cNvSpPr/>
          <p:nvPr/>
        </p:nvSpPr>
        <p:spPr>
          <a:xfrm>
            <a:off x="548640" y="4919472"/>
            <a:ext cx="347472" cy="347472"/>
          </a:xfrm>
          <a:prstGeom prst="ellipse">
            <a:avLst/>
          </a:prstGeom>
          <a:solidFill>
            <a:schemeClr val="accent1"/>
          </a:solidFill>
          <a:ln w="12700">
            <a:solidFill>
              <a:srgbClr val="0066CC"/>
            </a:solidFill>
            <a:prstDash val="solid"/>
          </a:ln>
        </p:spPr>
      </p:sp>
      <p:pic>
        <p:nvPicPr>
          <p:cNvPr id="15" name="Image 1" descr="upload"/>
          <p:cNvPicPr>
            <a:picLocks noChangeAspect="1"/>
          </p:cNvPicPr>
          <p:nvPr/>
        </p:nvPicPr>
        <p:blipFill>
          <a:blip r:embed="rId4"/>
          <a:stretch>
            <a:fillRect/>
          </a:stretch>
        </p:blipFill>
        <p:spPr>
          <a:xfrm>
            <a:off x="625084" y="4995916"/>
            <a:ext cx="194584" cy="194584"/>
          </a:xfrm>
          <a:prstGeom prst="rect">
            <a:avLst/>
          </a:prstGeom>
        </p:spPr>
      </p:pic>
      <p:sp>
        <p:nvSpPr>
          <p:cNvPr id="16" name="Text 11"/>
          <p:cNvSpPr txBox="1"/>
          <p:nvPr/>
        </p:nvSpPr>
        <p:spPr>
          <a:xfrm>
            <a:off x="1078992" y="4882896"/>
            <a:ext cx="4590288" cy="420624"/>
          </a:xfrm>
          <a:prstGeom prst="rect">
            <a:avLst/>
          </a:prstGeom>
          <a:noFill/>
          <a:ln/>
        </p:spPr>
        <p:txBody>
          <a:bodyPr wrap="square" lIns="0" tIns="0" rIns="0" bIns="0" rtlCol="0" anchor="t"/>
          <a:lstStyle/>
          <a:p>
            <a:pPr marL="0" indent="0">
              <a:buNone/>
            </a:pPr>
            <a:r>
              <a:rPr lang="en-US" sz="1200" b="1" dirty="0">
                <a:solidFill>
                  <a:schemeClr val="tx1"/>
                </a:solidFill>
              </a:rPr>
              <a:t>속성 게시</a:t>
            </a:r>
            <a:endParaRPr lang="en-US" sz="1200" dirty="0"/>
          </a:p>
          <a:p>
            <a:pPr marL="0" indent="0">
              <a:buNone/>
            </a:pPr>
            <a:r>
              <a:rPr lang="en-US" sz="1100" dirty="0">
                <a:solidFill>
                  <a:schemeClr val="tx1"/>
                </a:solidFill>
              </a:rPr>
              <a:t>Accessors로 값을 설정하면 SDK가 허브에 ReportData로 보고함</a:t>
            </a:r>
            <a:endParaRPr lang="en-US" sz="1200" dirty="0"/>
          </a:p>
        </p:txBody>
      </p:sp>
      <p:sp>
        <p:nvSpPr>
          <p:cNvPr id="17" name="Shape 12"/>
          <p:cNvSpPr/>
          <p:nvPr/>
        </p:nvSpPr>
        <p:spPr>
          <a:xfrm>
            <a:off x="548640" y="5376672"/>
            <a:ext cx="347472" cy="347472"/>
          </a:xfrm>
          <a:prstGeom prst="ellipse">
            <a:avLst/>
          </a:prstGeom>
          <a:solidFill>
            <a:schemeClr val="accent1"/>
          </a:solidFill>
          <a:ln w="12700">
            <a:solidFill>
              <a:srgbClr val="0066CC"/>
            </a:solidFill>
            <a:prstDash val="solid"/>
          </a:ln>
        </p:spPr>
      </p:sp>
      <p:pic>
        <p:nvPicPr>
          <p:cNvPr id="18" name="Image 2" descr="hand"/>
          <p:cNvPicPr>
            <a:picLocks noChangeAspect="1"/>
          </p:cNvPicPr>
          <p:nvPr/>
        </p:nvPicPr>
        <p:blipFill>
          <a:blip r:embed="rId5"/>
          <a:stretch>
            <a:fillRect/>
          </a:stretch>
        </p:blipFill>
        <p:spPr>
          <a:xfrm>
            <a:off x="625084" y="5453116"/>
            <a:ext cx="194584" cy="194584"/>
          </a:xfrm>
          <a:prstGeom prst="rect">
            <a:avLst/>
          </a:prstGeom>
        </p:spPr>
      </p:pic>
      <p:sp>
        <p:nvSpPr>
          <p:cNvPr id="19" name="Text 13"/>
          <p:cNvSpPr txBox="1"/>
          <p:nvPr/>
        </p:nvSpPr>
        <p:spPr>
          <a:xfrm>
            <a:off x="1078992" y="5340096"/>
            <a:ext cx="4590288" cy="420624"/>
          </a:xfrm>
          <a:prstGeom prst="rect">
            <a:avLst/>
          </a:prstGeom>
          <a:noFill/>
          <a:ln/>
        </p:spPr>
        <p:txBody>
          <a:bodyPr wrap="square" lIns="0" tIns="0" rIns="0" bIns="0" rtlCol="0" anchor="t"/>
          <a:lstStyle/>
          <a:p>
            <a:pPr marL="0" indent="0">
              <a:buNone/>
            </a:pPr>
            <a:r>
              <a:rPr lang="en-US" sz="1200" b="1" dirty="0">
                <a:solidFill>
                  <a:schemeClr val="tx1"/>
                </a:solidFill>
              </a:rPr>
              <a:t>앱 조작 수신</a:t>
            </a:r>
            <a:endParaRPr lang="en-US" sz="1200" dirty="0"/>
          </a:p>
          <a:p>
            <a:pPr marL="0" indent="0">
              <a:buNone/>
            </a:pPr>
            <a:r>
              <a:rPr lang="en-US" sz="1100" dirty="0">
                <a:solidFill>
                  <a:schemeClr val="tx1"/>
                </a:solidFill>
              </a:rPr>
              <a:t>MatterPostAttributeChangeCallback으로 받아 릴레이와 판단부에 반영함</a:t>
            </a:r>
            <a:endParaRPr lang="en-US" sz="1200" dirty="0"/>
          </a:p>
        </p:txBody>
      </p:sp>
      <p:sp>
        <p:nvSpPr>
          <p:cNvPr id="20" name="Shape 14"/>
          <p:cNvSpPr/>
          <p:nvPr/>
        </p:nvSpPr>
        <p:spPr>
          <a:xfrm>
            <a:off x="548640" y="5833872"/>
            <a:ext cx="347472" cy="347472"/>
          </a:xfrm>
          <a:prstGeom prst="ellipse">
            <a:avLst/>
          </a:prstGeom>
          <a:solidFill>
            <a:schemeClr val="accent1"/>
          </a:solidFill>
          <a:ln w="12700">
            <a:solidFill>
              <a:srgbClr val="0066CC"/>
            </a:solidFill>
            <a:prstDash val="solid"/>
          </a:ln>
        </p:spPr>
      </p:sp>
      <p:pic>
        <p:nvPicPr>
          <p:cNvPr id="21" name="Image 3" descr="qr"/>
          <p:cNvPicPr>
            <a:picLocks noChangeAspect="1"/>
          </p:cNvPicPr>
          <p:nvPr/>
        </p:nvPicPr>
        <p:blipFill>
          <a:blip r:embed="rId6"/>
          <a:stretch>
            <a:fillRect/>
          </a:stretch>
        </p:blipFill>
        <p:spPr>
          <a:xfrm>
            <a:off x="625084" y="5910316"/>
            <a:ext cx="194584" cy="194584"/>
          </a:xfrm>
          <a:prstGeom prst="rect">
            <a:avLst/>
          </a:prstGeom>
        </p:spPr>
      </p:pic>
      <p:sp>
        <p:nvSpPr>
          <p:cNvPr id="22" name="Text 15"/>
          <p:cNvSpPr txBox="1"/>
          <p:nvPr/>
        </p:nvSpPr>
        <p:spPr>
          <a:xfrm>
            <a:off x="1078992" y="5797296"/>
            <a:ext cx="4590288" cy="420624"/>
          </a:xfrm>
          <a:prstGeom prst="rect">
            <a:avLst/>
          </a:prstGeom>
          <a:noFill/>
          <a:ln/>
        </p:spPr>
        <p:txBody>
          <a:bodyPr wrap="square" lIns="0" tIns="0" rIns="0" bIns="0" rtlCol="0" anchor="t"/>
          <a:lstStyle/>
          <a:p>
            <a:pPr marL="0" indent="0">
              <a:buNone/>
            </a:pPr>
            <a:r>
              <a:rPr lang="en-US" sz="1200" b="1" dirty="0">
                <a:solidFill>
                  <a:schemeClr val="tx1"/>
                </a:solidFill>
              </a:rPr>
              <a:t>커미셔닝</a:t>
            </a:r>
            <a:endParaRPr lang="en-US" sz="1200" dirty="0"/>
          </a:p>
          <a:p>
            <a:pPr marL="0" indent="0">
              <a:buNone/>
            </a:pPr>
            <a:r>
              <a:rPr lang="en-US" sz="1100" dirty="0">
                <a:solidFill>
                  <a:schemeClr val="tx1"/>
                </a:solidFill>
              </a:rPr>
              <a:t>공장 데이터와 BLE로 SmartThings에 등록하고 Thread에 합류함</a:t>
            </a:r>
            <a:endParaRPr lang="en-US" sz="1200" dirty="0"/>
          </a:p>
        </p:txBody>
      </p:sp>
      <p:sp>
        <p:nvSpPr>
          <p:cNvPr id="23" name="Text 16"/>
          <p:cNvSpPr txBox="1"/>
          <p:nvPr/>
        </p:nvSpPr>
        <p:spPr>
          <a:xfrm>
            <a:off x="5943600" y="1371600"/>
            <a:ext cx="5715000" cy="274320"/>
          </a:xfrm>
          <a:prstGeom prst="rect">
            <a:avLst/>
          </a:prstGeom>
          <a:noFill/>
          <a:ln/>
        </p:spPr>
        <p:txBody>
          <a:bodyPr wrap="square" lIns="0" tIns="0" rIns="0" bIns="0" rtlCol="0" anchor="t"/>
          <a:lstStyle/>
          <a:p>
            <a:pPr marL="0" indent="0">
              <a:buNone/>
            </a:pPr>
            <a:r>
              <a:rPr lang="en-US" sz="1400" b="1" dirty="0">
                <a:solidFill>
                  <a:schemeClr val="tx1"/>
                </a:solidFill>
              </a:rPr>
              <a:t>Matter 엔드포인트 (표준 클러스터)</a:t>
            </a:r>
            <a:endParaRPr lang="en-US" sz="1400" dirty="0"/>
          </a:p>
        </p:txBody>
      </p:sp>
      <p:graphicFrame>
        <p:nvGraphicFramePr>
          <p:cNvPr id="24" name="Table 1"/>
          <p:cNvGraphicFramePr>
            <a:graphicFrameLocks noGrp="1"/>
          </p:cNvGraphicFramePr>
          <p:nvPr>
            <p:extLst>
              <p:ext uri="{D42A27DB-BD31-4B8C-83A1-F6EECF244321}">
                <p14:modId xmlns:p14="http://schemas.microsoft.com/office/powerpoint/2010/main" val="1579011935"/>
              </p:ext>
            </p:extLst>
          </p:nvPr>
        </p:nvGraphicFramePr>
        <p:xfrm>
          <a:off x="5943600" y="1691640"/>
          <a:ext cx="5715000" cy="2240280"/>
        </p:xfrm>
        <a:graphic>
          <a:graphicData uri="http://schemas.openxmlformats.org/drawingml/2006/table">
            <a:tbl>
              <a:tblPr/>
              <a:tblGrid>
                <a:gridCol w="347472">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984248">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tblGrid>
              <a:tr h="320040">
                <a:tc>
                  <a:txBody>
                    <a:bodyPr/>
                    <a:lstStyle/>
                    <a:p>
                      <a:pPr marL="0" indent="0" algn="ctr">
                        <a:buNone/>
                      </a:pPr>
                      <a:r>
                        <a:rPr lang="en-US" sz="1050" b="1" dirty="0">
                          <a:solidFill>
                            <a:srgbClr val="000000"/>
                          </a:solidFill>
                          <a:latin typeface="Pretendard" pitchFamily="34" charset="0"/>
                          <a:ea typeface="Pretendard" pitchFamily="34" charset="-122"/>
                          <a:cs typeface="Pretendard" pitchFamily="34" charset="-120"/>
                        </a:rPr>
                        <a:t>EP</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7"/>
                    </a:solidFill>
                  </a:tcPr>
                </a:tc>
                <a:tc>
                  <a:txBody>
                    <a:bodyPr/>
                    <a:lstStyle/>
                    <a:p>
                      <a:pPr marL="0" indent="0" algn="ctr">
                        <a:buNone/>
                      </a:pPr>
                      <a:r>
                        <a:rPr lang="en-US" sz="1050" b="1" dirty="0">
                          <a:solidFill>
                            <a:srgbClr val="000000"/>
                          </a:solidFill>
                          <a:latin typeface="Pretendard" pitchFamily="34" charset="0"/>
                          <a:ea typeface="Pretendard" pitchFamily="34" charset="-122"/>
                          <a:cs typeface="Pretendard" pitchFamily="34" charset="-120"/>
                        </a:rPr>
                        <a:t>디바이스 타입</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7"/>
                    </a:solidFill>
                  </a:tcPr>
                </a:tc>
                <a:tc>
                  <a:txBody>
                    <a:bodyPr/>
                    <a:lstStyle/>
                    <a:p>
                      <a:pPr marL="0" indent="0" algn="ctr">
                        <a:buNone/>
                      </a:pPr>
                      <a:r>
                        <a:rPr lang="en-US" sz="1050" b="1" dirty="0">
                          <a:solidFill>
                            <a:srgbClr val="000000"/>
                          </a:solidFill>
                          <a:latin typeface="Pretendard" pitchFamily="34" charset="0"/>
                          <a:ea typeface="Pretendard" pitchFamily="34" charset="-122"/>
                          <a:cs typeface="Pretendard" pitchFamily="34" charset="-120"/>
                        </a:rPr>
                        <a:t>표준 클러스터</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7"/>
                    </a:solidFill>
                  </a:tcPr>
                </a:tc>
                <a:tc>
                  <a:txBody>
                    <a:bodyPr/>
                    <a:lstStyle/>
                    <a:p>
                      <a:pPr marL="0" indent="0" algn="ctr">
                        <a:buNone/>
                      </a:pPr>
                      <a:r>
                        <a:rPr lang="en-US" sz="1050" b="1" dirty="0">
                          <a:solidFill>
                            <a:srgbClr val="000000"/>
                          </a:solidFill>
                          <a:latin typeface="Pretendard" pitchFamily="34" charset="0"/>
                          <a:ea typeface="Pretendard" pitchFamily="34" charset="-122"/>
                          <a:cs typeface="Pretendard" pitchFamily="34" charset="-120"/>
                        </a:rPr>
                        <a:t>노드가 하는 일</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320040">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0</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Root Node</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Basic Info, 커미셔닝, Thread</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커미셔닝, Thread 합류</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1</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Dimmable Light → 선풍기</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On/Off, Level, Identify</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On/Off → 릴레이 CH1</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2</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Humidity Sensor</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Relative Humidity Meas.</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벽 표면 습도 (노드 계산)</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3</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Humidity Sensor</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Relative Humidity Meas.</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실내 습도 (방 습도계)</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r h="320040">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4</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Temperature Sensor</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Temperature Measurement</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벽 표면 온도</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5"/>
                  </a:ext>
                </a:extLst>
              </a:tr>
              <a:tr h="320040">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5</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On/Off Plug-in → 가습기</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On/Off, Groups</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050" dirty="0">
                          <a:solidFill>
                            <a:srgbClr val="000000"/>
                          </a:solidFill>
                          <a:latin typeface="Pretendard" pitchFamily="34" charset="0"/>
                          <a:ea typeface="Pretendard" pitchFamily="34" charset="-122"/>
                          <a:cs typeface="Pretendard" pitchFamily="34" charset="-120"/>
                        </a:rPr>
                        <a:t>On/Off → 릴레이 CH2</a:t>
                      </a:r>
                      <a:endParaRPr lang="en-US" sz="1050" dirty="0">
                        <a:latin typeface="Pretendard" charset="0"/>
                        <a:ea typeface="Pretendard" charset="0"/>
                        <a:cs typeface="Pretendard" charset="0"/>
                      </a:endParaRPr>
                    </a:p>
                  </a:txBody>
                  <a:tcPr marL="45720" marR="45720" marT="36576" marB="36576"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25" name="Image 4" descr="SmartThings 앱에 등록된 노드"/>
          <p:cNvPicPr>
            <a:picLocks noChangeAspect="1"/>
          </p:cNvPicPr>
          <p:nvPr/>
        </p:nvPicPr>
        <p:blipFill>
          <a:blip r:embed="rId7"/>
          <a:stretch>
            <a:fillRect/>
          </a:stretch>
        </p:blipFill>
        <p:spPr>
          <a:xfrm>
            <a:off x="5943600" y="4069080"/>
            <a:ext cx="991772" cy="2148840"/>
          </a:xfrm>
          <a:prstGeom prst="rect">
            <a:avLst/>
          </a:prstGeom>
        </p:spPr>
      </p:pic>
      <p:pic>
        <p:nvPicPr>
          <p:cNvPr id="26" name="Image 5" descr="wave"/>
          <p:cNvPicPr>
            <a:picLocks noChangeAspect="1"/>
          </p:cNvPicPr>
          <p:nvPr/>
        </p:nvPicPr>
        <p:blipFill>
          <a:blip r:embed="rId8"/>
          <a:stretch>
            <a:fillRect/>
          </a:stretch>
        </p:blipFill>
        <p:spPr>
          <a:xfrm>
            <a:off x="7178040" y="4160520"/>
            <a:ext cx="274320" cy="274320"/>
          </a:xfrm>
          <a:prstGeom prst="rect">
            <a:avLst/>
          </a:prstGeom>
        </p:spPr>
      </p:pic>
      <p:sp>
        <p:nvSpPr>
          <p:cNvPr id="27" name="Text 17"/>
          <p:cNvSpPr txBox="1"/>
          <p:nvPr/>
        </p:nvSpPr>
        <p:spPr>
          <a:xfrm>
            <a:off x="7525512" y="4114800"/>
            <a:ext cx="1737360" cy="384048"/>
          </a:xfrm>
          <a:prstGeom prst="rect">
            <a:avLst/>
          </a:prstGeom>
          <a:noFill/>
          <a:ln/>
        </p:spPr>
        <p:txBody>
          <a:bodyPr wrap="square" lIns="0" tIns="0" rIns="0" bIns="0" rtlCol="0" anchor="t"/>
          <a:lstStyle/>
          <a:p>
            <a:pPr marL="0" indent="0">
              <a:buNone/>
            </a:pPr>
            <a:r>
              <a:rPr lang="en-US" sz="2000" b="1" dirty="0">
                <a:solidFill>
                  <a:schemeClr val="tx1"/>
                </a:solidFill>
              </a:rPr>
              <a:t>12 / 12</a:t>
            </a:r>
            <a:endParaRPr lang="en-US" sz="2000" dirty="0"/>
          </a:p>
        </p:txBody>
      </p:sp>
      <p:sp>
        <p:nvSpPr>
          <p:cNvPr id="28" name="Text 18"/>
          <p:cNvSpPr txBox="1"/>
          <p:nvPr/>
        </p:nvSpPr>
        <p:spPr>
          <a:xfrm>
            <a:off x="7178040" y="4517136"/>
            <a:ext cx="2103120" cy="274320"/>
          </a:xfrm>
          <a:prstGeom prst="rect">
            <a:avLst/>
          </a:prstGeom>
          <a:noFill/>
          <a:ln/>
        </p:spPr>
        <p:txBody>
          <a:bodyPr wrap="square" lIns="0" tIns="0" rIns="0" bIns="0" rtlCol="0" anchor="t"/>
          <a:lstStyle/>
          <a:p>
            <a:pPr marL="0" indent="0">
              <a:buNone/>
            </a:pPr>
            <a:r>
              <a:rPr lang="en-US" sz="1050" dirty="0">
                <a:solidFill>
                  <a:schemeClr val="tx1"/>
                </a:solidFill>
              </a:rPr>
              <a:t>허브 보고 / 수신 확인 (시연 1회)</a:t>
            </a:r>
            <a:endParaRPr lang="en-US" sz="1050" dirty="0"/>
          </a:p>
        </p:txBody>
      </p:sp>
      <p:pic>
        <p:nvPicPr>
          <p:cNvPr id="29" name="Image 6" descr="chart"/>
          <p:cNvPicPr>
            <a:picLocks noChangeAspect="1"/>
          </p:cNvPicPr>
          <p:nvPr/>
        </p:nvPicPr>
        <p:blipFill>
          <a:blip r:embed="rId9"/>
          <a:stretch>
            <a:fillRect/>
          </a:stretch>
        </p:blipFill>
        <p:spPr>
          <a:xfrm>
            <a:off x="9464040" y="4160520"/>
            <a:ext cx="274320" cy="274320"/>
          </a:xfrm>
          <a:prstGeom prst="rect">
            <a:avLst/>
          </a:prstGeom>
        </p:spPr>
      </p:pic>
      <p:sp>
        <p:nvSpPr>
          <p:cNvPr id="30" name="Text 19"/>
          <p:cNvSpPr txBox="1"/>
          <p:nvPr/>
        </p:nvSpPr>
        <p:spPr>
          <a:xfrm>
            <a:off x="9811512" y="4114800"/>
            <a:ext cx="1737360" cy="384048"/>
          </a:xfrm>
          <a:prstGeom prst="rect">
            <a:avLst/>
          </a:prstGeom>
          <a:noFill/>
          <a:ln/>
        </p:spPr>
        <p:txBody>
          <a:bodyPr wrap="square" lIns="0" tIns="0" rIns="0" bIns="0" rtlCol="0" anchor="t"/>
          <a:lstStyle/>
          <a:p>
            <a:pPr marL="0" indent="0">
              <a:buNone/>
            </a:pPr>
            <a:r>
              <a:rPr lang="en-US" sz="2000" b="1" dirty="0">
                <a:solidFill>
                  <a:schemeClr val="tx1"/>
                </a:solidFill>
              </a:rPr>
              <a:t>92 ms</a:t>
            </a:r>
            <a:endParaRPr lang="en-US" sz="2000" dirty="0"/>
          </a:p>
        </p:txBody>
      </p:sp>
      <p:sp>
        <p:nvSpPr>
          <p:cNvPr id="31" name="Text 20"/>
          <p:cNvSpPr txBox="1"/>
          <p:nvPr/>
        </p:nvSpPr>
        <p:spPr>
          <a:xfrm>
            <a:off x="9464040" y="4517136"/>
            <a:ext cx="2103120" cy="274320"/>
          </a:xfrm>
          <a:prstGeom prst="rect">
            <a:avLst/>
          </a:prstGeom>
          <a:noFill/>
          <a:ln/>
        </p:spPr>
        <p:txBody>
          <a:bodyPr wrap="square" lIns="0" tIns="0" rIns="0" bIns="0" rtlCol="0" anchor="t"/>
          <a:lstStyle/>
          <a:p>
            <a:pPr marL="0" indent="0">
              <a:buNone/>
            </a:pPr>
            <a:r>
              <a:rPr lang="en-US" sz="1050" dirty="0">
                <a:solidFill>
                  <a:schemeClr val="tx1"/>
                </a:solidFill>
              </a:rPr>
              <a:t>보고 후 허브 응답 (평균)</a:t>
            </a:r>
            <a:endParaRPr lang="en-US" sz="1050" dirty="0"/>
          </a:p>
        </p:txBody>
      </p:sp>
      <p:pic>
        <p:nvPicPr>
          <p:cNvPr id="32" name="Image 7" descr="cpu"/>
          <p:cNvPicPr>
            <a:picLocks noChangeAspect="1"/>
          </p:cNvPicPr>
          <p:nvPr/>
        </p:nvPicPr>
        <p:blipFill>
          <a:blip r:embed="rId10"/>
          <a:stretch>
            <a:fillRect/>
          </a:stretch>
        </p:blipFill>
        <p:spPr>
          <a:xfrm>
            <a:off x="7178040" y="4983480"/>
            <a:ext cx="274320" cy="274320"/>
          </a:xfrm>
          <a:prstGeom prst="rect">
            <a:avLst/>
          </a:prstGeom>
        </p:spPr>
      </p:pic>
      <p:sp>
        <p:nvSpPr>
          <p:cNvPr id="33" name="Text 21"/>
          <p:cNvSpPr txBox="1"/>
          <p:nvPr/>
        </p:nvSpPr>
        <p:spPr>
          <a:xfrm>
            <a:off x="7525512" y="4937760"/>
            <a:ext cx="1737360" cy="384048"/>
          </a:xfrm>
          <a:prstGeom prst="rect">
            <a:avLst/>
          </a:prstGeom>
          <a:noFill/>
          <a:ln/>
        </p:spPr>
        <p:txBody>
          <a:bodyPr wrap="square" lIns="0" tIns="0" rIns="0" bIns="0" rtlCol="0" anchor="t"/>
          <a:lstStyle/>
          <a:p>
            <a:pPr marL="0" indent="0">
              <a:buNone/>
            </a:pPr>
            <a:r>
              <a:rPr lang="en-US" sz="2000" b="1" dirty="0">
                <a:solidFill>
                  <a:schemeClr val="tx1"/>
                </a:solidFill>
              </a:rPr>
              <a:t>42%</a:t>
            </a:r>
            <a:endParaRPr lang="en-US" sz="2000" dirty="0"/>
          </a:p>
        </p:txBody>
      </p:sp>
      <p:sp>
        <p:nvSpPr>
          <p:cNvPr id="34" name="Text 22"/>
          <p:cNvSpPr txBox="1"/>
          <p:nvPr/>
        </p:nvSpPr>
        <p:spPr>
          <a:xfrm>
            <a:off x="7178040" y="5340096"/>
            <a:ext cx="2103120" cy="274320"/>
          </a:xfrm>
          <a:prstGeom prst="rect">
            <a:avLst/>
          </a:prstGeom>
          <a:noFill/>
          <a:ln/>
        </p:spPr>
        <p:txBody>
          <a:bodyPr wrap="square" lIns="0" tIns="0" rIns="0" bIns="0" rtlCol="0" anchor="t"/>
          <a:lstStyle/>
          <a:p>
            <a:pPr marL="0" indent="0">
              <a:buNone/>
            </a:pPr>
            <a:r>
              <a:rPr lang="en-US" sz="1050" dirty="0">
                <a:solidFill>
                  <a:schemeClr val="tx1"/>
                </a:solidFill>
              </a:rPr>
              <a:t>Flash 사용 (RAM 36%)</a:t>
            </a:r>
            <a:endParaRPr lang="en-US" sz="1050" dirty="0"/>
          </a:p>
        </p:txBody>
      </p:sp>
      <p:pic>
        <p:nvPicPr>
          <p:cNvPr id="35" name="Image 8" descr="db"/>
          <p:cNvPicPr>
            <a:picLocks noChangeAspect="1"/>
          </p:cNvPicPr>
          <p:nvPr/>
        </p:nvPicPr>
        <p:blipFill>
          <a:blip r:embed="rId11"/>
          <a:stretch>
            <a:fillRect/>
          </a:stretch>
        </p:blipFill>
        <p:spPr>
          <a:xfrm>
            <a:off x="9464040" y="4983480"/>
            <a:ext cx="274320" cy="274320"/>
          </a:xfrm>
          <a:prstGeom prst="rect">
            <a:avLst/>
          </a:prstGeom>
        </p:spPr>
      </p:pic>
      <p:sp>
        <p:nvSpPr>
          <p:cNvPr id="36" name="Text 23"/>
          <p:cNvSpPr txBox="1"/>
          <p:nvPr/>
        </p:nvSpPr>
        <p:spPr>
          <a:xfrm>
            <a:off x="9811512" y="4937760"/>
            <a:ext cx="1737360" cy="384048"/>
          </a:xfrm>
          <a:prstGeom prst="rect">
            <a:avLst/>
          </a:prstGeom>
          <a:noFill/>
          <a:ln/>
        </p:spPr>
        <p:txBody>
          <a:bodyPr wrap="square" lIns="0" tIns="0" rIns="0" bIns="0" rtlCol="0" anchor="t"/>
          <a:lstStyle/>
          <a:p>
            <a:pPr marL="0" indent="0">
              <a:buNone/>
            </a:pPr>
            <a:r>
              <a:rPr lang="en-US" sz="2000" b="1" dirty="0">
                <a:solidFill>
                  <a:schemeClr val="tx1"/>
                </a:solidFill>
              </a:rPr>
              <a:t>v3.4.1</a:t>
            </a:r>
            <a:endParaRPr lang="en-US" sz="2000" dirty="0"/>
          </a:p>
        </p:txBody>
      </p:sp>
      <p:sp>
        <p:nvSpPr>
          <p:cNvPr id="37" name="Text 24"/>
          <p:cNvSpPr txBox="1"/>
          <p:nvPr/>
        </p:nvSpPr>
        <p:spPr>
          <a:xfrm>
            <a:off x="9464040" y="5340096"/>
            <a:ext cx="2103120" cy="274320"/>
          </a:xfrm>
          <a:prstGeom prst="rect">
            <a:avLst/>
          </a:prstGeom>
          <a:noFill/>
          <a:ln/>
        </p:spPr>
        <p:txBody>
          <a:bodyPr wrap="square" lIns="0" tIns="0" rIns="0" bIns="0" rtlCol="0" anchor="t"/>
          <a:lstStyle/>
          <a:p>
            <a:pPr marL="0" indent="0">
              <a:buNone/>
            </a:pPr>
            <a:r>
              <a:rPr lang="en-US" sz="1050" dirty="0">
                <a:solidFill>
                  <a:schemeClr val="tx1"/>
                </a:solidFill>
              </a:rPr>
              <a:t>nRF Connect SDK</a:t>
            </a:r>
            <a:endParaRPr lang="en-US" sz="1050" dirty="0"/>
          </a:p>
        </p:txBody>
      </p:sp>
      <p:sp>
        <p:nvSpPr>
          <p:cNvPr id="38" name="Text 25"/>
          <p:cNvSpPr txBox="1"/>
          <p:nvPr/>
        </p:nvSpPr>
        <p:spPr>
          <a:xfrm>
            <a:off x="7178040" y="5760720"/>
            <a:ext cx="4480560" cy="438912"/>
          </a:xfrm>
          <a:prstGeom prst="rect">
            <a:avLst/>
          </a:prstGeom>
          <a:noFill/>
          <a:ln/>
        </p:spPr>
        <p:txBody>
          <a:bodyPr wrap="square" lIns="0" tIns="0" rIns="0" bIns="0" rtlCol="0" anchor="t"/>
          <a:lstStyle/>
          <a:p>
            <a:pPr marL="0" indent="0">
              <a:buNone/>
            </a:pPr>
            <a:r>
              <a:rPr lang="en-US" sz="1050" dirty="0">
                <a:solidFill>
                  <a:schemeClr val="tx1"/>
                </a:solidFill>
              </a:rPr>
              <a:t>왼쪽: SmartThings 앱 등록 화면</a:t>
            </a:r>
            <a:endParaRPr lang="en-US" sz="1050" dirty="0"/>
          </a:p>
          <a:p>
            <a:pPr marL="0" indent="0">
              <a:buNone/>
            </a:pPr>
            <a:r>
              <a:rPr lang="en-US" sz="1050" dirty="0">
                <a:solidFill>
                  <a:schemeClr val="tx1"/>
                </a:solidFill>
              </a:rPr>
              <a:t>앱은 센서 EP를 표시하지 않아 시연 화면에서 보여줌</a:t>
            </a:r>
            <a:endParaRPr lang="en-US" sz="1050" dirty="0"/>
          </a:p>
        </p:txBody>
      </p:sp>
      <p:sp>
        <p:nvSpPr>
          <p:cNvPr id="39"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92608"/>
          </a:xfrm>
          <a:prstGeom prst="rect">
            <a:avLst/>
          </a:prstGeom>
          <a:noFill/>
          <a:ln/>
        </p:spPr>
        <p:txBody>
          <a:bodyPr wrap="square" lIns="0" tIns="0" rIns="0" bIns="0" rtlCol="0"/>
          <a:lstStyle/>
          <a:p>
            <a:pPr marL="0" indent="0">
              <a:buNone/>
            </a:pPr>
            <a:r>
              <a:rPr lang="en-US" sz="1300" b="1" dirty="0">
                <a:solidFill>
                  <a:schemeClr val="tx1"/>
                </a:solidFill>
              </a:rPr>
              <a:t>주요 개발 내용 ② 온디바이스 판단</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t"/>
          <a:lstStyle/>
          <a:p>
            <a:pPr marL="0" indent="0" algn="l">
              <a:buNone/>
            </a:pPr>
            <a:r>
              <a:rPr lang="en-US" sz="3000" b="1" dirty="0">
                <a:solidFill>
                  <a:schemeClr val="tx1"/>
                </a:solidFill>
              </a:rPr>
              <a:t>노드가 스스로 계산하고 학습하고 개입함</a:t>
            </a:r>
            <a:endParaRPr lang="en-US" sz="3000" dirty="0"/>
          </a:p>
        </p:txBody>
      </p:sp>
      <p:sp>
        <p:nvSpPr>
          <p:cNvPr id="4" name="Text 2"/>
          <p:cNvSpPr txBox="1"/>
          <p:nvPr/>
        </p:nvSpPr>
        <p:spPr>
          <a:xfrm>
            <a:off x="8503920" y="256032"/>
            <a:ext cx="868680" cy="292608"/>
          </a:xfrm>
          <a:prstGeom prst="rect">
            <a:avLst/>
          </a:prstGeom>
          <a:noFill/>
          <a:ln/>
        </p:spPr>
        <p:txBody>
          <a:bodyPr wrap="square" lIns="0" tIns="0" rIns="0" bIns="0" rtlCol="0" anchor="ctr"/>
          <a:lstStyle/>
          <a:p>
            <a:pPr marL="0" indent="0" algn="ctr">
              <a:buNone/>
            </a:pPr>
            <a:r>
              <a:rPr lang="en-US" sz="1150" dirty="0">
                <a:solidFill>
                  <a:schemeClr val="tx1"/>
                </a:solidFill>
              </a:rPr>
              <a:t>핵심 주제</a:t>
            </a:r>
            <a:endParaRPr lang="en-US" sz="1150" dirty="0"/>
          </a:p>
        </p:txBody>
      </p:sp>
      <p:sp>
        <p:nvSpPr>
          <p:cNvPr id="5" name="Shape 3"/>
          <p:cNvSpPr/>
          <p:nvPr/>
        </p:nvSpPr>
        <p:spPr>
          <a:xfrm>
            <a:off x="9464040" y="256032"/>
            <a:ext cx="1234440" cy="292608"/>
          </a:xfrm>
          <a:prstGeom prst="roundRect">
            <a:avLst>
              <a:gd name="adj" fmla="val 50000"/>
            </a:avLst>
          </a:prstGeom>
          <a:solidFill>
            <a:srgbClr val="F5F5F7"/>
          </a:solidFill>
          <a:ln w="12700">
            <a:solidFill>
              <a:srgbClr val="0066CC"/>
            </a:solidFill>
            <a:prstDash val="solid"/>
          </a:ln>
        </p:spPr>
      </p:sp>
      <p:sp>
        <p:nvSpPr>
          <p:cNvPr id="6" name="Text 4"/>
          <p:cNvSpPr txBox="1"/>
          <p:nvPr/>
        </p:nvSpPr>
        <p:spPr>
          <a:xfrm>
            <a:off x="9464040" y="256032"/>
            <a:ext cx="1234440" cy="292608"/>
          </a:xfrm>
          <a:prstGeom prst="rect">
            <a:avLst/>
          </a:prstGeom>
          <a:noFill/>
          <a:ln/>
        </p:spPr>
        <p:txBody>
          <a:bodyPr wrap="square" lIns="0" tIns="0" rIns="0" bIns="0" rtlCol="0" anchor="ctr"/>
          <a:lstStyle/>
          <a:p>
            <a:pPr marL="0" indent="0" algn="ctr">
              <a:buNone/>
            </a:pPr>
            <a:r>
              <a:rPr lang="en-US" sz="1150" b="1" dirty="0">
                <a:solidFill>
                  <a:schemeClr val="tx1"/>
                </a:solidFill>
              </a:rPr>
              <a:t>주요 개발 내용</a:t>
            </a:r>
            <a:endParaRPr lang="en-US" sz="1150" dirty="0"/>
          </a:p>
        </p:txBody>
      </p:sp>
      <p:sp>
        <p:nvSpPr>
          <p:cNvPr id="7" name="Text 5"/>
          <p:cNvSpPr txBox="1"/>
          <p:nvPr/>
        </p:nvSpPr>
        <p:spPr>
          <a:xfrm>
            <a:off x="10789920" y="256032"/>
            <a:ext cx="868680" cy="292608"/>
          </a:xfrm>
          <a:prstGeom prst="rect">
            <a:avLst/>
          </a:prstGeom>
          <a:noFill/>
          <a:ln/>
        </p:spPr>
        <p:txBody>
          <a:bodyPr wrap="square" lIns="0" tIns="0" rIns="0" bIns="0" rtlCol="0" anchor="ctr"/>
          <a:lstStyle/>
          <a:p>
            <a:pPr marL="0" indent="0" algn="ctr">
              <a:buNone/>
            </a:pPr>
            <a:r>
              <a:rPr lang="en-US" sz="1150" dirty="0">
                <a:solidFill>
                  <a:schemeClr val="tx1"/>
                </a:solidFill>
              </a:rPr>
              <a:t>시연 내용</a:t>
            </a:r>
            <a:endParaRPr lang="en-US" sz="1150" dirty="0"/>
          </a:p>
        </p:txBody>
      </p:sp>
      <p:sp>
        <p:nvSpPr>
          <p:cNvPr id="8" name="Shape 6"/>
          <p:cNvSpPr/>
          <p:nvPr/>
        </p:nvSpPr>
        <p:spPr>
          <a:xfrm>
            <a:off x="548640" y="1371600"/>
            <a:ext cx="5989320" cy="4846320"/>
          </a:xfrm>
          <a:prstGeom prst="roundRect">
            <a:avLst>
              <a:gd name="adj" fmla="val 2264"/>
            </a:avLst>
          </a:prstGeom>
          <a:solidFill>
            <a:schemeClr val="bg2"/>
          </a:solidFill>
          <a:ln w="9525">
            <a:solidFill>
              <a:srgbClr val="E0E0E0"/>
            </a:solidFill>
            <a:prstDash val="solid"/>
          </a:ln>
        </p:spPr>
      </p:sp>
      <p:sp>
        <p:nvSpPr>
          <p:cNvPr id="9" name="Shape 7"/>
          <p:cNvSpPr/>
          <p:nvPr/>
        </p:nvSpPr>
        <p:spPr>
          <a:xfrm>
            <a:off x="777240" y="1572768"/>
            <a:ext cx="384048" cy="384048"/>
          </a:xfrm>
          <a:prstGeom prst="ellipse">
            <a:avLst/>
          </a:prstGeom>
          <a:solidFill>
            <a:schemeClr val="accent1"/>
          </a:solidFill>
          <a:ln w="12700">
            <a:solidFill>
              <a:srgbClr val="0066CC"/>
            </a:solidFill>
            <a:prstDash val="solid"/>
          </a:ln>
        </p:spPr>
      </p:sp>
      <p:pic>
        <p:nvPicPr>
          <p:cNvPr id="10" name="Image 0" descr="calc"/>
          <p:cNvPicPr>
            <a:picLocks noChangeAspect="1"/>
          </p:cNvPicPr>
          <p:nvPr/>
        </p:nvPicPr>
        <p:blipFill>
          <a:blip r:embed="rId3"/>
          <a:stretch>
            <a:fillRect/>
          </a:stretch>
        </p:blipFill>
        <p:spPr>
          <a:xfrm>
            <a:off x="861731" y="1657259"/>
            <a:ext cx="215067" cy="215067"/>
          </a:xfrm>
          <a:prstGeom prst="rect">
            <a:avLst/>
          </a:prstGeom>
        </p:spPr>
      </p:pic>
      <p:sp>
        <p:nvSpPr>
          <p:cNvPr id="11" name="Text 8"/>
          <p:cNvSpPr txBox="1"/>
          <p:nvPr/>
        </p:nvSpPr>
        <p:spPr>
          <a:xfrm>
            <a:off x="1298448" y="1536192"/>
            <a:ext cx="5029200" cy="274320"/>
          </a:xfrm>
          <a:prstGeom prst="rect">
            <a:avLst/>
          </a:prstGeom>
          <a:noFill/>
          <a:ln/>
        </p:spPr>
        <p:txBody>
          <a:bodyPr wrap="square" lIns="0" tIns="0" rIns="0" bIns="0" rtlCol="0" anchor="t"/>
          <a:lstStyle/>
          <a:p>
            <a:pPr marL="0" indent="0">
              <a:buNone/>
            </a:pPr>
            <a:r>
              <a:rPr lang="en-US" sz="1600" b="1" dirty="0">
                <a:solidFill>
                  <a:schemeClr val="tx1"/>
                </a:solidFill>
              </a:rPr>
              <a:t>계산: 차가운 벽 앞 공기의 습도를 구함</a:t>
            </a:r>
            <a:endParaRPr lang="en-US" sz="1600" dirty="0"/>
          </a:p>
        </p:txBody>
      </p:sp>
      <p:sp>
        <p:nvSpPr>
          <p:cNvPr id="12" name="Text 9"/>
          <p:cNvSpPr txBox="1"/>
          <p:nvPr/>
        </p:nvSpPr>
        <p:spPr>
          <a:xfrm>
            <a:off x="1298448" y="1819656"/>
            <a:ext cx="5029200" cy="219456"/>
          </a:xfrm>
          <a:prstGeom prst="rect">
            <a:avLst/>
          </a:prstGeom>
          <a:noFill/>
          <a:ln/>
        </p:spPr>
        <p:txBody>
          <a:bodyPr wrap="square" lIns="0" tIns="0" rIns="0" bIns="0" rtlCol="0" anchor="t"/>
          <a:lstStyle/>
          <a:p>
            <a:pPr marL="0" indent="0">
              <a:buNone/>
            </a:pPr>
            <a:r>
              <a:rPr lang="en-US" sz="1150" dirty="0">
                <a:solidFill>
                  <a:schemeClr val="tx1"/>
                </a:solidFill>
              </a:rPr>
              <a:t>DK가 0.5초마다 직접 계산함, 클라우드 불필요</a:t>
            </a:r>
            <a:endParaRPr lang="en-US" sz="1150" dirty="0"/>
          </a:p>
        </p:txBody>
      </p:sp>
      <mc:AlternateContent xmlns:mc="http://schemas.openxmlformats.org/markup-compatibility/2006" xmlns:a14="http://schemas.microsoft.com/office/drawing/2010/main">
        <mc:Choice Requires="a14">
          <p:sp>
            <p:nvSpPr>
              <p:cNvPr id="13" name="mx_lg"/>
              <p:cNvSpPr txBox="1"/>
              <p:nvPr/>
            </p:nvSpPr>
            <p:spPr>
              <a:xfrm>
                <a:off x="777240" y="2157984"/>
                <a:ext cx="5577840" cy="310896"/>
              </a:xfrm>
              <a:prstGeom prst="rect">
                <a:avLst/>
              </a:prstGeom>
              <a:noFill/>
              <a:ln/>
            </p:spPr>
            <p:txBody>
              <a:bodyPr wrap="square" lIns="0" tIns="0" rIns="0" bIns="0" rtlCol="0" anchor="ctr"/>
              <a:lstStyle/>
              <a:p>
                <a:pPr marL="0" indent="0">
                  <a:buNone/>
                </a:pPr>
                <a14:m>
                  <m:oMath xmlns:m="http://schemas.openxmlformats.org/officeDocument/2006/math">
                    <m:sSub>
                      <m:sSubPr>
                        <m:ctrlPr>
                          <a:rPr lang="en-US" sz="1150" b="0" i="1">
                            <a:solidFill>
                              <a:srgbClr val="000000"/>
                            </a:solidFill>
                            <a:latin typeface="Cambria Math" panose="02040503050406030204" pitchFamily="18" charset="0"/>
                          </a:rPr>
                        </m:ctrlPr>
                      </m:sSubPr>
                      <m:e>
                        <m:r>
                          <a:rPr lang="en-US" sz="1150" b="0" i="1">
                            <a:solidFill>
                              <a:srgbClr val="000000"/>
                            </a:solidFill>
                            <a:latin typeface="Cambria Math" panose="02040503050406030204" pitchFamily="18" charset="0"/>
                          </a:rPr>
                          <m:t>𝑇</m:t>
                        </m:r>
                      </m:e>
                      <m:sub>
                        <m:r>
                          <m:rPr>
                            <m:nor/>
                          </m:rPr>
                          <a:rPr lang="ko-KR" altLang="en-US" sz="1150" b="0" i="0">
                            <a:solidFill>
                              <a:srgbClr val="000000"/>
                            </a:solidFill>
                            <a:latin typeface="Pretendard"/>
                            <a:ea typeface="Pretendard"/>
                          </a:rPr>
                          <m:t>실내</m:t>
                        </m:r>
                      </m:sub>
                    </m:sSub>
                  </m:oMath>
                </a14:m>
                <a:r>
                  <a:rPr lang="ko-KR" altLang="en-US" sz="1150" dirty="0">
                    <a:solidFill>
                      <a:srgbClr val="000000"/>
                    </a:solidFill>
                  </a:rPr>
                  <a:t>: 방 온도,  </a:t>
                </a:r>
                <a14:m>
                  <m:oMath xmlns:m="http://schemas.openxmlformats.org/officeDocument/2006/math">
                    <m:sSub>
                      <m:sSubPr>
                        <m:ctrlPr>
                          <a:rPr lang="en-US" sz="1150" b="0" i="1">
                            <a:solidFill>
                              <a:srgbClr val="000000"/>
                            </a:solidFill>
                            <a:latin typeface="Cambria Math" panose="02040503050406030204" pitchFamily="18" charset="0"/>
                          </a:rPr>
                        </m:ctrlPr>
                      </m:sSubPr>
                      <m:e>
                        <m:r>
                          <a:rPr lang="en-US" sz="1150" b="0" i="1">
                            <a:solidFill>
                              <a:srgbClr val="000000"/>
                            </a:solidFill>
                            <a:latin typeface="Cambria Math" panose="02040503050406030204" pitchFamily="18" charset="0"/>
                          </a:rPr>
                          <m:t>𝑇</m:t>
                        </m:r>
                      </m:e>
                      <m:sub>
                        <m:r>
                          <m:rPr>
                            <m:nor/>
                          </m:rPr>
                          <a:rPr lang="ko-KR" altLang="en-US" sz="1150" b="0" i="0">
                            <a:solidFill>
                              <a:srgbClr val="000000"/>
                            </a:solidFill>
                            <a:latin typeface="Pretendard"/>
                            <a:ea typeface="Pretendard"/>
                          </a:rPr>
                          <m:t>벽</m:t>
                        </m:r>
                      </m:sub>
                    </m:sSub>
                  </m:oMath>
                </a14:m>
                <a:r>
                  <a:rPr lang="ko-KR" altLang="en-US" sz="1150" dirty="0">
                    <a:solidFill>
                      <a:srgbClr val="000000"/>
                    </a:solidFill>
                  </a:rPr>
                  <a:t>: 벽 표면 온도,  </a:t>
                </a:r>
                <a14:m>
                  <m:oMath xmlns:m="http://schemas.openxmlformats.org/officeDocument/2006/math">
                    <m:r>
                      <m:rPr>
                        <m:sty m:val="p"/>
                      </m:rPr>
                      <a:rPr lang="en-US" sz="1150" b="0" i="0">
                        <a:solidFill>
                          <a:srgbClr val="000000"/>
                        </a:solidFill>
                        <a:latin typeface="Cambria Math" panose="02040503050406030204" pitchFamily="18" charset="0"/>
                      </a:rPr>
                      <m:t>RH</m:t>
                    </m:r>
                  </m:oMath>
                </a14:m>
                <a:r>
                  <a:rPr lang="ko-KR" altLang="en-US" sz="1150" dirty="0">
                    <a:solidFill>
                      <a:srgbClr val="000000"/>
                    </a:solidFill>
                  </a:rPr>
                  <a:t>: 상대습도(%),  </a:t>
                </a:r>
                <a14:m>
                  <m:oMath xmlns:m="http://schemas.openxmlformats.org/officeDocument/2006/math">
                    <m:sSub>
                      <m:sSubPr>
                        <m:ctrlPr>
                          <a:rPr lang="en-US" sz="1150" b="0" i="1">
                            <a:solidFill>
                              <a:srgbClr val="000000"/>
                            </a:solidFill>
                            <a:latin typeface="Cambria Math" panose="02040503050406030204" pitchFamily="18" charset="0"/>
                          </a:rPr>
                        </m:ctrlPr>
                      </m:sSubPr>
                      <m:e>
                        <m:r>
                          <a:rPr lang="en-US" sz="1150" b="0" i="1">
                            <a:solidFill>
                              <a:srgbClr val="000000"/>
                            </a:solidFill>
                            <a:latin typeface="Cambria Math" panose="02040503050406030204" pitchFamily="18" charset="0"/>
                          </a:rPr>
                          <m:t>𝑃</m:t>
                        </m:r>
                      </m:e>
                      <m:sub>
                        <m:r>
                          <m:rPr>
                            <m:sty m:val="p"/>
                          </m:rPr>
                          <a:rPr lang="en-US" sz="1150" b="0" i="0">
                            <a:solidFill>
                              <a:srgbClr val="000000"/>
                            </a:solidFill>
                            <a:latin typeface="Cambria Math" panose="02040503050406030204" pitchFamily="18" charset="0"/>
                          </a:rPr>
                          <m:t>s</m:t>
                        </m:r>
                      </m:sub>
                    </m:sSub>
                  </m:oMath>
                </a14:m>
                <a:r>
                  <a:rPr lang="ko-KR" altLang="en-US" sz="1150" dirty="0">
                    <a:solidFill>
                      <a:srgbClr val="000000"/>
                    </a:solidFill>
                  </a:rPr>
                  <a:t>: 포화 수증기압(hPa)</a:t>
                </a:r>
                <a:endParaRPr lang="ko-KR" sz="1150"/>
              </a:p>
            </p:txBody>
          </p:sp>
        </mc:Choice>
        <mc:Fallback xmlns="">
          <p:sp>
            <p:nvSpPr>
              <p:cNvPr id="13" name="mx_lg"/>
              <p:cNvSpPr txBox="1"/>
              <p:nvPr/>
            </p:nvSpPr>
            <p:spPr>
              <a:xfrm>
                <a:off x="777240" y="2157984"/>
                <a:ext cx="5577840" cy="310896"/>
              </a:xfrm>
              <a:prstGeom prst="rect">
                <a:avLst/>
              </a:prstGeom>
              <a:noFill/>
              <a:ln/>
            </p:spPr>
            <p:txBody>
              <a:bodyPr wrap="square" lIns="0" tIns="0" rIns="0" bIns="0" rtlCol="0" anchor="ctr"/>
              <a:lstStyle/>
              <a:p>
                <a:pPr indent="0" marL="0">
                  <a:buNone/>
                </a:pPr>
                <a:r>
                  <a:rPr lang="en-US" sz="1150" dirty="0">
                    <a:solidFill>
                      <a:schemeClr val="tx1"/>
                    </a:solidFill>
                  </a:rPr>
                  <a:t>T실내: 방 온도, T벽: 벽 표면 온도, RH: 상대습도(%), Pₛ: 포화 수증기압(hPa)</a:t>
                </a:r>
                <a:endParaRPr lang="en-US" sz="1150" dirty="0"/>
              </a:p>
            </p:txBody>
          </p:sp>
        </mc:Fallback>
      </mc:AlternateContent>
      <p:sp>
        <p:nvSpPr>
          <p:cNvPr id="14" name="Shape 11"/>
          <p:cNvSpPr/>
          <p:nvPr/>
        </p:nvSpPr>
        <p:spPr>
          <a:xfrm>
            <a:off x="777240" y="2560320"/>
            <a:ext cx="5532120" cy="0"/>
          </a:xfrm>
          <a:prstGeom prst="line">
            <a:avLst/>
          </a:prstGeom>
          <a:noFill/>
          <a:ln w="9525">
            <a:solidFill>
              <a:srgbClr val="E0E0E0"/>
            </a:solidFill>
            <a:prstDash val="solid"/>
          </a:ln>
        </p:spPr>
      </p:sp>
      <p:sp>
        <p:nvSpPr>
          <p:cNvPr id="15" name="Text 12"/>
          <p:cNvSpPr txBox="1"/>
          <p:nvPr/>
        </p:nvSpPr>
        <p:spPr>
          <a:xfrm>
            <a:off x="777240" y="2651760"/>
            <a:ext cx="2331720" cy="676656"/>
          </a:xfrm>
          <a:prstGeom prst="rect">
            <a:avLst/>
          </a:prstGeom>
          <a:noFill/>
          <a:ln/>
        </p:spPr>
        <p:txBody>
          <a:bodyPr wrap="square" lIns="0" tIns="0" rIns="0" bIns="0" rtlCol="0" anchor="ctr"/>
          <a:lstStyle/>
          <a:p>
            <a:pPr marL="0" indent="0">
              <a:buNone/>
            </a:pPr>
            <a:r>
              <a:rPr lang="en-US" sz="1300" b="1" dirty="0">
                <a:solidFill>
                  <a:schemeClr val="tx1"/>
                </a:solidFill>
              </a:rPr>
              <a:t>① 포화 수증기압</a:t>
            </a:r>
            <a:endParaRPr lang="en-US" sz="1300" dirty="0"/>
          </a:p>
          <a:p>
            <a:pPr marL="0" indent="0">
              <a:buNone/>
            </a:pPr>
            <a:r>
              <a:rPr lang="en-US" sz="1150" dirty="0">
                <a:solidFill>
                  <a:schemeClr val="tx1"/>
                </a:solidFill>
              </a:rPr>
              <a:t>온도별로 공기가 품을 수 있는</a:t>
            </a:r>
            <a:endParaRPr lang="en-US" sz="1300" dirty="0"/>
          </a:p>
          <a:p>
            <a:pPr marL="0" indent="0">
              <a:buNone/>
            </a:pPr>
            <a:r>
              <a:rPr lang="en-US" sz="1150" dirty="0">
                <a:solidFill>
                  <a:schemeClr val="tx1"/>
                </a:solidFill>
              </a:rPr>
              <a:t>수증기의 최대치임</a:t>
            </a:r>
            <a:endParaRPr lang="en-US" sz="1300" dirty="0"/>
          </a:p>
        </p:txBody>
      </p:sp>
      <mc:AlternateContent xmlns:mc="http://schemas.openxmlformats.org/markup-compatibility/2006" xmlns:a14="http://schemas.microsoft.com/office/drawing/2010/main">
        <mc:Choice Requires="a14">
          <p:sp>
            <p:nvSpPr>
              <p:cNvPr id="16" name="eq0"/>
              <p:cNvSpPr txBox="1"/>
              <p:nvPr/>
            </p:nvSpPr>
            <p:spPr>
              <a:xfrm>
                <a:off x="3200400" y="2651760"/>
                <a:ext cx="3200400" cy="676656"/>
              </a:xfrm>
              <a:prstGeom prst="rect">
                <a:avLst/>
              </a:prstGeom>
              <a:noFill/>
              <a:ln/>
            </p:spPr>
            <p:txBody>
              <a:bodyPr wrap="square" lIns="0" tIns="0" rIns="0" bIns="0" rtlCol="0" anchor="ctr"/>
              <a:lstStyle/>
              <a:p>
                <a:pPr marL="0" indent="0">
                  <a:buNone/>
                </a:pPr>
                <a14:m>
                  <m:oMathPara xmlns:m="http://schemas.openxmlformats.org/officeDocument/2006/math">
                    <m:oMathParaPr>
                      <m:jc m:val="left"/>
                    </m:oMathParaPr>
                    <m:oMath>
                      <m:sSub>
                        <m:sSubPr>
                          <m:ctrlPr>
                            <a:rPr lang="en-US" sz="1500" b="0" i="1">
                              <a:solidFill>
                                <a:srgbClr val="000000"/>
                              </a:solidFill>
                              <a:latin typeface="Cambria Math" panose="02040503050406030204" pitchFamily="18" charset="0"/>
                            </a:rPr>
                          </m:ctrlPr>
                        </m:sSubPr>
                        <m:e>
                          <m:r>
                            <a:rPr lang="en-US" sz="1500" b="0" i="1">
                              <a:solidFill>
                                <a:srgbClr val="000000"/>
                              </a:solidFill>
                              <a:latin typeface="Cambria Math" panose="02040503050406030204" pitchFamily="18" charset="0"/>
                            </a:rPr>
                            <m:t>𝑃</m:t>
                          </m:r>
                        </m:e>
                        <m:sub>
                          <m:r>
                            <m:rPr>
                              <m:sty m:val="p"/>
                            </m:rPr>
                            <a:rPr lang="en-US" sz="1500" b="0" i="0">
                              <a:solidFill>
                                <a:srgbClr val="000000"/>
                              </a:solidFill>
                              <a:latin typeface="Cambria Math" panose="02040503050406030204" pitchFamily="18" charset="0"/>
                            </a:rPr>
                            <m:t>s</m:t>
                          </m:r>
                        </m:sub>
                      </m:sSub>
                      <m:r>
                        <a:rPr lang="en-US" sz="1500" b="0" i="0">
                          <a:solidFill>
                            <a:srgbClr val="000000"/>
                          </a:solidFill>
                          <a:latin typeface="Cambria Math" panose="02040503050406030204" pitchFamily="18" charset="0"/>
                        </a:rPr>
                        <m:t>(</m:t>
                      </m:r>
                      <m:r>
                        <a:rPr lang="en-US" sz="1500" b="0" i="1">
                          <a:solidFill>
                            <a:srgbClr val="000000"/>
                          </a:solidFill>
                          <a:latin typeface="Cambria Math" panose="02040503050406030204" pitchFamily="18" charset="0"/>
                        </a:rPr>
                        <m:t>𝑇</m:t>
                      </m:r>
                      <m:r>
                        <a:rPr lang="en-US" sz="1500" b="0" i="0">
                          <a:solidFill>
                            <a:srgbClr val="000000"/>
                          </a:solidFill>
                          <a:latin typeface="Cambria Math" panose="02040503050406030204" pitchFamily="18" charset="0"/>
                        </a:rPr>
                        <m:t>)=6.112</m:t>
                      </m:r>
                      <m:func>
                        <m:funcPr>
                          <m:ctrlPr>
                            <a:rPr lang="en-US" sz="1500" b="0" i="0">
                              <a:solidFill>
                                <a:srgbClr val="000000"/>
                              </a:solidFill>
                              <a:latin typeface="Cambria Math" panose="02040503050406030204" pitchFamily="18" charset="0"/>
                            </a:rPr>
                          </m:ctrlPr>
                        </m:funcPr>
                        <m:fName>
                          <m:r>
                            <m:rPr>
                              <m:sty m:val="p"/>
                            </m:rPr>
                            <a:rPr lang="en-US" sz="1500" b="0" i="0">
                              <a:solidFill>
                                <a:srgbClr val="000000"/>
                              </a:solidFill>
                              <a:latin typeface="Cambria Math" panose="02040503050406030204" pitchFamily="18" charset="0"/>
                            </a:rPr>
                            <m:t>exp</m:t>
                          </m:r>
                        </m:fName>
                        <m:e>
                          <m:d>
                            <m:dPr>
                              <m:ctrlPr>
                                <a:rPr lang="en-US" sz="1500" b="0" i="1">
                                  <a:solidFill>
                                    <a:srgbClr val="000000"/>
                                  </a:solidFill>
                                  <a:latin typeface="Cambria Math" panose="02040503050406030204" pitchFamily="18" charset="0"/>
                                </a:rPr>
                              </m:ctrlPr>
                            </m:dPr>
                            <m:e>
                              <m:f>
                                <m:fPr>
                                  <m:ctrlPr>
                                    <a:rPr lang="en-US" sz="1500" b="0" i="0">
                                      <a:solidFill>
                                        <a:srgbClr val="000000"/>
                                      </a:solidFill>
                                      <a:latin typeface="Cambria Math" panose="02040503050406030204" pitchFamily="18" charset="0"/>
                                    </a:rPr>
                                  </m:ctrlPr>
                                </m:fPr>
                                <m:num>
                                  <m:r>
                                    <a:rPr lang="en-US" sz="1500" b="0" i="0">
                                      <a:solidFill>
                                        <a:srgbClr val="000000"/>
                                      </a:solidFill>
                                      <a:latin typeface="Cambria Math" panose="02040503050406030204" pitchFamily="18" charset="0"/>
                                    </a:rPr>
                                    <m:t>17.62</m:t>
                                  </m:r>
                                  <m:r>
                                    <a:rPr lang="en-US" sz="1500" b="0" i="1">
                                      <a:solidFill>
                                        <a:srgbClr val="000000"/>
                                      </a:solidFill>
                                      <a:latin typeface="Cambria Math" panose="02040503050406030204" pitchFamily="18" charset="0"/>
                                    </a:rPr>
                                    <m:t>𝑇</m:t>
                                  </m:r>
                                </m:num>
                                <m:den>
                                  <m:r>
                                    <a:rPr lang="en-US" sz="1500" b="0" i="0">
                                      <a:solidFill>
                                        <a:srgbClr val="000000"/>
                                      </a:solidFill>
                                      <a:latin typeface="Cambria Math" panose="02040503050406030204" pitchFamily="18" charset="0"/>
                                    </a:rPr>
                                    <m:t>243.12+</m:t>
                                  </m:r>
                                  <m:r>
                                    <a:rPr lang="en-US" sz="1500" b="0" i="1">
                                      <a:solidFill>
                                        <a:srgbClr val="000000"/>
                                      </a:solidFill>
                                      <a:latin typeface="Cambria Math" panose="02040503050406030204" pitchFamily="18" charset="0"/>
                                    </a:rPr>
                                    <m:t>𝑇</m:t>
                                  </m:r>
                                </m:den>
                              </m:f>
                            </m:e>
                          </m:d>
                        </m:e>
                      </m:func>
                    </m:oMath>
                  </m:oMathPara>
                </a14:m>
                <a:endParaRPr lang="ko-KR" sz="1500"/>
              </a:p>
            </p:txBody>
          </p:sp>
        </mc:Choice>
        <mc:Fallback xmlns="">
          <p:sp>
            <p:nvSpPr>
              <p:cNvPr id="16" name="eq0"/>
              <p:cNvSpPr txBox="1"/>
              <p:nvPr/>
            </p:nvSpPr>
            <p:spPr>
              <a:xfrm>
                <a:off x="3200400" y="2651760"/>
                <a:ext cx="3200400" cy="676656"/>
              </a:xfrm>
              <a:prstGeom prst="rect">
                <a:avLst/>
              </a:prstGeom>
              <a:noFill/>
              <a:ln/>
            </p:spPr>
            <p:txBody>
              <a:bodyPr wrap="square" lIns="0" tIns="0" rIns="0" bIns="0" rtlCol="0" anchor="ctr"/>
              <a:lstStyle/>
              <a:p>
                <a:pPr indent="0" marL="0">
                  <a:buNone/>
                </a:pPr>
                <a:r>
                  <a:rPr lang="en-US" sz="1500" dirty="0">
                    <a:solidFill>
                      <a:schemeClr val="tx1"/>
                    </a:solidFill>
                  </a:rPr>
                  <a:t>Pₛ(T) = 6.112 exp(17.62T / (243.12 + T))</a:t>
                </a:r>
                <a:endParaRPr lang="en-US" sz="1500" dirty="0"/>
              </a:p>
            </p:txBody>
          </p:sp>
        </mc:Fallback>
      </mc:AlternateContent>
      <p:sp>
        <p:nvSpPr>
          <p:cNvPr id="17" name="Text 14"/>
          <p:cNvSpPr txBox="1"/>
          <p:nvPr/>
        </p:nvSpPr>
        <p:spPr>
          <a:xfrm>
            <a:off x="777240" y="3401568"/>
            <a:ext cx="2331720" cy="676656"/>
          </a:xfrm>
          <a:prstGeom prst="rect">
            <a:avLst/>
          </a:prstGeom>
          <a:noFill/>
          <a:ln/>
        </p:spPr>
        <p:txBody>
          <a:bodyPr wrap="square" lIns="0" tIns="0" rIns="0" bIns="0" rtlCol="0" anchor="ctr"/>
          <a:lstStyle/>
          <a:p>
            <a:pPr marL="0" indent="0">
              <a:buNone/>
            </a:pPr>
            <a:r>
              <a:rPr lang="en-US" sz="1300" b="1" dirty="0">
                <a:solidFill>
                  <a:schemeClr val="tx1"/>
                </a:solidFill>
              </a:rPr>
              <a:t>② 벽 표면 상대습도</a:t>
            </a:r>
            <a:endParaRPr lang="en-US" sz="1300" dirty="0"/>
          </a:p>
          <a:p>
            <a:pPr marL="0" indent="0">
              <a:buNone/>
            </a:pPr>
            <a:r>
              <a:rPr lang="en-US" sz="1150" dirty="0">
                <a:solidFill>
                  <a:schemeClr val="tx1"/>
                </a:solidFill>
              </a:rPr>
              <a:t>방 공기가 벽 온도로</a:t>
            </a:r>
            <a:endParaRPr lang="en-US" sz="1300" dirty="0"/>
          </a:p>
          <a:p>
            <a:pPr marL="0" indent="0">
              <a:buNone/>
            </a:pPr>
            <a:r>
              <a:rPr lang="en-US" sz="1150" dirty="0">
                <a:solidFill>
                  <a:schemeClr val="tx1"/>
                </a:solidFill>
              </a:rPr>
              <a:t>식었을 때의 습도임</a:t>
            </a:r>
            <a:endParaRPr lang="en-US" sz="1300" dirty="0"/>
          </a:p>
        </p:txBody>
      </p:sp>
      <mc:AlternateContent xmlns:mc="http://schemas.openxmlformats.org/markup-compatibility/2006" xmlns:a14="http://schemas.microsoft.com/office/drawing/2010/main">
        <mc:Choice Requires="a14">
          <p:sp>
            <p:nvSpPr>
              <p:cNvPr id="18" name="eq1"/>
              <p:cNvSpPr txBox="1"/>
              <p:nvPr/>
            </p:nvSpPr>
            <p:spPr>
              <a:xfrm>
                <a:off x="3200400" y="3401568"/>
                <a:ext cx="3200400" cy="676656"/>
              </a:xfrm>
              <a:prstGeom prst="rect">
                <a:avLst/>
              </a:prstGeom>
              <a:noFill/>
              <a:ln/>
            </p:spPr>
            <p:txBody>
              <a:bodyPr wrap="square" lIns="0" tIns="0" rIns="0" bIns="0" rtlCol="0" anchor="ctr"/>
              <a:lstStyle/>
              <a:p>
                <a:pPr marL="0" indent="0">
                  <a:buNone/>
                </a:pPr>
                <a14:m>
                  <m:oMathPara xmlns:m="http://schemas.openxmlformats.org/officeDocument/2006/math">
                    <m:oMathParaPr>
                      <m:jc m:val="left"/>
                    </m:oMathParaPr>
                    <m:oMath>
                      <m:sSub>
                        <m:sSubPr>
                          <m:ctrlPr>
                            <a:rPr lang="en-US" sz="1500" b="0" i="0">
                              <a:solidFill>
                                <a:srgbClr val="000000"/>
                              </a:solidFill>
                              <a:latin typeface="Cambria Math" panose="02040503050406030204" pitchFamily="18" charset="0"/>
                            </a:rPr>
                          </m:ctrlPr>
                        </m:sSubPr>
                        <m:e>
                          <m:r>
                            <m:rPr>
                              <m:sty m:val="p"/>
                            </m:rPr>
                            <a:rPr lang="en-US" sz="1500" b="0" i="0">
                              <a:solidFill>
                                <a:srgbClr val="000000"/>
                              </a:solidFill>
                              <a:latin typeface="Cambria Math" panose="02040503050406030204" pitchFamily="18" charset="0"/>
                            </a:rPr>
                            <m:t>RH</m:t>
                          </m:r>
                        </m:e>
                        <m:sub>
                          <m:r>
                            <m:rPr>
                              <m:nor/>
                            </m:rPr>
                            <a:rPr lang="ko-KR" altLang="en-US" sz="1500" b="0" i="0">
                              <a:solidFill>
                                <a:srgbClr val="000000"/>
                              </a:solidFill>
                              <a:latin typeface="Pretendard"/>
                              <a:ea typeface="Pretendard"/>
                            </a:rPr>
                            <m:t>표면</m:t>
                          </m:r>
                        </m:sub>
                      </m:sSub>
                      <m:r>
                        <a:rPr lang="en-US" sz="1500" b="0" i="0">
                          <a:solidFill>
                            <a:srgbClr val="000000"/>
                          </a:solidFill>
                          <a:latin typeface="Cambria Math" panose="02040503050406030204" pitchFamily="18" charset="0"/>
                        </a:rPr>
                        <m:t>=</m:t>
                      </m:r>
                      <m:sSub>
                        <m:sSubPr>
                          <m:ctrlPr>
                            <a:rPr lang="en-US" sz="1500" b="0" i="0">
                              <a:solidFill>
                                <a:srgbClr val="000000"/>
                              </a:solidFill>
                              <a:latin typeface="Cambria Math" panose="02040503050406030204" pitchFamily="18" charset="0"/>
                            </a:rPr>
                          </m:ctrlPr>
                        </m:sSubPr>
                        <m:e>
                          <m:r>
                            <m:rPr>
                              <m:sty m:val="p"/>
                            </m:rPr>
                            <a:rPr lang="en-US" sz="1500" b="0" i="0">
                              <a:solidFill>
                                <a:srgbClr val="000000"/>
                              </a:solidFill>
                              <a:latin typeface="Cambria Math" panose="02040503050406030204" pitchFamily="18" charset="0"/>
                            </a:rPr>
                            <m:t>RH</m:t>
                          </m:r>
                        </m:e>
                        <m:sub>
                          <m:r>
                            <m:rPr>
                              <m:nor/>
                            </m:rPr>
                            <a:rPr lang="ko-KR" altLang="en-US" sz="1500" b="0" i="0">
                              <a:solidFill>
                                <a:srgbClr val="000000"/>
                              </a:solidFill>
                              <a:latin typeface="Pretendard"/>
                              <a:ea typeface="Pretendard"/>
                            </a:rPr>
                            <m:t>실내</m:t>
                          </m:r>
                        </m:sub>
                      </m:sSub>
                      <m:r>
                        <a:rPr lang="en-US" sz="1500" b="0" i="0">
                          <a:solidFill>
                            <a:srgbClr val="000000"/>
                          </a:solidFill>
                          <a:latin typeface="Cambria Math" panose="02040503050406030204" pitchFamily="18" charset="0"/>
                        </a:rPr>
                        <m:t>×</m:t>
                      </m:r>
                      <m:f>
                        <m:fPr>
                          <m:ctrlPr>
                            <a:rPr lang="en-US" sz="1500" b="0" i="1">
                              <a:solidFill>
                                <a:srgbClr val="000000"/>
                              </a:solidFill>
                              <a:latin typeface="Cambria Math" panose="02040503050406030204" pitchFamily="18" charset="0"/>
                            </a:rPr>
                          </m:ctrlPr>
                        </m:fPr>
                        <m:num>
                          <m:sSub>
                            <m:sSubPr>
                              <m:ctrlPr>
                                <a:rPr lang="en-US" sz="1500" b="0" i="1">
                                  <a:solidFill>
                                    <a:srgbClr val="000000"/>
                                  </a:solidFill>
                                  <a:latin typeface="Cambria Math" panose="02040503050406030204" pitchFamily="18" charset="0"/>
                                </a:rPr>
                              </m:ctrlPr>
                            </m:sSubPr>
                            <m:e>
                              <m:r>
                                <a:rPr lang="en-US" sz="1500" b="0" i="1">
                                  <a:solidFill>
                                    <a:srgbClr val="000000"/>
                                  </a:solidFill>
                                  <a:latin typeface="Cambria Math" panose="02040503050406030204" pitchFamily="18" charset="0"/>
                                </a:rPr>
                                <m:t>𝑃</m:t>
                              </m:r>
                            </m:e>
                            <m:sub>
                              <m:r>
                                <m:rPr>
                                  <m:sty m:val="p"/>
                                </m:rPr>
                                <a:rPr lang="en-US" sz="1500" b="0" i="0">
                                  <a:solidFill>
                                    <a:srgbClr val="000000"/>
                                  </a:solidFill>
                                  <a:latin typeface="Cambria Math" panose="02040503050406030204" pitchFamily="18" charset="0"/>
                                </a:rPr>
                                <m:t>s</m:t>
                              </m:r>
                            </m:sub>
                          </m:sSub>
                          <m:r>
                            <a:rPr lang="en-US" sz="1500" b="0" i="0">
                              <a:solidFill>
                                <a:srgbClr val="000000"/>
                              </a:solidFill>
                              <a:latin typeface="Cambria Math" panose="02040503050406030204" pitchFamily="18" charset="0"/>
                            </a:rPr>
                            <m:t>(</m:t>
                          </m:r>
                          <m:sSub>
                            <m:sSubPr>
                              <m:ctrlPr>
                                <a:rPr lang="en-US" sz="1500" b="0" i="1">
                                  <a:solidFill>
                                    <a:srgbClr val="000000"/>
                                  </a:solidFill>
                                  <a:latin typeface="Cambria Math" panose="02040503050406030204" pitchFamily="18" charset="0"/>
                                </a:rPr>
                              </m:ctrlPr>
                            </m:sSubPr>
                            <m:e>
                              <m:r>
                                <a:rPr lang="en-US" sz="1500" b="0" i="1">
                                  <a:solidFill>
                                    <a:srgbClr val="000000"/>
                                  </a:solidFill>
                                  <a:latin typeface="Cambria Math" panose="02040503050406030204" pitchFamily="18" charset="0"/>
                                </a:rPr>
                                <m:t>𝑇</m:t>
                              </m:r>
                            </m:e>
                            <m:sub>
                              <m:r>
                                <m:rPr>
                                  <m:nor/>
                                </m:rPr>
                                <a:rPr lang="ko-KR" altLang="en-US" sz="1500" b="0" i="0">
                                  <a:solidFill>
                                    <a:srgbClr val="000000"/>
                                  </a:solidFill>
                                  <a:latin typeface="Pretendard"/>
                                  <a:ea typeface="Pretendard"/>
                                </a:rPr>
                                <m:t>실내</m:t>
                              </m:r>
                            </m:sub>
                          </m:sSub>
                          <m:r>
                            <a:rPr lang="en-US" sz="1500" b="0" i="0">
                              <a:solidFill>
                                <a:srgbClr val="000000"/>
                              </a:solidFill>
                              <a:latin typeface="Cambria Math" panose="02040503050406030204" pitchFamily="18" charset="0"/>
                            </a:rPr>
                            <m:t>)</m:t>
                          </m:r>
                        </m:num>
                        <m:den>
                          <m:sSub>
                            <m:sSubPr>
                              <m:ctrlPr>
                                <a:rPr lang="en-US" sz="1500" b="0" i="1">
                                  <a:solidFill>
                                    <a:srgbClr val="000000"/>
                                  </a:solidFill>
                                  <a:latin typeface="Cambria Math" panose="02040503050406030204" pitchFamily="18" charset="0"/>
                                </a:rPr>
                              </m:ctrlPr>
                            </m:sSubPr>
                            <m:e>
                              <m:r>
                                <a:rPr lang="en-US" sz="1500" b="0" i="1">
                                  <a:solidFill>
                                    <a:srgbClr val="000000"/>
                                  </a:solidFill>
                                  <a:latin typeface="Cambria Math" panose="02040503050406030204" pitchFamily="18" charset="0"/>
                                </a:rPr>
                                <m:t>𝑃</m:t>
                              </m:r>
                            </m:e>
                            <m:sub>
                              <m:r>
                                <m:rPr>
                                  <m:sty m:val="p"/>
                                </m:rPr>
                                <a:rPr lang="en-US" sz="1500" b="0" i="0">
                                  <a:solidFill>
                                    <a:srgbClr val="000000"/>
                                  </a:solidFill>
                                  <a:latin typeface="Cambria Math" panose="02040503050406030204" pitchFamily="18" charset="0"/>
                                </a:rPr>
                                <m:t>s</m:t>
                              </m:r>
                            </m:sub>
                          </m:sSub>
                          <m:r>
                            <a:rPr lang="en-US" sz="1500" b="0" i="0">
                              <a:solidFill>
                                <a:srgbClr val="000000"/>
                              </a:solidFill>
                              <a:latin typeface="Cambria Math" panose="02040503050406030204" pitchFamily="18" charset="0"/>
                            </a:rPr>
                            <m:t>(</m:t>
                          </m:r>
                          <m:sSub>
                            <m:sSubPr>
                              <m:ctrlPr>
                                <a:rPr lang="en-US" sz="1500" b="0" i="1">
                                  <a:solidFill>
                                    <a:srgbClr val="000000"/>
                                  </a:solidFill>
                                  <a:latin typeface="Cambria Math" panose="02040503050406030204" pitchFamily="18" charset="0"/>
                                </a:rPr>
                              </m:ctrlPr>
                            </m:sSubPr>
                            <m:e>
                              <m:r>
                                <a:rPr lang="en-US" sz="1500" b="0" i="1">
                                  <a:solidFill>
                                    <a:srgbClr val="000000"/>
                                  </a:solidFill>
                                  <a:latin typeface="Cambria Math" panose="02040503050406030204" pitchFamily="18" charset="0"/>
                                </a:rPr>
                                <m:t>𝑇</m:t>
                              </m:r>
                            </m:e>
                            <m:sub>
                              <m:r>
                                <m:rPr>
                                  <m:nor/>
                                </m:rPr>
                                <a:rPr lang="ko-KR" altLang="en-US" sz="1500" b="0" i="0">
                                  <a:solidFill>
                                    <a:srgbClr val="000000"/>
                                  </a:solidFill>
                                  <a:latin typeface="Pretendard"/>
                                  <a:ea typeface="Pretendard"/>
                                </a:rPr>
                                <m:t>벽</m:t>
                              </m:r>
                            </m:sub>
                          </m:sSub>
                          <m:r>
                            <a:rPr lang="en-US" sz="1500" b="0" i="0">
                              <a:solidFill>
                                <a:srgbClr val="000000"/>
                              </a:solidFill>
                              <a:latin typeface="Cambria Math" panose="02040503050406030204" pitchFamily="18" charset="0"/>
                            </a:rPr>
                            <m:t>)</m:t>
                          </m:r>
                        </m:den>
                      </m:f>
                    </m:oMath>
                  </m:oMathPara>
                </a14:m>
                <a:endParaRPr lang="ko-KR" sz="1500"/>
              </a:p>
            </p:txBody>
          </p:sp>
        </mc:Choice>
        <mc:Fallback xmlns="">
          <p:sp>
            <p:nvSpPr>
              <p:cNvPr id="18" name="eq1"/>
              <p:cNvSpPr txBox="1"/>
              <p:nvPr/>
            </p:nvSpPr>
            <p:spPr>
              <a:xfrm>
                <a:off x="3200400" y="3401568"/>
                <a:ext cx="3200400" cy="676656"/>
              </a:xfrm>
              <a:prstGeom prst="rect">
                <a:avLst/>
              </a:prstGeom>
              <a:noFill/>
              <a:ln/>
            </p:spPr>
            <p:txBody>
              <a:bodyPr wrap="square" lIns="0" tIns="0" rIns="0" bIns="0" rtlCol="0" anchor="ctr"/>
              <a:lstStyle/>
              <a:p>
                <a:pPr indent="0" marL="0">
                  <a:buNone/>
                </a:pPr>
                <a:r>
                  <a:rPr lang="en-US" sz="1500" dirty="0">
                    <a:solidFill>
                      <a:schemeClr val="tx1"/>
                    </a:solidFill>
                  </a:rPr>
                  <a:t>RH표면 = RH실내 × Pₛ(T실내) / Pₛ(T벽)</a:t>
                </a:r>
                <a:endParaRPr lang="en-US" sz="1500" dirty="0"/>
              </a:p>
            </p:txBody>
          </p:sp>
        </mc:Fallback>
      </mc:AlternateContent>
      <p:sp>
        <p:nvSpPr>
          <p:cNvPr id="19" name="Text 16"/>
          <p:cNvSpPr txBox="1"/>
          <p:nvPr/>
        </p:nvSpPr>
        <p:spPr>
          <a:xfrm>
            <a:off x="777240" y="4151376"/>
            <a:ext cx="2331720" cy="676656"/>
          </a:xfrm>
          <a:prstGeom prst="rect">
            <a:avLst/>
          </a:prstGeom>
          <a:noFill/>
          <a:ln/>
        </p:spPr>
        <p:txBody>
          <a:bodyPr wrap="square" lIns="0" tIns="0" rIns="0" bIns="0" rtlCol="0" anchor="ctr"/>
          <a:lstStyle/>
          <a:p>
            <a:pPr marL="0" indent="0">
              <a:buNone/>
            </a:pPr>
            <a:r>
              <a:rPr lang="en-US" sz="1300" b="1" dirty="0">
                <a:solidFill>
                  <a:schemeClr val="tx1"/>
                </a:solidFill>
              </a:rPr>
              <a:t>③ 절대습도 (g/㎥)</a:t>
            </a:r>
            <a:endParaRPr lang="en-US" sz="1300" dirty="0"/>
          </a:p>
          <a:p>
            <a:pPr marL="0" indent="0">
              <a:buNone/>
            </a:pPr>
            <a:r>
              <a:rPr lang="en-US" sz="1150" dirty="0">
                <a:solidFill>
                  <a:schemeClr val="tx1"/>
                </a:solidFill>
              </a:rPr>
              <a:t>공기 1㎥에 든 수증기 양,</a:t>
            </a:r>
            <a:endParaRPr lang="en-US" sz="1300" dirty="0"/>
          </a:p>
          <a:p>
            <a:pPr marL="0" indent="0">
              <a:buNone/>
            </a:pPr>
            <a:r>
              <a:rPr lang="en-US" sz="1150" dirty="0">
                <a:solidFill>
                  <a:schemeClr val="tx1"/>
                </a:solidFill>
              </a:rPr>
              <a:t>점막 방어의 기준임</a:t>
            </a:r>
            <a:endParaRPr lang="en-US" sz="1300" dirty="0"/>
          </a:p>
        </p:txBody>
      </p:sp>
      <mc:AlternateContent xmlns:mc="http://schemas.openxmlformats.org/markup-compatibility/2006" xmlns:a14="http://schemas.microsoft.com/office/drawing/2010/main">
        <mc:Choice Requires="a14">
          <p:sp>
            <p:nvSpPr>
              <p:cNvPr id="20" name="eq2"/>
              <p:cNvSpPr txBox="1"/>
              <p:nvPr/>
            </p:nvSpPr>
            <p:spPr>
              <a:xfrm>
                <a:off x="3200400" y="4151376"/>
                <a:ext cx="3200400" cy="676656"/>
              </a:xfrm>
              <a:prstGeom prst="rect">
                <a:avLst/>
              </a:prstGeom>
              <a:noFill/>
              <a:ln/>
            </p:spPr>
            <p:txBody>
              <a:bodyPr wrap="square" lIns="0" tIns="0" rIns="0" bIns="0" rtlCol="0" anchor="ctr"/>
              <a:lstStyle/>
              <a:p>
                <a:pPr marL="0" indent="0">
                  <a:buNone/>
                </a:pPr>
                <a14:m>
                  <m:oMathPara xmlns:m="http://schemas.openxmlformats.org/officeDocument/2006/math">
                    <m:oMathParaPr>
                      <m:jc m:val="left"/>
                    </m:oMathParaPr>
                    <m:oMath>
                      <m:r>
                        <m:rPr>
                          <m:sty m:val="p"/>
                        </m:rPr>
                        <a:rPr lang="en-US" sz="1500" b="0" i="0">
                          <a:solidFill>
                            <a:srgbClr val="000000"/>
                          </a:solidFill>
                          <a:latin typeface="Cambria Math" panose="02040503050406030204" pitchFamily="18" charset="0"/>
                        </a:rPr>
                        <m:t>AH</m:t>
                      </m:r>
                      <m:r>
                        <a:rPr lang="en-US" sz="1500" b="0" i="0">
                          <a:solidFill>
                            <a:srgbClr val="000000"/>
                          </a:solidFill>
                          <a:latin typeface="Cambria Math" panose="02040503050406030204" pitchFamily="18" charset="0"/>
                        </a:rPr>
                        <m:t>=</m:t>
                      </m:r>
                      <m:f>
                        <m:fPr>
                          <m:ctrlPr>
                            <a:rPr lang="en-US" sz="1500" b="0" i="0">
                              <a:solidFill>
                                <a:srgbClr val="000000"/>
                              </a:solidFill>
                              <a:latin typeface="Cambria Math" panose="02040503050406030204" pitchFamily="18" charset="0"/>
                            </a:rPr>
                          </m:ctrlPr>
                        </m:fPr>
                        <m:num>
                          <m:r>
                            <a:rPr lang="en-US" sz="1500" b="0" i="0">
                              <a:solidFill>
                                <a:srgbClr val="000000"/>
                              </a:solidFill>
                              <a:latin typeface="Cambria Math" panose="02040503050406030204" pitchFamily="18" charset="0"/>
                            </a:rPr>
                            <m:t>216.7×</m:t>
                          </m:r>
                          <m:r>
                            <m:rPr>
                              <m:sty m:val="p"/>
                            </m:rPr>
                            <a:rPr lang="en-US" sz="1500" b="0" i="0">
                              <a:solidFill>
                                <a:srgbClr val="000000"/>
                              </a:solidFill>
                              <a:latin typeface="Cambria Math" panose="02040503050406030204" pitchFamily="18" charset="0"/>
                            </a:rPr>
                            <m:t>RH</m:t>
                          </m:r>
                          <m:r>
                            <a:rPr lang="en-US" sz="1500" b="0" i="0">
                              <a:solidFill>
                                <a:srgbClr val="000000"/>
                              </a:solidFill>
                              <a:latin typeface="Cambria Math" panose="02040503050406030204" pitchFamily="18" charset="0"/>
                            </a:rPr>
                            <m:t>×</m:t>
                          </m:r>
                          <m:sSub>
                            <m:sSubPr>
                              <m:ctrlPr>
                                <a:rPr lang="en-US" sz="1500" b="0" i="1">
                                  <a:solidFill>
                                    <a:srgbClr val="000000"/>
                                  </a:solidFill>
                                  <a:latin typeface="Cambria Math" panose="02040503050406030204" pitchFamily="18" charset="0"/>
                                </a:rPr>
                              </m:ctrlPr>
                            </m:sSubPr>
                            <m:e>
                              <m:r>
                                <a:rPr lang="en-US" sz="1500" b="0" i="1">
                                  <a:solidFill>
                                    <a:srgbClr val="000000"/>
                                  </a:solidFill>
                                  <a:latin typeface="Cambria Math" panose="02040503050406030204" pitchFamily="18" charset="0"/>
                                </a:rPr>
                                <m:t>𝑃</m:t>
                              </m:r>
                            </m:e>
                            <m:sub>
                              <m:r>
                                <m:rPr>
                                  <m:sty m:val="p"/>
                                </m:rPr>
                                <a:rPr lang="en-US" sz="1500" b="0" i="0">
                                  <a:solidFill>
                                    <a:srgbClr val="000000"/>
                                  </a:solidFill>
                                  <a:latin typeface="Cambria Math" panose="02040503050406030204" pitchFamily="18" charset="0"/>
                                </a:rPr>
                                <m:t>s</m:t>
                              </m:r>
                            </m:sub>
                          </m:sSub>
                          <m:r>
                            <a:rPr lang="en-US" sz="1500" b="0" i="0">
                              <a:solidFill>
                                <a:srgbClr val="000000"/>
                              </a:solidFill>
                              <a:latin typeface="Cambria Math" panose="02040503050406030204" pitchFamily="18" charset="0"/>
                            </a:rPr>
                            <m:t>(</m:t>
                          </m:r>
                          <m:r>
                            <a:rPr lang="en-US" sz="1500" b="0" i="1">
                              <a:solidFill>
                                <a:srgbClr val="000000"/>
                              </a:solidFill>
                              <a:latin typeface="Cambria Math" panose="02040503050406030204" pitchFamily="18" charset="0"/>
                            </a:rPr>
                            <m:t>𝑇</m:t>
                          </m:r>
                          <m:r>
                            <a:rPr lang="en-US" sz="1500" b="0" i="0">
                              <a:solidFill>
                                <a:srgbClr val="000000"/>
                              </a:solidFill>
                              <a:latin typeface="Cambria Math" panose="02040503050406030204" pitchFamily="18" charset="0"/>
                            </a:rPr>
                            <m:t>)</m:t>
                          </m:r>
                        </m:num>
                        <m:den>
                          <m:r>
                            <a:rPr lang="en-US" sz="1500" b="0" i="0">
                              <a:solidFill>
                                <a:srgbClr val="000000"/>
                              </a:solidFill>
                              <a:latin typeface="Cambria Math" panose="02040503050406030204" pitchFamily="18" charset="0"/>
                            </a:rPr>
                            <m:t>100</m:t>
                          </m:r>
                          <m:d>
                            <m:dPr>
                              <m:ctrlPr>
                                <a:rPr lang="en-US" sz="1500" b="0" i="0">
                                  <a:solidFill>
                                    <a:srgbClr val="000000"/>
                                  </a:solidFill>
                                  <a:latin typeface="Cambria Math" panose="02040503050406030204" pitchFamily="18" charset="0"/>
                                </a:rPr>
                              </m:ctrlPr>
                            </m:dPr>
                            <m:e>
                              <m:r>
                                <a:rPr lang="en-US" sz="1500" b="0" i="0">
                                  <a:solidFill>
                                    <a:srgbClr val="000000"/>
                                  </a:solidFill>
                                  <a:latin typeface="Cambria Math" panose="02040503050406030204" pitchFamily="18" charset="0"/>
                                </a:rPr>
                                <m:t>273.15+</m:t>
                              </m:r>
                              <m:r>
                                <a:rPr lang="en-US" sz="1500" b="0" i="1">
                                  <a:solidFill>
                                    <a:srgbClr val="000000"/>
                                  </a:solidFill>
                                  <a:latin typeface="Cambria Math" panose="02040503050406030204" pitchFamily="18" charset="0"/>
                                </a:rPr>
                                <m:t>𝑇</m:t>
                              </m:r>
                            </m:e>
                          </m:d>
                        </m:den>
                      </m:f>
                    </m:oMath>
                  </m:oMathPara>
                </a14:m>
                <a:endParaRPr lang="ko-KR" sz="1500"/>
              </a:p>
            </p:txBody>
          </p:sp>
        </mc:Choice>
        <mc:Fallback xmlns="">
          <p:sp>
            <p:nvSpPr>
              <p:cNvPr id="20" name="eq2"/>
              <p:cNvSpPr txBox="1"/>
              <p:nvPr/>
            </p:nvSpPr>
            <p:spPr>
              <a:xfrm>
                <a:off x="3200400" y="4151376"/>
                <a:ext cx="3200400" cy="676656"/>
              </a:xfrm>
              <a:prstGeom prst="rect">
                <a:avLst/>
              </a:prstGeom>
              <a:noFill/>
              <a:ln/>
            </p:spPr>
            <p:txBody>
              <a:bodyPr wrap="square" lIns="0" tIns="0" rIns="0" bIns="0" rtlCol="0" anchor="ctr"/>
              <a:lstStyle/>
              <a:p>
                <a:pPr indent="0" marL="0">
                  <a:buNone/>
                </a:pPr>
                <a:r>
                  <a:rPr lang="en-US" sz="1500" dirty="0">
                    <a:solidFill>
                      <a:schemeClr val="tx1"/>
                    </a:solidFill>
                  </a:rPr>
                  <a:t>AH = 216.7 × RH × Pₛ(T) / (100 (273.15 + T))</a:t>
                </a:r>
                <a:endParaRPr lang="en-US" sz="1500" dirty="0"/>
              </a:p>
            </p:txBody>
          </p:sp>
        </mc:Fallback>
      </mc:AlternateContent>
      <p:sp>
        <p:nvSpPr>
          <p:cNvPr id="21" name="Text 18"/>
          <p:cNvSpPr txBox="1"/>
          <p:nvPr/>
        </p:nvSpPr>
        <p:spPr>
          <a:xfrm>
            <a:off x="777240" y="4901184"/>
            <a:ext cx="2331720" cy="676656"/>
          </a:xfrm>
          <a:prstGeom prst="rect">
            <a:avLst/>
          </a:prstGeom>
          <a:noFill/>
          <a:ln/>
        </p:spPr>
        <p:txBody>
          <a:bodyPr wrap="square" lIns="0" tIns="0" rIns="0" bIns="0" rtlCol="0" anchor="ctr"/>
          <a:lstStyle/>
          <a:p>
            <a:pPr marL="0" indent="0">
              <a:buNone/>
            </a:pPr>
            <a:r>
              <a:rPr lang="en-US" sz="1300" b="1" dirty="0">
                <a:solidFill>
                  <a:schemeClr val="tx1"/>
                </a:solidFill>
              </a:rPr>
              <a:t>④ 허용 상한 (표 3)</a:t>
            </a:r>
            <a:endParaRPr lang="en-US" sz="1300" dirty="0"/>
          </a:p>
          <a:p>
            <a:pPr marL="0" indent="0">
              <a:buNone/>
            </a:pPr>
            <a:r>
              <a:rPr lang="en-US" sz="1150" dirty="0">
                <a:solidFill>
                  <a:schemeClr val="tx1"/>
                </a:solidFill>
              </a:rPr>
              <a:t>벽 표면이 80%를 넘지 않는</a:t>
            </a:r>
            <a:endParaRPr lang="en-US" sz="1300" dirty="0"/>
          </a:p>
          <a:p>
            <a:pPr marL="0" indent="0">
              <a:buNone/>
            </a:pPr>
            <a:r>
              <a:rPr lang="en-US" sz="1150" dirty="0">
                <a:solidFill>
                  <a:schemeClr val="tx1"/>
                </a:solidFill>
              </a:rPr>
              <a:t>실내 습도의 최댓값임</a:t>
            </a:r>
            <a:endParaRPr lang="en-US" sz="1300" dirty="0"/>
          </a:p>
        </p:txBody>
      </p:sp>
      <mc:AlternateContent xmlns:mc="http://schemas.openxmlformats.org/markup-compatibility/2006" xmlns:a14="http://schemas.microsoft.com/office/drawing/2010/main">
        <mc:Choice Requires="a14">
          <p:sp>
            <p:nvSpPr>
              <p:cNvPr id="22" name="eq3"/>
              <p:cNvSpPr txBox="1"/>
              <p:nvPr/>
            </p:nvSpPr>
            <p:spPr>
              <a:xfrm>
                <a:off x="3200400" y="4901184"/>
                <a:ext cx="3200400" cy="676656"/>
              </a:xfrm>
              <a:prstGeom prst="rect">
                <a:avLst/>
              </a:prstGeom>
              <a:noFill/>
              <a:ln/>
            </p:spPr>
            <p:txBody>
              <a:bodyPr wrap="square" lIns="0" tIns="0" rIns="0" bIns="0" rtlCol="0" anchor="ctr"/>
              <a:lstStyle/>
              <a:p>
                <a:pPr marL="0" indent="0">
                  <a:buNone/>
                </a:pPr>
                <a14:m>
                  <m:oMathPara xmlns:m="http://schemas.openxmlformats.org/officeDocument/2006/math">
                    <m:oMathParaPr>
                      <m:jc m:val="left"/>
                    </m:oMathParaPr>
                    <m:oMath>
                      <m:sSub>
                        <m:sSubPr>
                          <m:ctrlPr>
                            <a:rPr lang="en-US" sz="1500" b="0" i="0">
                              <a:solidFill>
                                <a:srgbClr val="000000"/>
                              </a:solidFill>
                              <a:latin typeface="Cambria Math" panose="02040503050406030204" pitchFamily="18" charset="0"/>
                            </a:rPr>
                          </m:ctrlPr>
                        </m:sSubPr>
                        <m:e>
                          <m:r>
                            <m:rPr>
                              <m:sty m:val="p"/>
                            </m:rPr>
                            <a:rPr lang="en-US" sz="1500" b="0" i="0">
                              <a:solidFill>
                                <a:srgbClr val="000000"/>
                              </a:solidFill>
                              <a:latin typeface="Cambria Math" panose="02040503050406030204" pitchFamily="18" charset="0"/>
                            </a:rPr>
                            <m:t>RH</m:t>
                          </m:r>
                        </m:e>
                        <m:sub>
                          <m:r>
                            <m:rPr>
                              <m:nor/>
                            </m:rPr>
                            <a:rPr lang="ko-KR" altLang="en-US" sz="1500" b="0" i="0">
                              <a:solidFill>
                                <a:srgbClr val="000000"/>
                              </a:solidFill>
                              <a:latin typeface="Pretendard"/>
                              <a:ea typeface="Pretendard"/>
                            </a:rPr>
                            <m:t>상한</m:t>
                          </m:r>
                        </m:sub>
                      </m:sSub>
                      <m:r>
                        <a:rPr lang="en-US" sz="1500" b="0" i="0">
                          <a:solidFill>
                            <a:srgbClr val="000000"/>
                          </a:solidFill>
                          <a:latin typeface="Cambria Math" panose="02040503050406030204" pitchFamily="18" charset="0"/>
                        </a:rPr>
                        <m:t>=80×</m:t>
                      </m:r>
                      <m:f>
                        <m:fPr>
                          <m:ctrlPr>
                            <a:rPr lang="en-US" sz="1500" b="0" i="1">
                              <a:solidFill>
                                <a:srgbClr val="000000"/>
                              </a:solidFill>
                              <a:latin typeface="Cambria Math" panose="02040503050406030204" pitchFamily="18" charset="0"/>
                            </a:rPr>
                          </m:ctrlPr>
                        </m:fPr>
                        <m:num>
                          <m:sSub>
                            <m:sSubPr>
                              <m:ctrlPr>
                                <a:rPr lang="en-US" sz="1500" b="0" i="1">
                                  <a:solidFill>
                                    <a:srgbClr val="000000"/>
                                  </a:solidFill>
                                  <a:latin typeface="Cambria Math" panose="02040503050406030204" pitchFamily="18" charset="0"/>
                                </a:rPr>
                              </m:ctrlPr>
                            </m:sSubPr>
                            <m:e>
                              <m:r>
                                <a:rPr lang="en-US" sz="1500" b="0" i="1">
                                  <a:solidFill>
                                    <a:srgbClr val="000000"/>
                                  </a:solidFill>
                                  <a:latin typeface="Cambria Math" panose="02040503050406030204" pitchFamily="18" charset="0"/>
                                </a:rPr>
                                <m:t>𝑃</m:t>
                              </m:r>
                            </m:e>
                            <m:sub>
                              <m:r>
                                <m:rPr>
                                  <m:sty m:val="p"/>
                                </m:rPr>
                                <a:rPr lang="en-US" sz="1500" b="0" i="0">
                                  <a:solidFill>
                                    <a:srgbClr val="000000"/>
                                  </a:solidFill>
                                  <a:latin typeface="Cambria Math" panose="02040503050406030204" pitchFamily="18" charset="0"/>
                                </a:rPr>
                                <m:t>s</m:t>
                              </m:r>
                            </m:sub>
                          </m:sSub>
                          <m:r>
                            <a:rPr lang="en-US" sz="1500" b="0" i="0">
                              <a:solidFill>
                                <a:srgbClr val="000000"/>
                              </a:solidFill>
                              <a:latin typeface="Cambria Math" panose="02040503050406030204" pitchFamily="18" charset="0"/>
                            </a:rPr>
                            <m:t>(</m:t>
                          </m:r>
                          <m:sSub>
                            <m:sSubPr>
                              <m:ctrlPr>
                                <a:rPr lang="en-US" sz="1500" b="0" i="1">
                                  <a:solidFill>
                                    <a:srgbClr val="000000"/>
                                  </a:solidFill>
                                  <a:latin typeface="Cambria Math" panose="02040503050406030204" pitchFamily="18" charset="0"/>
                                </a:rPr>
                              </m:ctrlPr>
                            </m:sSubPr>
                            <m:e>
                              <m:r>
                                <a:rPr lang="en-US" sz="1500" b="0" i="1">
                                  <a:solidFill>
                                    <a:srgbClr val="000000"/>
                                  </a:solidFill>
                                  <a:latin typeface="Cambria Math" panose="02040503050406030204" pitchFamily="18" charset="0"/>
                                </a:rPr>
                                <m:t>𝑇</m:t>
                              </m:r>
                            </m:e>
                            <m:sub>
                              <m:r>
                                <m:rPr>
                                  <m:nor/>
                                </m:rPr>
                                <a:rPr lang="ko-KR" altLang="en-US" sz="1500" b="0" i="0">
                                  <a:solidFill>
                                    <a:srgbClr val="000000"/>
                                  </a:solidFill>
                                  <a:latin typeface="Pretendard"/>
                                  <a:ea typeface="Pretendard"/>
                                </a:rPr>
                                <m:t>벽</m:t>
                              </m:r>
                            </m:sub>
                          </m:sSub>
                          <m:r>
                            <a:rPr lang="en-US" sz="1500" b="0" i="0">
                              <a:solidFill>
                                <a:srgbClr val="000000"/>
                              </a:solidFill>
                              <a:latin typeface="Cambria Math" panose="02040503050406030204" pitchFamily="18" charset="0"/>
                            </a:rPr>
                            <m:t>)</m:t>
                          </m:r>
                        </m:num>
                        <m:den>
                          <m:sSub>
                            <m:sSubPr>
                              <m:ctrlPr>
                                <a:rPr lang="en-US" sz="1500" b="0" i="1">
                                  <a:solidFill>
                                    <a:srgbClr val="000000"/>
                                  </a:solidFill>
                                  <a:latin typeface="Cambria Math" panose="02040503050406030204" pitchFamily="18" charset="0"/>
                                </a:rPr>
                              </m:ctrlPr>
                            </m:sSubPr>
                            <m:e>
                              <m:r>
                                <a:rPr lang="en-US" sz="1500" b="0" i="1">
                                  <a:solidFill>
                                    <a:srgbClr val="000000"/>
                                  </a:solidFill>
                                  <a:latin typeface="Cambria Math" panose="02040503050406030204" pitchFamily="18" charset="0"/>
                                </a:rPr>
                                <m:t>𝑃</m:t>
                              </m:r>
                            </m:e>
                            <m:sub>
                              <m:r>
                                <m:rPr>
                                  <m:sty m:val="p"/>
                                </m:rPr>
                                <a:rPr lang="en-US" sz="1500" b="0" i="0">
                                  <a:solidFill>
                                    <a:srgbClr val="000000"/>
                                  </a:solidFill>
                                  <a:latin typeface="Cambria Math" panose="02040503050406030204" pitchFamily="18" charset="0"/>
                                </a:rPr>
                                <m:t>s</m:t>
                              </m:r>
                            </m:sub>
                          </m:sSub>
                          <m:r>
                            <a:rPr lang="en-US" sz="1500" b="0" i="0">
                              <a:solidFill>
                                <a:srgbClr val="000000"/>
                              </a:solidFill>
                              <a:latin typeface="Cambria Math" panose="02040503050406030204" pitchFamily="18" charset="0"/>
                            </a:rPr>
                            <m:t>(</m:t>
                          </m:r>
                          <m:sSub>
                            <m:sSubPr>
                              <m:ctrlPr>
                                <a:rPr lang="en-US" sz="1500" b="0" i="1">
                                  <a:solidFill>
                                    <a:srgbClr val="000000"/>
                                  </a:solidFill>
                                  <a:latin typeface="Cambria Math" panose="02040503050406030204" pitchFamily="18" charset="0"/>
                                </a:rPr>
                              </m:ctrlPr>
                            </m:sSubPr>
                            <m:e>
                              <m:r>
                                <a:rPr lang="en-US" sz="1500" b="0" i="1">
                                  <a:solidFill>
                                    <a:srgbClr val="000000"/>
                                  </a:solidFill>
                                  <a:latin typeface="Cambria Math" panose="02040503050406030204" pitchFamily="18" charset="0"/>
                                </a:rPr>
                                <m:t>𝑇</m:t>
                              </m:r>
                            </m:e>
                            <m:sub>
                              <m:r>
                                <m:rPr>
                                  <m:nor/>
                                </m:rPr>
                                <a:rPr lang="ko-KR" altLang="en-US" sz="1500" b="0" i="0">
                                  <a:solidFill>
                                    <a:srgbClr val="000000"/>
                                  </a:solidFill>
                                  <a:latin typeface="Pretendard"/>
                                  <a:ea typeface="Pretendard"/>
                                </a:rPr>
                                <m:t>실내</m:t>
                              </m:r>
                            </m:sub>
                          </m:sSub>
                          <m:r>
                            <a:rPr lang="en-US" sz="1500" b="0" i="0">
                              <a:solidFill>
                                <a:srgbClr val="000000"/>
                              </a:solidFill>
                              <a:latin typeface="Cambria Math" panose="02040503050406030204" pitchFamily="18" charset="0"/>
                            </a:rPr>
                            <m:t>)</m:t>
                          </m:r>
                        </m:den>
                      </m:f>
                    </m:oMath>
                  </m:oMathPara>
                </a14:m>
                <a:endParaRPr lang="ko-KR" sz="1500"/>
              </a:p>
            </p:txBody>
          </p:sp>
        </mc:Choice>
        <mc:Fallback xmlns="">
          <p:sp>
            <p:nvSpPr>
              <p:cNvPr id="22" name="eq3"/>
              <p:cNvSpPr txBox="1"/>
              <p:nvPr/>
            </p:nvSpPr>
            <p:spPr>
              <a:xfrm>
                <a:off x="3200400" y="4901184"/>
                <a:ext cx="3200400" cy="676656"/>
              </a:xfrm>
              <a:prstGeom prst="rect">
                <a:avLst/>
              </a:prstGeom>
              <a:noFill/>
              <a:ln/>
            </p:spPr>
            <p:txBody>
              <a:bodyPr wrap="square" lIns="0" tIns="0" rIns="0" bIns="0" rtlCol="0" anchor="ctr"/>
              <a:lstStyle/>
              <a:p>
                <a:pPr indent="0" marL="0">
                  <a:buNone/>
                </a:pPr>
                <a:r>
                  <a:rPr lang="en-US" sz="1500" dirty="0">
                    <a:solidFill>
                      <a:schemeClr val="tx1"/>
                    </a:solidFill>
                  </a:rPr>
                  <a:t>RH상한 = 80 × Pₛ(T벽) / Pₛ(T실내)</a:t>
                </a:r>
                <a:endParaRPr lang="en-US" sz="1500" dirty="0"/>
              </a:p>
            </p:txBody>
          </p:sp>
        </mc:Fallback>
      </mc:AlternateContent>
      <p:sp>
        <p:nvSpPr>
          <p:cNvPr id="23" name="Shape 20"/>
          <p:cNvSpPr/>
          <p:nvPr/>
        </p:nvSpPr>
        <p:spPr>
          <a:xfrm>
            <a:off x="731520" y="5641848"/>
            <a:ext cx="5623560" cy="512064"/>
          </a:xfrm>
          <a:prstGeom prst="roundRect">
            <a:avLst>
              <a:gd name="adj" fmla="val 14286"/>
            </a:avLst>
          </a:prstGeom>
          <a:solidFill>
            <a:srgbClr val="FFFFFF"/>
          </a:solidFill>
          <a:ln w="9525">
            <a:solidFill>
              <a:srgbClr val="E0E0E0"/>
            </a:solidFill>
            <a:prstDash val="solid"/>
          </a:ln>
        </p:spPr>
      </p:sp>
      <p:sp>
        <p:nvSpPr>
          <p:cNvPr id="24" name="Text 21"/>
          <p:cNvSpPr txBox="1"/>
          <p:nvPr/>
        </p:nvSpPr>
        <p:spPr>
          <a:xfrm>
            <a:off x="868680" y="5641848"/>
            <a:ext cx="2240280" cy="512064"/>
          </a:xfrm>
          <a:prstGeom prst="rect">
            <a:avLst/>
          </a:prstGeom>
          <a:noFill/>
          <a:ln/>
        </p:spPr>
        <p:txBody>
          <a:bodyPr wrap="square" lIns="0" tIns="0" rIns="0" bIns="0" rtlCol="0" anchor="ctr"/>
          <a:lstStyle/>
          <a:p>
            <a:pPr marL="0" indent="0">
              <a:buNone/>
            </a:pPr>
            <a:r>
              <a:rPr lang="en-US" sz="1200" dirty="0">
                <a:solidFill>
                  <a:schemeClr val="tx1"/>
                </a:solidFill>
              </a:rPr>
              <a:t>예) 방 21℃, 45%이고</a:t>
            </a:r>
            <a:endParaRPr lang="en-US" sz="1200" dirty="0"/>
          </a:p>
          <a:p>
            <a:pPr marL="0" indent="0">
              <a:buNone/>
            </a:pPr>
            <a:r>
              <a:rPr lang="en-US" sz="1200" dirty="0">
                <a:solidFill>
                  <a:schemeClr val="tx1"/>
                </a:solidFill>
              </a:rPr>
              <a:t>벽이 12℃이면</a:t>
            </a:r>
            <a:endParaRPr lang="en-US" sz="1200" dirty="0"/>
          </a:p>
        </p:txBody>
      </p:sp>
      <mc:AlternateContent xmlns:mc="http://schemas.openxmlformats.org/markup-compatibility/2006" xmlns:a14="http://schemas.microsoft.com/office/drawing/2010/main">
        <mc:Choice Requires="a14">
          <p:sp>
            <p:nvSpPr>
              <p:cNvPr id="25" name="eq4"/>
              <p:cNvSpPr txBox="1"/>
              <p:nvPr/>
            </p:nvSpPr>
            <p:spPr>
              <a:xfrm>
                <a:off x="3200400" y="5641848"/>
                <a:ext cx="3108960" cy="512064"/>
              </a:xfrm>
              <a:prstGeom prst="rect">
                <a:avLst/>
              </a:prstGeom>
              <a:noFill/>
              <a:ln/>
            </p:spPr>
            <p:txBody>
              <a:bodyPr wrap="square" lIns="0" tIns="0" rIns="0" bIns="0" rtlCol="0" anchor="ctr"/>
              <a:lstStyle/>
              <a:p>
                <a:pPr marL="0" indent="0">
                  <a:buNone/>
                </a:pPr>
                <a14:m>
                  <m:oMathPara xmlns:m="http://schemas.openxmlformats.org/officeDocument/2006/math">
                    <m:oMathParaPr>
                      <m:jc m:val="left"/>
                    </m:oMathParaPr>
                    <m:oMath>
                      <m:sSub>
                        <m:sSubPr>
                          <m:ctrlPr>
                            <a:rPr lang="en-US" sz="1400" b="0" i="0">
                              <a:solidFill>
                                <a:srgbClr val="000000"/>
                              </a:solidFill>
                              <a:latin typeface="Cambria Math" panose="02040503050406030204" pitchFamily="18" charset="0"/>
                            </a:rPr>
                          </m:ctrlPr>
                        </m:sSubPr>
                        <m:e>
                          <m:r>
                            <m:rPr>
                              <m:sty m:val="p"/>
                            </m:rPr>
                            <a:rPr lang="en-US" sz="1400" b="0" i="0">
                              <a:solidFill>
                                <a:srgbClr val="000000"/>
                              </a:solidFill>
                              <a:latin typeface="Cambria Math" panose="02040503050406030204" pitchFamily="18" charset="0"/>
                            </a:rPr>
                            <m:t>RH</m:t>
                          </m:r>
                        </m:e>
                        <m:sub>
                          <m:r>
                            <m:rPr>
                              <m:nor/>
                            </m:rPr>
                            <a:rPr lang="ko-KR" altLang="en-US" sz="1400" b="0" i="0">
                              <a:solidFill>
                                <a:srgbClr val="000000"/>
                              </a:solidFill>
                              <a:latin typeface="Pretendard"/>
                              <a:ea typeface="Pretendard"/>
                            </a:rPr>
                            <m:t>표면</m:t>
                          </m:r>
                        </m:sub>
                      </m:sSub>
                      <m:r>
                        <a:rPr lang="en-US" sz="1400" b="0" i="0">
                          <a:solidFill>
                            <a:srgbClr val="000000"/>
                          </a:solidFill>
                          <a:latin typeface="Cambria Math" panose="02040503050406030204" pitchFamily="18" charset="0"/>
                        </a:rPr>
                        <m:t>=45×</m:t>
                      </m:r>
                      <m:f>
                        <m:fPr>
                          <m:ctrlPr>
                            <a:rPr lang="en-US" sz="1400" b="0" i="0">
                              <a:solidFill>
                                <a:srgbClr val="000000"/>
                              </a:solidFill>
                              <a:latin typeface="Cambria Math" panose="02040503050406030204" pitchFamily="18" charset="0"/>
                            </a:rPr>
                          </m:ctrlPr>
                        </m:fPr>
                        <m:num>
                          <m:r>
                            <a:rPr lang="en-US" sz="1400" b="0" i="0">
                              <a:solidFill>
                                <a:srgbClr val="000000"/>
                              </a:solidFill>
                              <a:latin typeface="Cambria Math" panose="02040503050406030204" pitchFamily="18" charset="0"/>
                            </a:rPr>
                            <m:t>24.8</m:t>
                          </m:r>
                        </m:num>
                        <m:den>
                          <m:r>
                            <a:rPr lang="en-US" sz="1400" b="0" i="0">
                              <a:solidFill>
                                <a:srgbClr val="000000"/>
                              </a:solidFill>
                              <a:latin typeface="Cambria Math" panose="02040503050406030204" pitchFamily="18" charset="0"/>
                            </a:rPr>
                            <m:t>14.0</m:t>
                          </m:r>
                        </m:den>
                      </m:f>
                      <m:r>
                        <a:rPr lang="en-US" sz="1400" b="0" i="0">
                          <a:solidFill>
                            <a:srgbClr val="000000"/>
                          </a:solidFill>
                          <a:latin typeface="Cambria Math" panose="02040503050406030204" pitchFamily="18" charset="0"/>
                        </a:rPr>
                        <m:t>≈80%</m:t>
                      </m:r>
                    </m:oMath>
                  </m:oMathPara>
                </a14:m>
                <a:endParaRPr lang="ko-KR" sz="1400"/>
              </a:p>
            </p:txBody>
          </p:sp>
        </mc:Choice>
        <mc:Fallback xmlns="">
          <p:sp>
            <p:nvSpPr>
              <p:cNvPr id="25" name="eq4"/>
              <p:cNvSpPr txBox="1"/>
              <p:nvPr/>
            </p:nvSpPr>
            <p:spPr>
              <a:xfrm>
                <a:off x="3200400" y="5641848"/>
                <a:ext cx="3108960" cy="512064"/>
              </a:xfrm>
              <a:prstGeom prst="rect">
                <a:avLst/>
              </a:prstGeom>
              <a:noFill/>
              <a:ln/>
            </p:spPr>
            <p:txBody>
              <a:bodyPr wrap="square" lIns="0" tIns="0" rIns="0" bIns="0" rtlCol="0" anchor="ctr"/>
              <a:lstStyle/>
              <a:p>
                <a:pPr indent="0" marL="0">
                  <a:buNone/>
                </a:pPr>
                <a:r>
                  <a:rPr lang="en-US" sz="1400" dirty="0">
                    <a:solidFill>
                      <a:schemeClr val="tx1"/>
                    </a:solidFill>
                  </a:rPr>
                  <a:t>RH표면 = 45 × 24.8 / 14.0 ≈ 80%</a:t>
                </a:r>
                <a:endParaRPr lang="en-US" sz="1400" dirty="0"/>
              </a:p>
            </p:txBody>
          </p:sp>
        </mc:Fallback>
      </mc:AlternateContent>
      <p:sp>
        <p:nvSpPr>
          <p:cNvPr id="26" name="Text 23"/>
          <p:cNvSpPr txBox="1"/>
          <p:nvPr/>
        </p:nvSpPr>
        <p:spPr>
          <a:xfrm>
            <a:off x="6812280" y="1371600"/>
            <a:ext cx="4846320" cy="292608"/>
          </a:xfrm>
          <a:prstGeom prst="rect">
            <a:avLst/>
          </a:prstGeom>
          <a:noFill/>
          <a:ln/>
        </p:spPr>
        <p:txBody>
          <a:bodyPr wrap="square" lIns="0" tIns="0" rIns="0" bIns="0" rtlCol="0" anchor="t"/>
          <a:lstStyle/>
          <a:p>
            <a:pPr marL="0" indent="0">
              <a:buNone/>
            </a:pPr>
            <a:r>
              <a:rPr lang="en-US" sz="1500" b="1" dirty="0">
                <a:solidFill>
                  <a:schemeClr val="tx1"/>
                </a:solidFill>
              </a:rPr>
              <a:t>판단 규칙</a:t>
            </a:r>
            <a:endParaRPr lang="en-US" sz="1500" dirty="0"/>
          </a:p>
        </p:txBody>
      </p:sp>
      <p:sp>
        <p:nvSpPr>
          <p:cNvPr id="27" name="Shape 24"/>
          <p:cNvSpPr/>
          <p:nvPr/>
        </p:nvSpPr>
        <p:spPr>
          <a:xfrm>
            <a:off x="6812280" y="1810512"/>
            <a:ext cx="365760" cy="365760"/>
          </a:xfrm>
          <a:prstGeom prst="ellipse">
            <a:avLst/>
          </a:prstGeom>
          <a:solidFill>
            <a:schemeClr val="accent1"/>
          </a:solidFill>
          <a:ln w="12700">
            <a:solidFill>
              <a:srgbClr val="0066CC"/>
            </a:solidFill>
            <a:prstDash val="solid"/>
          </a:ln>
        </p:spPr>
      </p:sp>
      <p:pic>
        <p:nvPicPr>
          <p:cNvPr id="28" name="Image 1" descr="shield"/>
          <p:cNvPicPr>
            <a:picLocks noChangeAspect="1"/>
          </p:cNvPicPr>
          <p:nvPr/>
        </p:nvPicPr>
        <p:blipFill>
          <a:blip r:embed="rId4"/>
          <a:stretch>
            <a:fillRect/>
          </a:stretch>
        </p:blipFill>
        <p:spPr>
          <a:xfrm>
            <a:off x="6892747" y="1890979"/>
            <a:ext cx="204826" cy="204826"/>
          </a:xfrm>
          <a:prstGeom prst="rect">
            <a:avLst/>
          </a:prstGeom>
        </p:spPr>
      </p:pic>
      <p:sp>
        <p:nvSpPr>
          <p:cNvPr id="29" name="Text 25"/>
          <p:cNvSpPr txBox="1"/>
          <p:nvPr/>
        </p:nvSpPr>
        <p:spPr>
          <a:xfrm>
            <a:off x="7360920" y="1773936"/>
            <a:ext cx="4297680" cy="512064"/>
          </a:xfrm>
          <a:prstGeom prst="rect">
            <a:avLst/>
          </a:prstGeom>
          <a:noFill/>
          <a:ln/>
        </p:spPr>
        <p:txBody>
          <a:bodyPr wrap="square" lIns="0" tIns="0" rIns="0" bIns="0" rtlCol="0" anchor="t"/>
          <a:lstStyle/>
          <a:p>
            <a:pPr marL="0" indent="0">
              <a:buNone/>
            </a:pPr>
            <a:r>
              <a:rPr lang="en-US" sz="1300" b="1" dirty="0">
                <a:solidFill>
                  <a:schemeClr val="tx1"/>
                </a:solidFill>
              </a:rPr>
              <a:t>A 곰팡이 방어</a:t>
            </a:r>
            <a:endParaRPr lang="en-US" sz="1300" dirty="0"/>
          </a:p>
          <a:p>
            <a:pPr marL="0" indent="0">
              <a:buNone/>
            </a:pPr>
            <a:r>
              <a:rPr lang="en-US" sz="1200" dirty="0">
                <a:solidFill>
                  <a:schemeClr val="tx1"/>
                </a:solidFill>
              </a:rPr>
              <a:t>벽 표면 75%에서 가습 정지, 70% 미만에서만 재개함</a:t>
            </a:r>
            <a:endParaRPr lang="en-US" sz="1300" dirty="0"/>
          </a:p>
        </p:txBody>
      </p:sp>
      <p:sp>
        <p:nvSpPr>
          <p:cNvPr id="30" name="Shape 26"/>
          <p:cNvSpPr/>
          <p:nvPr/>
        </p:nvSpPr>
        <p:spPr>
          <a:xfrm>
            <a:off x="6812280" y="2359152"/>
            <a:ext cx="365760" cy="365760"/>
          </a:xfrm>
          <a:prstGeom prst="ellipse">
            <a:avLst/>
          </a:prstGeom>
          <a:solidFill>
            <a:schemeClr val="accent1"/>
          </a:solidFill>
          <a:ln w="12700">
            <a:solidFill>
              <a:srgbClr val="0066CC"/>
            </a:solidFill>
            <a:prstDash val="solid"/>
          </a:ln>
        </p:spPr>
      </p:sp>
      <p:pic>
        <p:nvPicPr>
          <p:cNvPr id="31" name="Image 2" descr="droplet"/>
          <p:cNvPicPr>
            <a:picLocks noChangeAspect="1"/>
          </p:cNvPicPr>
          <p:nvPr/>
        </p:nvPicPr>
        <p:blipFill>
          <a:blip r:embed="rId5"/>
          <a:stretch>
            <a:fillRect/>
          </a:stretch>
        </p:blipFill>
        <p:spPr>
          <a:xfrm>
            <a:off x="6892747" y="2439619"/>
            <a:ext cx="204826" cy="204826"/>
          </a:xfrm>
          <a:prstGeom prst="rect">
            <a:avLst/>
          </a:prstGeom>
        </p:spPr>
      </p:pic>
      <p:sp>
        <p:nvSpPr>
          <p:cNvPr id="32" name="Text 27"/>
          <p:cNvSpPr txBox="1"/>
          <p:nvPr/>
        </p:nvSpPr>
        <p:spPr>
          <a:xfrm>
            <a:off x="7360920" y="2322576"/>
            <a:ext cx="4297680" cy="512064"/>
          </a:xfrm>
          <a:prstGeom prst="rect">
            <a:avLst/>
          </a:prstGeom>
          <a:noFill/>
          <a:ln/>
        </p:spPr>
        <p:txBody>
          <a:bodyPr wrap="square" lIns="0" tIns="0" rIns="0" bIns="0" rtlCol="0" anchor="t"/>
          <a:lstStyle/>
          <a:p>
            <a:pPr marL="0" indent="0">
              <a:buNone/>
            </a:pPr>
            <a:r>
              <a:rPr lang="en-US" sz="1300" b="1" dirty="0">
                <a:solidFill>
                  <a:schemeClr val="tx1"/>
                </a:solidFill>
              </a:rPr>
              <a:t>B 점막 방어</a:t>
            </a:r>
            <a:endParaRPr lang="en-US" sz="1300" dirty="0"/>
          </a:p>
          <a:p>
            <a:pPr marL="0" indent="0">
              <a:buNone/>
            </a:pPr>
            <a:r>
              <a:rPr lang="en-US" sz="1200" dirty="0">
                <a:solidFill>
                  <a:schemeClr val="tx1"/>
                </a:solidFill>
              </a:rPr>
              <a:t>절대습도 6.5 g/㎥ 미만이면 가습, 8 g/㎥에서 정지함</a:t>
            </a:r>
            <a:endParaRPr lang="en-US" sz="1300" dirty="0"/>
          </a:p>
        </p:txBody>
      </p:sp>
      <p:sp>
        <p:nvSpPr>
          <p:cNvPr id="33" name="Shape 28"/>
          <p:cNvSpPr/>
          <p:nvPr/>
        </p:nvSpPr>
        <p:spPr>
          <a:xfrm>
            <a:off x="6812280" y="2907792"/>
            <a:ext cx="365760" cy="365760"/>
          </a:xfrm>
          <a:prstGeom prst="ellipse">
            <a:avLst/>
          </a:prstGeom>
          <a:solidFill>
            <a:schemeClr val="accent1"/>
          </a:solidFill>
          <a:ln w="12700">
            <a:solidFill>
              <a:srgbClr val="0066CC"/>
            </a:solidFill>
            <a:prstDash val="solid"/>
          </a:ln>
        </p:spPr>
      </p:sp>
      <p:pic>
        <p:nvPicPr>
          <p:cNvPr id="34" name="Image 3" descr="fan"/>
          <p:cNvPicPr>
            <a:picLocks noChangeAspect="1"/>
          </p:cNvPicPr>
          <p:nvPr/>
        </p:nvPicPr>
        <p:blipFill>
          <a:blip r:embed="rId6"/>
          <a:stretch>
            <a:fillRect/>
          </a:stretch>
        </p:blipFill>
        <p:spPr>
          <a:xfrm>
            <a:off x="6892747" y="2988259"/>
            <a:ext cx="204826" cy="204826"/>
          </a:xfrm>
          <a:prstGeom prst="rect">
            <a:avLst/>
          </a:prstGeom>
        </p:spPr>
      </p:pic>
      <p:sp>
        <p:nvSpPr>
          <p:cNvPr id="35" name="Text 29"/>
          <p:cNvSpPr txBox="1"/>
          <p:nvPr/>
        </p:nvSpPr>
        <p:spPr>
          <a:xfrm>
            <a:off x="7360920" y="2871216"/>
            <a:ext cx="4297680" cy="512064"/>
          </a:xfrm>
          <a:prstGeom prst="rect">
            <a:avLst/>
          </a:prstGeom>
          <a:noFill/>
          <a:ln/>
        </p:spPr>
        <p:txBody>
          <a:bodyPr wrap="square" lIns="0" tIns="0" rIns="0" bIns="0" rtlCol="0" anchor="t"/>
          <a:lstStyle/>
          <a:p>
            <a:pPr marL="0" indent="0">
              <a:buNone/>
            </a:pPr>
            <a:r>
              <a:rPr lang="en-US" sz="1300" b="1" dirty="0">
                <a:solidFill>
                  <a:schemeClr val="tx1"/>
                </a:solidFill>
              </a:rPr>
              <a:t>선풍기 개입</a:t>
            </a:r>
            <a:endParaRPr lang="en-US" sz="1300" dirty="0"/>
          </a:p>
          <a:p>
            <a:pPr marL="0" indent="0">
              <a:buNone/>
            </a:pPr>
            <a:r>
              <a:rPr lang="en-US" sz="1200" dirty="0">
                <a:solidFill>
                  <a:schemeClr val="tx1"/>
                </a:solidFill>
              </a:rPr>
              <a:t>가습을 멈춰도 75% 이상이면 선풍기로 벽 표면을 데움</a:t>
            </a:r>
            <a:endParaRPr lang="en-US" sz="1300" dirty="0"/>
          </a:p>
        </p:txBody>
      </p:sp>
      <p:sp>
        <p:nvSpPr>
          <p:cNvPr id="36" name="Shape 30"/>
          <p:cNvSpPr/>
          <p:nvPr/>
        </p:nvSpPr>
        <p:spPr>
          <a:xfrm>
            <a:off x="6812280" y="3456432"/>
            <a:ext cx="365760" cy="365760"/>
          </a:xfrm>
          <a:prstGeom prst="ellipse">
            <a:avLst/>
          </a:prstGeom>
          <a:solidFill>
            <a:schemeClr val="accent1"/>
          </a:solidFill>
          <a:ln w="12700">
            <a:solidFill>
              <a:srgbClr val="0066CC"/>
            </a:solidFill>
            <a:prstDash val="solid"/>
          </a:ln>
        </p:spPr>
      </p:sp>
      <p:pic>
        <p:nvPicPr>
          <p:cNvPr id="37" name="Image 4" descr="brain"/>
          <p:cNvPicPr>
            <a:picLocks noChangeAspect="1"/>
          </p:cNvPicPr>
          <p:nvPr/>
        </p:nvPicPr>
        <p:blipFill>
          <a:blip r:embed="rId7"/>
          <a:stretch>
            <a:fillRect/>
          </a:stretch>
        </p:blipFill>
        <p:spPr>
          <a:xfrm>
            <a:off x="6892747" y="3536899"/>
            <a:ext cx="204826" cy="204826"/>
          </a:xfrm>
          <a:prstGeom prst="rect">
            <a:avLst/>
          </a:prstGeom>
        </p:spPr>
      </p:pic>
      <p:sp>
        <p:nvSpPr>
          <p:cNvPr id="38" name="Text 31"/>
          <p:cNvSpPr txBox="1"/>
          <p:nvPr/>
        </p:nvSpPr>
        <p:spPr>
          <a:xfrm>
            <a:off x="7360920" y="3419856"/>
            <a:ext cx="4297680" cy="512064"/>
          </a:xfrm>
          <a:prstGeom prst="rect">
            <a:avLst/>
          </a:prstGeom>
          <a:noFill/>
          <a:ln/>
        </p:spPr>
        <p:txBody>
          <a:bodyPr wrap="square" lIns="0" tIns="0" rIns="0" bIns="0" rtlCol="0" anchor="t"/>
          <a:lstStyle/>
          <a:p>
            <a:pPr marL="0" indent="0">
              <a:buNone/>
            </a:pPr>
            <a:r>
              <a:rPr lang="en-US" sz="1300" b="1" dirty="0">
                <a:solidFill>
                  <a:schemeClr val="tx1"/>
                </a:solidFill>
              </a:rPr>
              <a:t>E 학습</a:t>
            </a:r>
            <a:endParaRPr lang="en-US" sz="1300" dirty="0"/>
          </a:p>
          <a:p>
            <a:pPr marL="0" indent="0">
              <a:buNone/>
            </a:pPr>
            <a:r>
              <a:rPr lang="en-US" sz="1200" dirty="0">
                <a:solidFill>
                  <a:schemeClr val="tx1"/>
                </a:solidFill>
              </a:rPr>
              <a:t>선풍기 효과(시연 +2.8℃)를 재서 끄는 시점을 판단함</a:t>
            </a:r>
            <a:endParaRPr lang="en-US" sz="1300" dirty="0"/>
          </a:p>
        </p:txBody>
      </p:sp>
      <p:sp>
        <p:nvSpPr>
          <p:cNvPr id="39" name="Shape 32"/>
          <p:cNvSpPr/>
          <p:nvPr/>
        </p:nvSpPr>
        <p:spPr>
          <a:xfrm>
            <a:off x="6812280" y="4005072"/>
            <a:ext cx="365760" cy="365760"/>
          </a:xfrm>
          <a:prstGeom prst="ellipse">
            <a:avLst/>
          </a:prstGeom>
          <a:solidFill>
            <a:schemeClr val="accent1"/>
          </a:solidFill>
          <a:ln w="12700">
            <a:solidFill>
              <a:srgbClr val="0066CC"/>
            </a:solidFill>
            <a:prstDash val="solid"/>
          </a:ln>
        </p:spPr>
      </p:sp>
      <p:pic>
        <p:nvPicPr>
          <p:cNvPr id="40" name="Image 5" descr="chart"/>
          <p:cNvPicPr>
            <a:picLocks noChangeAspect="1"/>
          </p:cNvPicPr>
          <p:nvPr/>
        </p:nvPicPr>
        <p:blipFill>
          <a:blip r:embed="rId8"/>
          <a:stretch>
            <a:fillRect/>
          </a:stretch>
        </p:blipFill>
        <p:spPr>
          <a:xfrm>
            <a:off x="6892747" y="4085539"/>
            <a:ext cx="204826" cy="204826"/>
          </a:xfrm>
          <a:prstGeom prst="rect">
            <a:avLst/>
          </a:prstGeom>
        </p:spPr>
      </p:pic>
      <p:sp>
        <p:nvSpPr>
          <p:cNvPr id="41" name="Text 33"/>
          <p:cNvSpPr txBox="1"/>
          <p:nvPr/>
        </p:nvSpPr>
        <p:spPr>
          <a:xfrm>
            <a:off x="7360920" y="3968496"/>
            <a:ext cx="4297680" cy="512064"/>
          </a:xfrm>
          <a:prstGeom prst="rect">
            <a:avLst/>
          </a:prstGeom>
          <a:noFill/>
          <a:ln/>
        </p:spPr>
        <p:txBody>
          <a:bodyPr wrap="square" lIns="0" tIns="0" rIns="0" bIns="0" rtlCol="0" anchor="t"/>
          <a:lstStyle/>
          <a:p>
            <a:pPr marL="0" indent="0">
              <a:buNone/>
            </a:pPr>
            <a:r>
              <a:rPr lang="en-US" sz="1300" b="1" dirty="0">
                <a:solidFill>
                  <a:schemeClr val="tx1"/>
                </a:solidFill>
              </a:rPr>
              <a:t>E 예측</a:t>
            </a:r>
            <a:endParaRPr lang="en-US" sz="1300" dirty="0"/>
          </a:p>
          <a:p>
            <a:pPr marL="0" indent="0">
              <a:buNone/>
            </a:pPr>
            <a:r>
              <a:rPr lang="en-US" sz="1200" dirty="0">
                <a:solidFill>
                  <a:schemeClr val="tx1"/>
                </a:solidFill>
              </a:rPr>
              <a:t>벽 온도 추세로 임계 80%까지 남은 시간을 계산함</a:t>
            </a:r>
            <a:endParaRPr lang="en-US" sz="1300" dirty="0"/>
          </a:p>
        </p:txBody>
      </p:sp>
      <p:sp>
        <p:nvSpPr>
          <p:cNvPr id="42" name="Shape 34"/>
          <p:cNvSpPr/>
          <p:nvPr/>
        </p:nvSpPr>
        <p:spPr>
          <a:xfrm>
            <a:off x="6812280" y="4553712"/>
            <a:ext cx="365760" cy="365760"/>
          </a:xfrm>
          <a:prstGeom prst="ellipse">
            <a:avLst/>
          </a:prstGeom>
          <a:solidFill>
            <a:schemeClr val="accent1"/>
          </a:solidFill>
          <a:ln w="12700">
            <a:solidFill>
              <a:srgbClr val="0066CC"/>
            </a:solidFill>
            <a:prstDash val="solid"/>
          </a:ln>
        </p:spPr>
      </p:sp>
      <p:pic>
        <p:nvPicPr>
          <p:cNvPr id="43" name="Image 6" descr="join"/>
          <p:cNvPicPr>
            <a:picLocks noChangeAspect="1"/>
          </p:cNvPicPr>
          <p:nvPr/>
        </p:nvPicPr>
        <p:blipFill>
          <a:blip r:embed="rId9"/>
          <a:stretch>
            <a:fillRect/>
          </a:stretch>
        </p:blipFill>
        <p:spPr>
          <a:xfrm>
            <a:off x="6892747" y="4634179"/>
            <a:ext cx="204826" cy="204826"/>
          </a:xfrm>
          <a:prstGeom prst="rect">
            <a:avLst/>
          </a:prstGeom>
        </p:spPr>
      </p:pic>
      <p:sp>
        <p:nvSpPr>
          <p:cNvPr id="44" name="Text 35"/>
          <p:cNvSpPr txBox="1"/>
          <p:nvPr/>
        </p:nvSpPr>
        <p:spPr>
          <a:xfrm>
            <a:off x="7360920" y="4517136"/>
            <a:ext cx="4297680" cy="512064"/>
          </a:xfrm>
          <a:prstGeom prst="rect">
            <a:avLst/>
          </a:prstGeom>
          <a:noFill/>
          <a:ln/>
        </p:spPr>
        <p:txBody>
          <a:bodyPr wrap="square" lIns="0" tIns="0" rIns="0" bIns="0" rtlCol="0" anchor="t"/>
          <a:lstStyle/>
          <a:p>
            <a:pPr marL="0" indent="0">
              <a:buNone/>
            </a:pPr>
            <a:r>
              <a:rPr lang="en-US" sz="1300" b="1" dirty="0">
                <a:solidFill>
                  <a:schemeClr val="tx1"/>
                </a:solidFill>
              </a:rPr>
              <a:t>동시 가동</a:t>
            </a:r>
            <a:endParaRPr lang="en-US" sz="1300" dirty="0"/>
          </a:p>
          <a:p>
            <a:pPr marL="0" indent="0">
              <a:buNone/>
            </a:pPr>
            <a:r>
              <a:rPr lang="en-US" sz="1200" dirty="0">
                <a:solidFill>
                  <a:schemeClr val="tx1"/>
                </a:solidFill>
              </a:rPr>
              <a:t>선풍기로 넓힌 구간에서 켠 채 가습해 ②, ③을 함께 지킴</a:t>
            </a:r>
            <a:endParaRPr lang="en-US" sz="1300" dirty="0"/>
          </a:p>
        </p:txBody>
      </p:sp>
      <p:sp>
        <p:nvSpPr>
          <p:cNvPr id="45" name="Shape 36"/>
          <p:cNvSpPr/>
          <p:nvPr/>
        </p:nvSpPr>
        <p:spPr>
          <a:xfrm>
            <a:off x="6812280" y="5102352"/>
            <a:ext cx="365760" cy="365760"/>
          </a:xfrm>
          <a:prstGeom prst="ellipse">
            <a:avLst/>
          </a:prstGeom>
          <a:solidFill>
            <a:schemeClr val="accent1"/>
          </a:solidFill>
          <a:ln w="12700">
            <a:solidFill>
              <a:srgbClr val="0066CC"/>
            </a:solidFill>
            <a:prstDash val="solid"/>
          </a:ln>
        </p:spPr>
      </p:sp>
      <p:pic>
        <p:nvPicPr>
          <p:cNvPr id="46" name="Image 7" descr="user"/>
          <p:cNvPicPr>
            <a:picLocks noChangeAspect="1"/>
          </p:cNvPicPr>
          <p:nvPr/>
        </p:nvPicPr>
        <p:blipFill>
          <a:blip r:embed="rId10"/>
          <a:stretch>
            <a:fillRect/>
          </a:stretch>
        </p:blipFill>
        <p:spPr>
          <a:xfrm>
            <a:off x="6892747" y="5182819"/>
            <a:ext cx="204826" cy="204826"/>
          </a:xfrm>
          <a:prstGeom prst="rect">
            <a:avLst/>
          </a:prstGeom>
        </p:spPr>
      </p:pic>
      <p:sp>
        <p:nvSpPr>
          <p:cNvPr id="47" name="Text 37"/>
          <p:cNvSpPr txBox="1"/>
          <p:nvPr/>
        </p:nvSpPr>
        <p:spPr>
          <a:xfrm>
            <a:off x="7360920" y="5065776"/>
            <a:ext cx="4297680" cy="512064"/>
          </a:xfrm>
          <a:prstGeom prst="rect">
            <a:avLst/>
          </a:prstGeom>
          <a:noFill/>
          <a:ln/>
        </p:spPr>
        <p:txBody>
          <a:bodyPr wrap="square" lIns="0" tIns="0" rIns="0" bIns="0" rtlCol="0" anchor="t"/>
          <a:lstStyle/>
          <a:p>
            <a:pPr marL="0" indent="0">
              <a:buNone/>
            </a:pPr>
            <a:r>
              <a:rPr lang="en-US" sz="1300" b="1" dirty="0">
                <a:solidFill>
                  <a:schemeClr val="tx1"/>
                </a:solidFill>
              </a:rPr>
              <a:t>사용자 우선</a:t>
            </a:r>
            <a:endParaRPr lang="en-US" sz="1300" dirty="0"/>
          </a:p>
          <a:p>
            <a:pPr marL="0" indent="0">
              <a:buNone/>
            </a:pPr>
            <a:r>
              <a:rPr lang="en-US" sz="1200" dirty="0">
                <a:solidFill>
                  <a:schemeClr val="tx1"/>
                </a:solidFill>
              </a:rPr>
              <a:t>앱 조작은 30분 존중, 벽 표면 80%를 넘으면 방어를 우선함</a:t>
            </a:r>
            <a:endParaRPr lang="en-US" sz="1300" dirty="0"/>
          </a:p>
        </p:txBody>
      </p:sp>
      <p:sp>
        <p:nvSpPr>
          <p:cNvPr id="48" name="Shape 38"/>
          <p:cNvSpPr/>
          <p:nvPr/>
        </p:nvSpPr>
        <p:spPr>
          <a:xfrm>
            <a:off x="6812280" y="5650992"/>
            <a:ext cx="365760" cy="365760"/>
          </a:xfrm>
          <a:prstGeom prst="ellipse">
            <a:avLst/>
          </a:prstGeom>
          <a:solidFill>
            <a:schemeClr val="accent1"/>
          </a:solidFill>
          <a:ln w="12700">
            <a:solidFill>
              <a:srgbClr val="0066CC"/>
            </a:solidFill>
            <a:prstDash val="solid"/>
          </a:ln>
        </p:spPr>
      </p:sp>
      <p:pic>
        <p:nvPicPr>
          <p:cNvPr id="49" name="Image 8" descr="history"/>
          <p:cNvPicPr>
            <a:picLocks noChangeAspect="1"/>
          </p:cNvPicPr>
          <p:nvPr/>
        </p:nvPicPr>
        <p:blipFill>
          <a:blip r:embed="rId11"/>
          <a:stretch>
            <a:fillRect/>
          </a:stretch>
        </p:blipFill>
        <p:spPr>
          <a:xfrm>
            <a:off x="6892747" y="5731459"/>
            <a:ext cx="204826" cy="204826"/>
          </a:xfrm>
          <a:prstGeom prst="rect">
            <a:avLst/>
          </a:prstGeom>
        </p:spPr>
      </p:pic>
      <p:sp>
        <p:nvSpPr>
          <p:cNvPr id="50" name="Text 39"/>
          <p:cNvSpPr txBox="1"/>
          <p:nvPr/>
        </p:nvSpPr>
        <p:spPr>
          <a:xfrm>
            <a:off x="7360920" y="5614416"/>
            <a:ext cx="4297680" cy="512064"/>
          </a:xfrm>
          <a:prstGeom prst="rect">
            <a:avLst/>
          </a:prstGeom>
          <a:noFill/>
          <a:ln/>
        </p:spPr>
        <p:txBody>
          <a:bodyPr wrap="square" lIns="0" tIns="0" rIns="0" bIns="0" rtlCol="0" anchor="t"/>
          <a:lstStyle/>
          <a:p>
            <a:pPr marL="0" indent="0">
              <a:buNone/>
            </a:pPr>
            <a:r>
              <a:rPr lang="en-US" sz="1300" b="1" dirty="0">
                <a:solidFill>
                  <a:schemeClr val="tx1"/>
                </a:solidFill>
              </a:rPr>
              <a:t>기록</a:t>
            </a:r>
            <a:endParaRPr lang="en-US" sz="1300" dirty="0"/>
          </a:p>
          <a:p>
            <a:pPr marL="0" indent="0">
              <a:buNone/>
            </a:pPr>
            <a:r>
              <a:rPr lang="en-US" sz="1200" dirty="0">
                <a:solidFill>
                  <a:schemeClr val="tx1"/>
                </a:solidFill>
              </a:rPr>
              <a:t>벽 표면 80% 이상인 시간을 누적 위험 시간으로 기록함</a:t>
            </a:r>
            <a:endParaRPr lang="en-US" sz="1300" dirty="0"/>
          </a:p>
        </p:txBody>
      </p:sp>
      <p:sp>
        <p:nvSpPr>
          <p:cNvPr id="51"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92608"/>
          </a:xfrm>
          <a:prstGeom prst="rect">
            <a:avLst/>
          </a:prstGeom>
          <a:noFill/>
          <a:ln/>
        </p:spPr>
        <p:txBody>
          <a:bodyPr wrap="square" lIns="0" tIns="0" rIns="0" bIns="0" rtlCol="0"/>
          <a:lstStyle/>
          <a:p>
            <a:pPr marL="0" indent="0">
              <a:buNone/>
            </a:pPr>
            <a:r>
              <a:rPr lang="en-US" sz="1300" b="1" dirty="0">
                <a:solidFill>
                  <a:schemeClr val="tx1"/>
                </a:solidFill>
              </a:rPr>
              <a:t>시연 내용 ① 시연 구성: 기기 간 연결과 역할</a:t>
            </a:r>
            <a:endParaRPr lang="en-US" sz="1300" dirty="0"/>
          </a:p>
        </p:txBody>
      </p:sp>
      <p:sp>
        <p:nvSpPr>
          <p:cNvPr id="3"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t"/>
          <a:lstStyle/>
          <a:p>
            <a:pPr marL="0" indent="0" algn="l">
              <a:buNone/>
            </a:pPr>
            <a:r>
              <a:rPr lang="en-US" sz="3000" b="1" dirty="0">
                <a:solidFill>
                  <a:schemeClr val="tx1"/>
                </a:solidFill>
              </a:rPr>
              <a:t>기기마다 역할을 나눠 하나의 고리로 동작함</a:t>
            </a:r>
            <a:endParaRPr lang="en-US" sz="3000" dirty="0"/>
          </a:p>
        </p:txBody>
      </p:sp>
      <p:sp>
        <p:nvSpPr>
          <p:cNvPr id="4" name="Text 2"/>
          <p:cNvSpPr txBox="1"/>
          <p:nvPr/>
        </p:nvSpPr>
        <p:spPr>
          <a:xfrm>
            <a:off x="8503920" y="256032"/>
            <a:ext cx="868680" cy="292608"/>
          </a:xfrm>
          <a:prstGeom prst="rect">
            <a:avLst/>
          </a:prstGeom>
          <a:noFill/>
          <a:ln/>
        </p:spPr>
        <p:txBody>
          <a:bodyPr wrap="square" lIns="0" tIns="0" rIns="0" bIns="0" rtlCol="0" anchor="ctr"/>
          <a:lstStyle/>
          <a:p>
            <a:pPr marL="0" indent="0" algn="ctr">
              <a:buNone/>
            </a:pPr>
            <a:r>
              <a:rPr lang="en-US" sz="1150" dirty="0">
                <a:solidFill>
                  <a:schemeClr val="tx1"/>
                </a:solidFill>
              </a:rPr>
              <a:t>핵심 주제</a:t>
            </a:r>
            <a:endParaRPr lang="en-US" sz="1150" dirty="0"/>
          </a:p>
        </p:txBody>
      </p:sp>
      <p:sp>
        <p:nvSpPr>
          <p:cNvPr id="5" name="Text 3"/>
          <p:cNvSpPr txBox="1"/>
          <p:nvPr/>
        </p:nvSpPr>
        <p:spPr>
          <a:xfrm>
            <a:off x="9464040" y="256032"/>
            <a:ext cx="1234440" cy="292608"/>
          </a:xfrm>
          <a:prstGeom prst="rect">
            <a:avLst/>
          </a:prstGeom>
          <a:noFill/>
          <a:ln/>
        </p:spPr>
        <p:txBody>
          <a:bodyPr wrap="square" lIns="0" tIns="0" rIns="0" bIns="0" rtlCol="0" anchor="ctr"/>
          <a:lstStyle/>
          <a:p>
            <a:pPr marL="0" indent="0" algn="ctr">
              <a:buNone/>
            </a:pPr>
            <a:r>
              <a:rPr lang="en-US" sz="1150" dirty="0">
                <a:solidFill>
                  <a:schemeClr val="tx1"/>
                </a:solidFill>
              </a:rPr>
              <a:t>주요 개발 내용</a:t>
            </a:r>
            <a:endParaRPr lang="en-US" sz="1150" dirty="0"/>
          </a:p>
        </p:txBody>
      </p:sp>
      <p:sp>
        <p:nvSpPr>
          <p:cNvPr id="6" name="Shape 4"/>
          <p:cNvSpPr/>
          <p:nvPr/>
        </p:nvSpPr>
        <p:spPr>
          <a:xfrm>
            <a:off x="10789920" y="256032"/>
            <a:ext cx="868680" cy="292608"/>
          </a:xfrm>
          <a:prstGeom prst="roundRect">
            <a:avLst>
              <a:gd name="adj" fmla="val 50000"/>
            </a:avLst>
          </a:prstGeom>
          <a:solidFill>
            <a:srgbClr val="F5F5F7"/>
          </a:solidFill>
          <a:ln w="12700">
            <a:solidFill>
              <a:srgbClr val="0066CC"/>
            </a:solidFill>
            <a:prstDash val="solid"/>
          </a:ln>
        </p:spPr>
      </p:sp>
      <p:sp>
        <p:nvSpPr>
          <p:cNvPr id="7" name="Text 5"/>
          <p:cNvSpPr txBox="1"/>
          <p:nvPr/>
        </p:nvSpPr>
        <p:spPr>
          <a:xfrm>
            <a:off x="10789920" y="256032"/>
            <a:ext cx="868680" cy="292608"/>
          </a:xfrm>
          <a:prstGeom prst="rect">
            <a:avLst/>
          </a:prstGeom>
          <a:noFill/>
          <a:ln/>
        </p:spPr>
        <p:txBody>
          <a:bodyPr wrap="square" lIns="0" tIns="0" rIns="0" bIns="0" rtlCol="0" anchor="ctr"/>
          <a:lstStyle/>
          <a:p>
            <a:pPr marL="0" indent="0" algn="ctr">
              <a:buNone/>
            </a:pPr>
            <a:r>
              <a:rPr lang="en-US" sz="1150" b="1" dirty="0">
                <a:solidFill>
                  <a:schemeClr val="tx1"/>
                </a:solidFill>
              </a:rPr>
              <a:t>시연 내용</a:t>
            </a:r>
            <a:endParaRPr lang="en-US" sz="1150" dirty="0"/>
          </a:p>
        </p:txBody>
      </p:sp>
      <p:sp>
        <p:nvSpPr>
          <p:cNvPr id="8" name="Shape 6"/>
          <p:cNvSpPr/>
          <p:nvPr/>
        </p:nvSpPr>
        <p:spPr>
          <a:xfrm>
            <a:off x="548640" y="1417320"/>
            <a:ext cx="2286000" cy="914400"/>
          </a:xfrm>
          <a:prstGeom prst="roundRect">
            <a:avLst>
              <a:gd name="adj" fmla="val 12000"/>
            </a:avLst>
          </a:prstGeom>
          <a:solidFill>
            <a:schemeClr val="bg2"/>
          </a:solidFill>
          <a:ln w="9525">
            <a:solidFill>
              <a:srgbClr val="E0E0E0"/>
            </a:solidFill>
            <a:prstDash val="solid"/>
          </a:ln>
        </p:spPr>
      </p:sp>
      <p:sp>
        <p:nvSpPr>
          <p:cNvPr id="9" name="Shape 7"/>
          <p:cNvSpPr/>
          <p:nvPr/>
        </p:nvSpPr>
        <p:spPr>
          <a:xfrm>
            <a:off x="694944" y="1664208"/>
            <a:ext cx="420624" cy="420624"/>
          </a:xfrm>
          <a:prstGeom prst="ellipse">
            <a:avLst/>
          </a:prstGeom>
          <a:solidFill>
            <a:schemeClr val="accent1"/>
          </a:solidFill>
          <a:ln w="12700">
            <a:solidFill>
              <a:srgbClr val="0066CC"/>
            </a:solidFill>
            <a:prstDash val="solid"/>
          </a:ln>
        </p:spPr>
      </p:sp>
      <p:pic>
        <p:nvPicPr>
          <p:cNvPr id="10" name="Image 0" descr="laptop"/>
          <p:cNvPicPr>
            <a:picLocks noChangeAspect="1"/>
          </p:cNvPicPr>
          <p:nvPr/>
        </p:nvPicPr>
        <p:blipFill>
          <a:blip r:embed="rId3"/>
          <a:stretch>
            <a:fillRect/>
          </a:stretch>
        </p:blipFill>
        <p:spPr>
          <a:xfrm>
            <a:off x="787481" y="1756745"/>
            <a:ext cx="235549" cy="235549"/>
          </a:xfrm>
          <a:prstGeom prst="rect">
            <a:avLst/>
          </a:prstGeom>
        </p:spPr>
      </p:pic>
      <p:sp>
        <p:nvSpPr>
          <p:cNvPr id="11" name="Text 8"/>
          <p:cNvSpPr txBox="1"/>
          <p:nvPr/>
        </p:nvSpPr>
        <p:spPr>
          <a:xfrm>
            <a:off x="1225296" y="1508760"/>
            <a:ext cx="1536192" cy="731520"/>
          </a:xfrm>
          <a:prstGeom prst="rect">
            <a:avLst/>
          </a:prstGeom>
          <a:noFill/>
          <a:ln/>
        </p:spPr>
        <p:txBody>
          <a:bodyPr wrap="square" lIns="0" tIns="0" rIns="0" bIns="0" rtlCol="0" anchor="ctr"/>
          <a:lstStyle/>
          <a:p>
            <a:pPr marL="0" indent="0">
              <a:buNone/>
            </a:pPr>
            <a:r>
              <a:rPr lang="en-US" sz="1250" b="1" dirty="0">
                <a:solidFill>
                  <a:schemeClr val="tx1"/>
                </a:solidFill>
              </a:rPr>
              <a:t>노트북</a:t>
            </a:r>
            <a:endParaRPr lang="en-US" sz="1250" dirty="0"/>
          </a:p>
          <a:p>
            <a:pPr marL="0" indent="0">
              <a:buNone/>
            </a:pPr>
            <a:r>
              <a:rPr lang="en-US" sz="1100" dirty="0">
                <a:solidFill>
                  <a:schemeClr val="tx1"/>
                </a:solidFill>
              </a:rPr>
              <a:t>가상 침실, 시연 화면</a:t>
            </a:r>
            <a:endParaRPr lang="en-US" sz="1250" dirty="0"/>
          </a:p>
        </p:txBody>
      </p:sp>
      <p:sp>
        <p:nvSpPr>
          <p:cNvPr id="12" name="Shape 9"/>
          <p:cNvSpPr/>
          <p:nvPr/>
        </p:nvSpPr>
        <p:spPr>
          <a:xfrm>
            <a:off x="3493008" y="1417320"/>
            <a:ext cx="2286000" cy="914400"/>
          </a:xfrm>
          <a:prstGeom prst="roundRect">
            <a:avLst>
              <a:gd name="adj" fmla="val 12000"/>
            </a:avLst>
          </a:prstGeom>
          <a:solidFill>
            <a:srgbClr val="FFFFFF"/>
          </a:solidFill>
          <a:ln w="19050">
            <a:solidFill>
              <a:srgbClr val="1D5C45"/>
            </a:solidFill>
            <a:prstDash val="solid"/>
          </a:ln>
        </p:spPr>
      </p:sp>
      <p:sp>
        <p:nvSpPr>
          <p:cNvPr id="13" name="Shape 10"/>
          <p:cNvSpPr/>
          <p:nvPr/>
        </p:nvSpPr>
        <p:spPr>
          <a:xfrm>
            <a:off x="3639312" y="1664208"/>
            <a:ext cx="420624" cy="420624"/>
          </a:xfrm>
          <a:prstGeom prst="ellipse">
            <a:avLst/>
          </a:prstGeom>
          <a:solidFill>
            <a:schemeClr val="accent2"/>
          </a:solidFill>
          <a:ln w="12700">
            <a:solidFill>
              <a:srgbClr val="0066CC"/>
            </a:solidFill>
            <a:prstDash val="solid"/>
          </a:ln>
        </p:spPr>
      </p:sp>
      <p:pic>
        <p:nvPicPr>
          <p:cNvPr id="14" name="Image 1" descr="cpu"/>
          <p:cNvPicPr>
            <a:picLocks noChangeAspect="1"/>
          </p:cNvPicPr>
          <p:nvPr/>
        </p:nvPicPr>
        <p:blipFill>
          <a:blip r:embed="rId4"/>
          <a:stretch>
            <a:fillRect/>
          </a:stretch>
        </p:blipFill>
        <p:spPr>
          <a:xfrm>
            <a:off x="3731849" y="1756745"/>
            <a:ext cx="235549" cy="235549"/>
          </a:xfrm>
          <a:prstGeom prst="rect">
            <a:avLst/>
          </a:prstGeom>
        </p:spPr>
      </p:pic>
      <p:sp>
        <p:nvSpPr>
          <p:cNvPr id="15" name="Text 11"/>
          <p:cNvSpPr txBox="1"/>
          <p:nvPr/>
        </p:nvSpPr>
        <p:spPr>
          <a:xfrm>
            <a:off x="4169664" y="1508760"/>
            <a:ext cx="1536192" cy="731520"/>
          </a:xfrm>
          <a:prstGeom prst="rect">
            <a:avLst/>
          </a:prstGeom>
          <a:noFill/>
          <a:ln/>
        </p:spPr>
        <p:txBody>
          <a:bodyPr wrap="square" lIns="0" tIns="0" rIns="0" bIns="0" rtlCol="0" anchor="ctr"/>
          <a:lstStyle/>
          <a:p>
            <a:pPr marL="0" indent="0">
              <a:buNone/>
            </a:pPr>
            <a:r>
              <a:rPr lang="en-US" sz="1250" b="1" dirty="0">
                <a:solidFill>
                  <a:schemeClr val="tx1"/>
                </a:solidFill>
              </a:rPr>
              <a:t>nRF54LM20 DK</a:t>
            </a:r>
            <a:endParaRPr lang="en-US" sz="1250" dirty="0"/>
          </a:p>
          <a:p>
            <a:pPr marL="0" indent="0">
              <a:buNone/>
            </a:pPr>
            <a:r>
              <a:rPr lang="en-US" sz="1100" dirty="0">
                <a:solidFill>
                  <a:schemeClr val="tx1"/>
                </a:solidFill>
              </a:rPr>
              <a:t>판단 노드, Matter 기기</a:t>
            </a:r>
            <a:endParaRPr lang="en-US" sz="1250" dirty="0"/>
          </a:p>
        </p:txBody>
      </p:sp>
      <p:sp>
        <p:nvSpPr>
          <p:cNvPr id="16" name="Shape 12"/>
          <p:cNvSpPr/>
          <p:nvPr/>
        </p:nvSpPr>
        <p:spPr>
          <a:xfrm>
            <a:off x="6437376" y="1417320"/>
            <a:ext cx="2286000" cy="914400"/>
          </a:xfrm>
          <a:prstGeom prst="roundRect">
            <a:avLst>
              <a:gd name="adj" fmla="val 12000"/>
            </a:avLst>
          </a:prstGeom>
          <a:solidFill>
            <a:schemeClr val="bg2"/>
          </a:solidFill>
          <a:ln w="9525">
            <a:solidFill>
              <a:srgbClr val="E0E0E0"/>
            </a:solidFill>
            <a:prstDash val="solid"/>
          </a:ln>
        </p:spPr>
      </p:sp>
      <p:sp>
        <p:nvSpPr>
          <p:cNvPr id="17" name="Shape 13"/>
          <p:cNvSpPr/>
          <p:nvPr/>
        </p:nvSpPr>
        <p:spPr>
          <a:xfrm>
            <a:off x="6583680" y="1664208"/>
            <a:ext cx="420624" cy="420624"/>
          </a:xfrm>
          <a:prstGeom prst="ellipse">
            <a:avLst/>
          </a:prstGeom>
          <a:solidFill>
            <a:schemeClr val="accent1"/>
          </a:solidFill>
          <a:ln w="12700">
            <a:solidFill>
              <a:srgbClr val="0066CC"/>
            </a:solidFill>
            <a:prstDash val="solid"/>
          </a:ln>
        </p:spPr>
      </p:sp>
      <p:pic>
        <p:nvPicPr>
          <p:cNvPr id="18" name="Image 2" descr="plug"/>
          <p:cNvPicPr>
            <a:picLocks noChangeAspect="1"/>
          </p:cNvPicPr>
          <p:nvPr/>
        </p:nvPicPr>
        <p:blipFill>
          <a:blip r:embed="rId5"/>
          <a:stretch>
            <a:fillRect/>
          </a:stretch>
        </p:blipFill>
        <p:spPr>
          <a:xfrm>
            <a:off x="6676217" y="1756745"/>
            <a:ext cx="235549" cy="235549"/>
          </a:xfrm>
          <a:prstGeom prst="rect">
            <a:avLst/>
          </a:prstGeom>
        </p:spPr>
      </p:pic>
      <p:sp>
        <p:nvSpPr>
          <p:cNvPr id="19" name="Text 14"/>
          <p:cNvSpPr txBox="1"/>
          <p:nvPr/>
        </p:nvSpPr>
        <p:spPr>
          <a:xfrm>
            <a:off x="7114032" y="1508760"/>
            <a:ext cx="1536192" cy="731520"/>
          </a:xfrm>
          <a:prstGeom prst="rect">
            <a:avLst/>
          </a:prstGeom>
          <a:noFill/>
          <a:ln/>
        </p:spPr>
        <p:txBody>
          <a:bodyPr wrap="square" lIns="0" tIns="0" rIns="0" bIns="0" rtlCol="0" anchor="ctr"/>
          <a:lstStyle/>
          <a:p>
            <a:pPr marL="0" indent="0">
              <a:buNone/>
            </a:pPr>
            <a:r>
              <a:rPr lang="en-US" sz="1250" b="1" dirty="0">
                <a:solidFill>
                  <a:schemeClr val="tx1"/>
                </a:solidFill>
              </a:rPr>
              <a:t>2채널 릴레이</a:t>
            </a:r>
            <a:endParaRPr lang="en-US" sz="1250" dirty="0"/>
          </a:p>
          <a:p>
            <a:pPr marL="0" indent="0">
              <a:buNone/>
            </a:pPr>
            <a:r>
              <a:rPr lang="en-US" sz="1100" dirty="0">
                <a:solidFill>
                  <a:schemeClr val="tx1"/>
                </a:solidFill>
              </a:rPr>
              <a:t>가전 전원 개입</a:t>
            </a:r>
            <a:endParaRPr lang="en-US" sz="1250" dirty="0"/>
          </a:p>
        </p:txBody>
      </p:sp>
      <p:sp>
        <p:nvSpPr>
          <p:cNvPr id="20" name="Shape 15"/>
          <p:cNvSpPr/>
          <p:nvPr/>
        </p:nvSpPr>
        <p:spPr>
          <a:xfrm>
            <a:off x="9381744" y="1417320"/>
            <a:ext cx="2286000" cy="914400"/>
          </a:xfrm>
          <a:prstGeom prst="roundRect">
            <a:avLst>
              <a:gd name="adj" fmla="val 12000"/>
            </a:avLst>
          </a:prstGeom>
          <a:solidFill>
            <a:schemeClr val="bg2"/>
          </a:solidFill>
          <a:ln w="9525">
            <a:solidFill>
              <a:srgbClr val="E0E0E0"/>
            </a:solidFill>
            <a:prstDash val="solid"/>
          </a:ln>
        </p:spPr>
      </p:sp>
      <p:sp>
        <p:nvSpPr>
          <p:cNvPr id="21" name="Shape 16"/>
          <p:cNvSpPr/>
          <p:nvPr/>
        </p:nvSpPr>
        <p:spPr>
          <a:xfrm>
            <a:off x="9528048" y="1664208"/>
            <a:ext cx="420624" cy="420624"/>
          </a:xfrm>
          <a:prstGeom prst="ellipse">
            <a:avLst/>
          </a:prstGeom>
          <a:solidFill>
            <a:schemeClr val="accent1"/>
          </a:solidFill>
          <a:ln w="12700">
            <a:solidFill>
              <a:srgbClr val="0066CC"/>
            </a:solidFill>
            <a:prstDash val="solid"/>
          </a:ln>
        </p:spPr>
      </p:sp>
      <p:pic>
        <p:nvPicPr>
          <p:cNvPr id="22" name="Image 3" descr="fan"/>
          <p:cNvPicPr>
            <a:picLocks noChangeAspect="1"/>
          </p:cNvPicPr>
          <p:nvPr/>
        </p:nvPicPr>
        <p:blipFill>
          <a:blip r:embed="rId6"/>
          <a:stretch>
            <a:fillRect/>
          </a:stretch>
        </p:blipFill>
        <p:spPr>
          <a:xfrm>
            <a:off x="9620585" y="1756745"/>
            <a:ext cx="235549" cy="235549"/>
          </a:xfrm>
          <a:prstGeom prst="rect">
            <a:avLst/>
          </a:prstGeom>
        </p:spPr>
      </p:pic>
      <p:sp>
        <p:nvSpPr>
          <p:cNvPr id="23" name="Text 17"/>
          <p:cNvSpPr txBox="1"/>
          <p:nvPr/>
        </p:nvSpPr>
        <p:spPr>
          <a:xfrm>
            <a:off x="10058400" y="1508760"/>
            <a:ext cx="1536192" cy="731520"/>
          </a:xfrm>
          <a:prstGeom prst="rect">
            <a:avLst/>
          </a:prstGeom>
          <a:noFill/>
          <a:ln/>
        </p:spPr>
        <p:txBody>
          <a:bodyPr wrap="square" lIns="0" tIns="0" rIns="0" bIns="0" rtlCol="0" anchor="ctr"/>
          <a:lstStyle/>
          <a:p>
            <a:pPr marL="0" indent="0">
              <a:buNone/>
            </a:pPr>
            <a:r>
              <a:rPr lang="en-US" sz="1250" b="1" dirty="0">
                <a:solidFill>
                  <a:schemeClr val="tx1"/>
                </a:solidFill>
              </a:rPr>
              <a:t>선풍기, 가습기</a:t>
            </a:r>
            <a:endParaRPr lang="en-US" sz="1250" dirty="0"/>
          </a:p>
          <a:p>
            <a:pPr marL="0" indent="0">
              <a:buNone/>
            </a:pPr>
            <a:r>
              <a:rPr lang="en-US" sz="1100" dirty="0">
                <a:solidFill>
                  <a:schemeClr val="tx1"/>
                </a:solidFill>
              </a:rPr>
              <a:t>벽 데움, 가습</a:t>
            </a:r>
            <a:endParaRPr lang="en-US" sz="1250" dirty="0"/>
          </a:p>
        </p:txBody>
      </p:sp>
      <p:sp>
        <p:nvSpPr>
          <p:cNvPr id="24" name="Shape 18"/>
          <p:cNvSpPr/>
          <p:nvPr/>
        </p:nvSpPr>
        <p:spPr>
          <a:xfrm>
            <a:off x="548640" y="2788920"/>
            <a:ext cx="2286000" cy="914400"/>
          </a:xfrm>
          <a:prstGeom prst="roundRect">
            <a:avLst>
              <a:gd name="adj" fmla="val 12000"/>
            </a:avLst>
          </a:prstGeom>
          <a:solidFill>
            <a:srgbClr val="FFFFFF"/>
          </a:solidFill>
          <a:ln w="12700">
            <a:solidFill>
              <a:srgbClr val="8E8E93"/>
            </a:solidFill>
            <a:prstDash val="dash"/>
          </a:ln>
        </p:spPr>
      </p:sp>
      <p:sp>
        <p:nvSpPr>
          <p:cNvPr id="25" name="Shape 19"/>
          <p:cNvSpPr/>
          <p:nvPr/>
        </p:nvSpPr>
        <p:spPr>
          <a:xfrm>
            <a:off x="694944" y="3035808"/>
            <a:ext cx="420624" cy="420624"/>
          </a:xfrm>
          <a:prstGeom prst="ellipse">
            <a:avLst/>
          </a:prstGeom>
          <a:solidFill>
            <a:schemeClr val="accent1"/>
          </a:solidFill>
          <a:ln w="12700">
            <a:solidFill>
              <a:srgbClr val="0066CC"/>
            </a:solidFill>
            <a:prstDash val="solid"/>
          </a:ln>
        </p:spPr>
      </p:sp>
      <p:pic>
        <p:nvPicPr>
          <p:cNvPr id="26" name="Image 4" descr="gauge"/>
          <p:cNvPicPr>
            <a:picLocks noChangeAspect="1"/>
          </p:cNvPicPr>
          <p:nvPr/>
        </p:nvPicPr>
        <p:blipFill>
          <a:blip r:embed="rId7"/>
          <a:stretch>
            <a:fillRect/>
          </a:stretch>
        </p:blipFill>
        <p:spPr>
          <a:xfrm>
            <a:off x="787481" y="3128345"/>
            <a:ext cx="235549" cy="235549"/>
          </a:xfrm>
          <a:prstGeom prst="rect">
            <a:avLst/>
          </a:prstGeom>
        </p:spPr>
      </p:pic>
      <p:sp>
        <p:nvSpPr>
          <p:cNvPr id="27" name="Text 20"/>
          <p:cNvSpPr txBox="1"/>
          <p:nvPr/>
        </p:nvSpPr>
        <p:spPr>
          <a:xfrm>
            <a:off x="1225296" y="2880360"/>
            <a:ext cx="1536192" cy="731520"/>
          </a:xfrm>
          <a:prstGeom prst="rect">
            <a:avLst/>
          </a:prstGeom>
          <a:noFill/>
          <a:ln/>
        </p:spPr>
        <p:txBody>
          <a:bodyPr wrap="square" lIns="0" tIns="0" rIns="0" bIns="0" rtlCol="0" anchor="ctr"/>
          <a:lstStyle/>
          <a:p>
            <a:pPr marL="0" indent="0">
              <a:buNone/>
            </a:pPr>
            <a:r>
              <a:rPr lang="en-US" sz="1250" b="1" dirty="0">
                <a:solidFill>
                  <a:schemeClr val="tx1"/>
                </a:solidFill>
              </a:rPr>
              <a:t>온습도, 벽 온도 센서</a:t>
            </a:r>
            <a:endParaRPr lang="en-US" sz="1250" dirty="0"/>
          </a:p>
          <a:p>
            <a:pPr marL="0" indent="0">
              <a:buNone/>
            </a:pPr>
            <a:r>
              <a:rPr lang="en-US" sz="1100" dirty="0">
                <a:solidFill>
                  <a:schemeClr val="tx1"/>
                </a:solidFill>
              </a:rPr>
              <a:t>실제 제품 구성</a:t>
            </a:r>
            <a:endParaRPr lang="en-US" sz="1250" dirty="0"/>
          </a:p>
        </p:txBody>
      </p:sp>
      <p:sp>
        <p:nvSpPr>
          <p:cNvPr id="28" name="Shape 21"/>
          <p:cNvSpPr/>
          <p:nvPr/>
        </p:nvSpPr>
        <p:spPr>
          <a:xfrm>
            <a:off x="3493008" y="2788920"/>
            <a:ext cx="2286000" cy="914400"/>
          </a:xfrm>
          <a:prstGeom prst="roundRect">
            <a:avLst>
              <a:gd name="adj" fmla="val 12000"/>
            </a:avLst>
          </a:prstGeom>
          <a:solidFill>
            <a:srgbClr val="FFFFFF"/>
          </a:solidFill>
          <a:ln w="19050">
            <a:solidFill>
              <a:srgbClr val="0066CC"/>
            </a:solidFill>
            <a:prstDash val="solid"/>
          </a:ln>
        </p:spPr>
      </p:sp>
      <p:sp>
        <p:nvSpPr>
          <p:cNvPr id="29" name="Shape 22"/>
          <p:cNvSpPr/>
          <p:nvPr/>
        </p:nvSpPr>
        <p:spPr>
          <a:xfrm>
            <a:off x="3639312" y="3035808"/>
            <a:ext cx="420624" cy="420624"/>
          </a:xfrm>
          <a:prstGeom prst="ellipse">
            <a:avLst/>
          </a:prstGeom>
          <a:solidFill>
            <a:schemeClr val="accent1"/>
          </a:solidFill>
          <a:ln w="12700">
            <a:solidFill>
              <a:srgbClr val="0066CC"/>
            </a:solidFill>
            <a:prstDash val="solid"/>
          </a:ln>
        </p:spPr>
      </p:sp>
      <p:pic>
        <p:nvPicPr>
          <p:cNvPr id="30" name="Image 5" descr="router"/>
          <p:cNvPicPr>
            <a:picLocks noChangeAspect="1"/>
          </p:cNvPicPr>
          <p:nvPr/>
        </p:nvPicPr>
        <p:blipFill>
          <a:blip r:embed="rId8"/>
          <a:stretch>
            <a:fillRect/>
          </a:stretch>
        </p:blipFill>
        <p:spPr>
          <a:xfrm>
            <a:off x="3731849" y="3128345"/>
            <a:ext cx="235549" cy="235549"/>
          </a:xfrm>
          <a:prstGeom prst="rect">
            <a:avLst/>
          </a:prstGeom>
        </p:spPr>
      </p:pic>
      <p:sp>
        <p:nvSpPr>
          <p:cNvPr id="31" name="Text 23"/>
          <p:cNvSpPr txBox="1"/>
          <p:nvPr/>
        </p:nvSpPr>
        <p:spPr>
          <a:xfrm>
            <a:off x="4169664" y="2880360"/>
            <a:ext cx="1536192" cy="731520"/>
          </a:xfrm>
          <a:prstGeom prst="rect">
            <a:avLst/>
          </a:prstGeom>
          <a:noFill/>
          <a:ln/>
        </p:spPr>
        <p:txBody>
          <a:bodyPr wrap="square" lIns="0" tIns="0" rIns="0" bIns="0" rtlCol="0" anchor="ctr"/>
          <a:lstStyle/>
          <a:p>
            <a:pPr marL="0" indent="0">
              <a:buNone/>
            </a:pPr>
            <a:r>
              <a:rPr lang="en-US" sz="1250" b="1" dirty="0">
                <a:solidFill>
                  <a:schemeClr val="tx1"/>
                </a:solidFill>
              </a:rPr>
              <a:t>SmartThings Station</a:t>
            </a:r>
            <a:endParaRPr lang="en-US" sz="1250" dirty="0"/>
          </a:p>
          <a:p>
            <a:pPr marL="0" indent="0">
              <a:buNone/>
            </a:pPr>
            <a:r>
              <a:rPr lang="en-US" sz="1100" dirty="0">
                <a:solidFill>
                  <a:schemeClr val="tx1"/>
                </a:solidFill>
              </a:rPr>
              <a:t>Thread 보더 라우터, 허브</a:t>
            </a:r>
            <a:endParaRPr lang="en-US" sz="1250" dirty="0"/>
          </a:p>
        </p:txBody>
      </p:sp>
      <p:sp>
        <p:nvSpPr>
          <p:cNvPr id="32" name="Shape 24"/>
          <p:cNvSpPr/>
          <p:nvPr/>
        </p:nvSpPr>
        <p:spPr>
          <a:xfrm>
            <a:off x="6437376" y="2788920"/>
            <a:ext cx="2286000" cy="914400"/>
          </a:xfrm>
          <a:prstGeom prst="roundRect">
            <a:avLst>
              <a:gd name="adj" fmla="val 12000"/>
            </a:avLst>
          </a:prstGeom>
          <a:solidFill>
            <a:schemeClr val="bg2"/>
          </a:solidFill>
          <a:ln w="9525">
            <a:solidFill>
              <a:srgbClr val="E0E0E0"/>
            </a:solidFill>
            <a:prstDash val="solid"/>
          </a:ln>
        </p:spPr>
      </p:sp>
      <p:sp>
        <p:nvSpPr>
          <p:cNvPr id="33" name="Shape 25"/>
          <p:cNvSpPr/>
          <p:nvPr/>
        </p:nvSpPr>
        <p:spPr>
          <a:xfrm>
            <a:off x="6583680" y="3035808"/>
            <a:ext cx="420624" cy="420624"/>
          </a:xfrm>
          <a:prstGeom prst="ellipse">
            <a:avLst/>
          </a:prstGeom>
          <a:solidFill>
            <a:schemeClr val="accent1"/>
          </a:solidFill>
          <a:ln w="12700">
            <a:solidFill>
              <a:srgbClr val="0066CC"/>
            </a:solidFill>
            <a:prstDash val="solid"/>
          </a:ln>
        </p:spPr>
      </p:sp>
      <p:pic>
        <p:nvPicPr>
          <p:cNvPr id="34" name="Image 6" descr="phone"/>
          <p:cNvPicPr>
            <a:picLocks noChangeAspect="1"/>
          </p:cNvPicPr>
          <p:nvPr/>
        </p:nvPicPr>
        <p:blipFill>
          <a:blip r:embed="rId9"/>
          <a:stretch>
            <a:fillRect/>
          </a:stretch>
        </p:blipFill>
        <p:spPr>
          <a:xfrm>
            <a:off x="6676217" y="3128345"/>
            <a:ext cx="235549" cy="235549"/>
          </a:xfrm>
          <a:prstGeom prst="rect">
            <a:avLst/>
          </a:prstGeom>
        </p:spPr>
      </p:pic>
      <p:sp>
        <p:nvSpPr>
          <p:cNvPr id="35" name="Text 26"/>
          <p:cNvSpPr txBox="1"/>
          <p:nvPr/>
        </p:nvSpPr>
        <p:spPr>
          <a:xfrm>
            <a:off x="7114032" y="2880360"/>
            <a:ext cx="1536192" cy="731520"/>
          </a:xfrm>
          <a:prstGeom prst="rect">
            <a:avLst/>
          </a:prstGeom>
          <a:noFill/>
          <a:ln/>
        </p:spPr>
        <p:txBody>
          <a:bodyPr wrap="square" lIns="0" tIns="0" rIns="0" bIns="0" rtlCol="0" anchor="ctr"/>
          <a:lstStyle/>
          <a:p>
            <a:pPr marL="0" indent="0">
              <a:buNone/>
            </a:pPr>
            <a:r>
              <a:rPr lang="en-US" sz="1250" b="1" dirty="0">
                <a:solidFill>
                  <a:schemeClr val="tx1"/>
                </a:solidFill>
              </a:rPr>
              <a:t>SmartThings 앱</a:t>
            </a:r>
            <a:endParaRPr lang="en-US" sz="1250" dirty="0"/>
          </a:p>
          <a:p>
            <a:pPr marL="0" indent="0">
              <a:buNone/>
            </a:pPr>
            <a:r>
              <a:rPr lang="en-US" sz="1100" dirty="0">
                <a:solidFill>
                  <a:schemeClr val="tx1"/>
                </a:solidFill>
              </a:rPr>
              <a:t>등록, 원격 On/Off</a:t>
            </a:r>
            <a:endParaRPr lang="en-US" sz="1250" dirty="0"/>
          </a:p>
        </p:txBody>
      </p:sp>
      <p:sp>
        <p:nvSpPr>
          <p:cNvPr id="36" name="Shape 27"/>
          <p:cNvSpPr/>
          <p:nvPr/>
        </p:nvSpPr>
        <p:spPr>
          <a:xfrm>
            <a:off x="2871216" y="1874520"/>
            <a:ext cx="585216" cy="0"/>
          </a:xfrm>
          <a:prstGeom prst="line">
            <a:avLst/>
          </a:prstGeom>
          <a:noFill/>
          <a:ln w="25400">
            <a:solidFill>
              <a:srgbClr val="0066CC"/>
            </a:solidFill>
            <a:prstDash val="solid"/>
            <a:headEnd type="triangle"/>
            <a:tailEnd type="triangle"/>
          </a:ln>
        </p:spPr>
      </p:sp>
      <p:sp>
        <p:nvSpPr>
          <p:cNvPr id="37" name="Text 28"/>
          <p:cNvSpPr txBox="1"/>
          <p:nvPr/>
        </p:nvSpPr>
        <p:spPr>
          <a:xfrm>
            <a:off x="2734056" y="1618488"/>
            <a:ext cx="859536" cy="201168"/>
          </a:xfrm>
          <a:prstGeom prst="rect">
            <a:avLst/>
          </a:prstGeom>
          <a:noFill/>
          <a:ln/>
        </p:spPr>
        <p:txBody>
          <a:bodyPr wrap="square" lIns="0" tIns="0" rIns="0" bIns="0" rtlCol="0" anchor="t"/>
          <a:lstStyle/>
          <a:p>
            <a:pPr marL="0" indent="0" algn="ctr">
              <a:buNone/>
            </a:pPr>
            <a:r>
              <a:rPr lang="en-US" sz="1000" b="1" dirty="0">
                <a:solidFill>
                  <a:schemeClr val="tx1"/>
                </a:solidFill>
              </a:rPr>
              <a:t>USB</a:t>
            </a:r>
            <a:endParaRPr lang="en-US" sz="1000" dirty="0"/>
          </a:p>
        </p:txBody>
      </p:sp>
      <p:sp>
        <p:nvSpPr>
          <p:cNvPr id="38" name="Text 29"/>
          <p:cNvSpPr txBox="1"/>
          <p:nvPr/>
        </p:nvSpPr>
        <p:spPr>
          <a:xfrm>
            <a:off x="2642616" y="1929384"/>
            <a:ext cx="1042416" cy="201168"/>
          </a:xfrm>
          <a:prstGeom prst="rect">
            <a:avLst/>
          </a:prstGeom>
          <a:noFill/>
          <a:ln/>
        </p:spPr>
        <p:txBody>
          <a:bodyPr wrap="square" lIns="0" tIns="0" rIns="0" bIns="0" rtlCol="0" anchor="t"/>
          <a:lstStyle/>
          <a:p>
            <a:pPr marL="0" indent="0" algn="ctr">
              <a:buNone/>
            </a:pPr>
            <a:r>
              <a:rPr lang="en-US" sz="950" dirty="0">
                <a:solidFill>
                  <a:schemeClr val="tx1"/>
                </a:solidFill>
              </a:rPr>
              <a:t>0.5초마다</a:t>
            </a:r>
            <a:endParaRPr lang="en-US" sz="950" dirty="0"/>
          </a:p>
        </p:txBody>
      </p:sp>
      <p:sp>
        <p:nvSpPr>
          <p:cNvPr id="39" name="Shape 30"/>
          <p:cNvSpPr/>
          <p:nvPr/>
        </p:nvSpPr>
        <p:spPr>
          <a:xfrm>
            <a:off x="5815584" y="1874520"/>
            <a:ext cx="585216" cy="0"/>
          </a:xfrm>
          <a:prstGeom prst="line">
            <a:avLst/>
          </a:prstGeom>
          <a:noFill/>
          <a:ln w="25400">
            <a:solidFill>
              <a:srgbClr val="8E8E93"/>
            </a:solidFill>
            <a:prstDash val="solid"/>
            <a:tailEnd type="triangle"/>
          </a:ln>
        </p:spPr>
      </p:sp>
      <p:sp>
        <p:nvSpPr>
          <p:cNvPr id="40" name="Text 31"/>
          <p:cNvSpPr txBox="1"/>
          <p:nvPr/>
        </p:nvSpPr>
        <p:spPr>
          <a:xfrm>
            <a:off x="5678424" y="1618488"/>
            <a:ext cx="859536" cy="201168"/>
          </a:xfrm>
          <a:prstGeom prst="rect">
            <a:avLst/>
          </a:prstGeom>
          <a:noFill/>
          <a:ln/>
        </p:spPr>
        <p:txBody>
          <a:bodyPr wrap="square" lIns="0" tIns="0" rIns="0" bIns="0" rtlCol="0" anchor="t"/>
          <a:lstStyle/>
          <a:p>
            <a:pPr marL="0" indent="0" algn="ctr">
              <a:buNone/>
            </a:pPr>
            <a:r>
              <a:rPr lang="en-US" sz="1000" b="1" dirty="0">
                <a:solidFill>
                  <a:schemeClr val="tx1"/>
                </a:solidFill>
              </a:rPr>
              <a:t>GPIO</a:t>
            </a:r>
            <a:endParaRPr lang="en-US" sz="1000" dirty="0"/>
          </a:p>
        </p:txBody>
      </p:sp>
      <p:sp>
        <p:nvSpPr>
          <p:cNvPr id="41" name="Shape 32"/>
          <p:cNvSpPr/>
          <p:nvPr/>
        </p:nvSpPr>
        <p:spPr>
          <a:xfrm>
            <a:off x="8759952" y="1874520"/>
            <a:ext cx="585216" cy="0"/>
          </a:xfrm>
          <a:prstGeom prst="line">
            <a:avLst/>
          </a:prstGeom>
          <a:noFill/>
          <a:ln w="25400">
            <a:solidFill>
              <a:srgbClr val="8E8E93"/>
            </a:solidFill>
            <a:prstDash val="solid"/>
            <a:tailEnd type="triangle"/>
          </a:ln>
        </p:spPr>
      </p:sp>
      <p:sp>
        <p:nvSpPr>
          <p:cNvPr id="42" name="Text 33"/>
          <p:cNvSpPr txBox="1"/>
          <p:nvPr/>
        </p:nvSpPr>
        <p:spPr>
          <a:xfrm>
            <a:off x="8622792" y="1618488"/>
            <a:ext cx="859536" cy="201168"/>
          </a:xfrm>
          <a:prstGeom prst="rect">
            <a:avLst/>
          </a:prstGeom>
          <a:noFill/>
          <a:ln/>
        </p:spPr>
        <p:txBody>
          <a:bodyPr wrap="square" lIns="0" tIns="0" rIns="0" bIns="0" rtlCol="0" anchor="t"/>
          <a:lstStyle/>
          <a:p>
            <a:pPr marL="0" indent="0" algn="ctr">
              <a:buNone/>
            </a:pPr>
            <a:r>
              <a:rPr lang="en-US" sz="1000" b="1" dirty="0">
                <a:solidFill>
                  <a:schemeClr val="tx1"/>
                </a:solidFill>
              </a:rPr>
              <a:t>전원</a:t>
            </a:r>
            <a:endParaRPr lang="en-US" sz="1000" dirty="0"/>
          </a:p>
        </p:txBody>
      </p:sp>
      <p:sp>
        <p:nvSpPr>
          <p:cNvPr id="43" name="Text 34"/>
          <p:cNvSpPr txBox="1"/>
          <p:nvPr/>
        </p:nvSpPr>
        <p:spPr>
          <a:xfrm>
            <a:off x="8531352" y="1929384"/>
            <a:ext cx="1042416" cy="201168"/>
          </a:xfrm>
          <a:prstGeom prst="rect">
            <a:avLst/>
          </a:prstGeom>
          <a:noFill/>
          <a:ln/>
        </p:spPr>
        <p:txBody>
          <a:bodyPr wrap="square" lIns="0" tIns="0" rIns="0" bIns="0" rtlCol="0" anchor="t"/>
          <a:lstStyle/>
          <a:p>
            <a:pPr marL="0" indent="0" algn="ctr">
              <a:buNone/>
            </a:pPr>
            <a:r>
              <a:rPr lang="en-US" sz="950" dirty="0">
                <a:solidFill>
                  <a:schemeClr val="tx1"/>
                </a:solidFill>
              </a:rPr>
              <a:t>CH1, CH2</a:t>
            </a:r>
            <a:endParaRPr lang="en-US" sz="950" dirty="0"/>
          </a:p>
        </p:txBody>
      </p:sp>
      <p:sp>
        <p:nvSpPr>
          <p:cNvPr id="44" name="Shape 35"/>
          <p:cNvSpPr/>
          <p:nvPr/>
        </p:nvSpPr>
        <p:spPr>
          <a:xfrm>
            <a:off x="4636008" y="2368296"/>
            <a:ext cx="0" cy="384048"/>
          </a:xfrm>
          <a:prstGeom prst="line">
            <a:avLst/>
          </a:prstGeom>
          <a:noFill/>
          <a:ln w="25400">
            <a:solidFill>
              <a:srgbClr val="0066CC"/>
            </a:solidFill>
            <a:prstDash val="solid"/>
            <a:headEnd type="triangle"/>
            <a:tailEnd type="triangle"/>
          </a:ln>
        </p:spPr>
      </p:sp>
      <p:sp>
        <p:nvSpPr>
          <p:cNvPr id="45" name="Text 36"/>
          <p:cNvSpPr txBox="1"/>
          <p:nvPr/>
        </p:nvSpPr>
        <p:spPr>
          <a:xfrm>
            <a:off x="4745736" y="2441448"/>
            <a:ext cx="2103120" cy="237744"/>
          </a:xfrm>
          <a:prstGeom prst="rect">
            <a:avLst/>
          </a:prstGeom>
          <a:noFill/>
          <a:ln/>
        </p:spPr>
        <p:txBody>
          <a:bodyPr wrap="square" lIns="0" tIns="0" rIns="0" bIns="0" rtlCol="0" anchor="t"/>
          <a:lstStyle/>
          <a:p>
            <a:pPr marL="0" indent="0">
              <a:buNone/>
            </a:pPr>
            <a:r>
              <a:rPr lang="en-US" sz="1000" b="1" dirty="0">
                <a:solidFill>
                  <a:schemeClr val="tx1"/>
                </a:solidFill>
              </a:rPr>
              <a:t>Thread (Matter 보고, 명령)</a:t>
            </a:r>
            <a:endParaRPr lang="en-US" sz="1000" dirty="0"/>
          </a:p>
        </p:txBody>
      </p:sp>
      <p:sp>
        <p:nvSpPr>
          <p:cNvPr id="46" name="Shape 37"/>
          <p:cNvSpPr/>
          <p:nvPr/>
        </p:nvSpPr>
        <p:spPr>
          <a:xfrm>
            <a:off x="5815584" y="3246120"/>
            <a:ext cx="585216" cy="0"/>
          </a:xfrm>
          <a:prstGeom prst="line">
            <a:avLst/>
          </a:prstGeom>
          <a:noFill/>
          <a:ln w="25400">
            <a:solidFill>
              <a:srgbClr val="8E8E93"/>
            </a:solidFill>
            <a:prstDash val="solid"/>
            <a:headEnd type="triangle"/>
            <a:tailEnd type="triangle"/>
          </a:ln>
        </p:spPr>
      </p:sp>
      <p:sp>
        <p:nvSpPr>
          <p:cNvPr id="47" name="Text 38"/>
          <p:cNvSpPr txBox="1"/>
          <p:nvPr/>
        </p:nvSpPr>
        <p:spPr>
          <a:xfrm>
            <a:off x="5678424" y="2990088"/>
            <a:ext cx="859536" cy="201168"/>
          </a:xfrm>
          <a:prstGeom prst="rect">
            <a:avLst/>
          </a:prstGeom>
          <a:noFill/>
          <a:ln/>
        </p:spPr>
        <p:txBody>
          <a:bodyPr wrap="square" lIns="0" tIns="0" rIns="0" bIns="0" rtlCol="0" anchor="t"/>
          <a:lstStyle/>
          <a:p>
            <a:pPr marL="0" indent="0" algn="ctr">
              <a:buNone/>
            </a:pPr>
            <a:r>
              <a:rPr lang="en-US" sz="1000" b="1" dirty="0">
                <a:solidFill>
                  <a:schemeClr val="tx1"/>
                </a:solidFill>
              </a:rPr>
              <a:t>Wi-Fi</a:t>
            </a:r>
            <a:endParaRPr lang="en-US" sz="1000" dirty="0"/>
          </a:p>
        </p:txBody>
      </p:sp>
      <p:sp>
        <p:nvSpPr>
          <p:cNvPr id="48" name="Text 39"/>
          <p:cNvSpPr txBox="1"/>
          <p:nvPr/>
        </p:nvSpPr>
        <p:spPr>
          <a:xfrm>
            <a:off x="5586984" y="3300984"/>
            <a:ext cx="1042416" cy="201168"/>
          </a:xfrm>
          <a:prstGeom prst="rect">
            <a:avLst/>
          </a:prstGeom>
          <a:noFill/>
          <a:ln/>
        </p:spPr>
        <p:txBody>
          <a:bodyPr wrap="square" lIns="0" tIns="0" rIns="0" bIns="0" rtlCol="0" anchor="t"/>
          <a:lstStyle/>
          <a:p>
            <a:pPr marL="0" indent="0" algn="ctr">
              <a:buNone/>
            </a:pPr>
            <a:r>
              <a:rPr lang="en-US" sz="950" dirty="0">
                <a:solidFill>
                  <a:schemeClr val="tx1"/>
                </a:solidFill>
              </a:rPr>
              <a:t>클라우드</a:t>
            </a:r>
            <a:endParaRPr lang="en-US" sz="950" dirty="0"/>
          </a:p>
        </p:txBody>
      </p:sp>
      <p:sp>
        <p:nvSpPr>
          <p:cNvPr id="49" name="Shape 40"/>
          <p:cNvSpPr/>
          <p:nvPr/>
        </p:nvSpPr>
        <p:spPr>
          <a:xfrm>
            <a:off x="1691640" y="2368296"/>
            <a:ext cx="0" cy="384048"/>
          </a:xfrm>
          <a:prstGeom prst="line">
            <a:avLst/>
          </a:prstGeom>
          <a:noFill/>
          <a:ln w="25400">
            <a:solidFill>
              <a:srgbClr val="8E8E93"/>
            </a:solidFill>
            <a:prstDash val="dash"/>
          </a:ln>
        </p:spPr>
      </p:sp>
      <p:sp>
        <p:nvSpPr>
          <p:cNvPr id="50" name="Text 41"/>
          <p:cNvSpPr txBox="1"/>
          <p:nvPr/>
        </p:nvSpPr>
        <p:spPr>
          <a:xfrm>
            <a:off x="1801368" y="2441448"/>
            <a:ext cx="2011680" cy="237744"/>
          </a:xfrm>
          <a:prstGeom prst="rect">
            <a:avLst/>
          </a:prstGeom>
          <a:noFill/>
          <a:ln/>
        </p:spPr>
        <p:txBody>
          <a:bodyPr wrap="square" lIns="0" tIns="0" rIns="0" bIns="0" rtlCol="0" anchor="t"/>
          <a:lstStyle/>
          <a:p>
            <a:pPr marL="0" indent="0">
              <a:buNone/>
            </a:pPr>
            <a:r>
              <a:rPr lang="en-US" sz="1000" b="1" dirty="0">
                <a:solidFill>
                  <a:schemeClr val="tx1"/>
                </a:solidFill>
              </a:rPr>
              <a:t>시연에서는 노트북이 대신함</a:t>
            </a:r>
            <a:endParaRPr lang="en-US" sz="1000" dirty="0"/>
          </a:p>
        </p:txBody>
      </p:sp>
      <p:sp>
        <p:nvSpPr>
          <p:cNvPr id="51" name="Text 42"/>
          <p:cNvSpPr txBox="1"/>
          <p:nvPr/>
        </p:nvSpPr>
        <p:spPr>
          <a:xfrm>
            <a:off x="9381744" y="2971800"/>
            <a:ext cx="2468880" cy="548640"/>
          </a:xfrm>
          <a:prstGeom prst="rect">
            <a:avLst/>
          </a:prstGeom>
          <a:noFill/>
          <a:ln/>
        </p:spPr>
        <p:txBody>
          <a:bodyPr wrap="square" lIns="0" tIns="0" rIns="0" bIns="0" rtlCol="0" anchor="ctr"/>
          <a:lstStyle/>
          <a:p>
            <a:pPr marL="0" indent="0">
              <a:buNone/>
            </a:pPr>
            <a:r>
              <a:rPr lang="en-US" sz="1050" dirty="0">
                <a:solidFill>
                  <a:schemeClr val="tx1"/>
                </a:solidFill>
              </a:rPr>
              <a:t>실선: 시연에서 실제로 동작하는 연결</a:t>
            </a:r>
            <a:endParaRPr lang="en-US" sz="1050" dirty="0"/>
          </a:p>
          <a:p>
            <a:pPr marL="0" indent="0">
              <a:buNone/>
            </a:pPr>
            <a:r>
              <a:rPr lang="en-US" sz="1050" dirty="0">
                <a:solidFill>
                  <a:schemeClr val="tx1"/>
                </a:solidFill>
              </a:rPr>
              <a:t>점선: 실제 제품에서 센서가 들어갈 자리</a:t>
            </a:r>
            <a:endParaRPr lang="en-US" sz="105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3959352"/>
          <a:ext cx="6400800" cy="2240280"/>
        </p:xfrm>
        <a:graphic>
          <a:graphicData uri="http://schemas.openxmlformats.org/drawingml/2006/table">
            <a:tbl>
              <a:tblPr/>
              <a:tblGrid>
                <a:gridCol w="16916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320040">
                <a:tc>
                  <a:txBody>
                    <a:bodyPr/>
                    <a:lstStyle/>
                    <a:p>
                      <a:pPr marL="0" indent="0" algn="ctr">
                        <a:buNone/>
                      </a:pPr>
                      <a:r>
                        <a:rPr lang="en-US" sz="1100" b="1" dirty="0">
                          <a:solidFill>
                            <a:srgbClr val="000000"/>
                          </a:solidFill>
                          <a:latin typeface="Pretendard" pitchFamily="34" charset="0"/>
                          <a:ea typeface="Pretendard" pitchFamily="34" charset="-122"/>
                          <a:cs typeface="Pretendard" pitchFamily="34" charset="-120"/>
                        </a:rPr>
                        <a:t>기기</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7"/>
                    </a:solidFill>
                  </a:tcPr>
                </a:tc>
                <a:tc>
                  <a:txBody>
                    <a:bodyPr/>
                    <a:lstStyle/>
                    <a:p>
                      <a:pPr marL="0" indent="0" algn="ctr">
                        <a:buNone/>
                      </a:pPr>
                      <a:r>
                        <a:rPr lang="en-US" sz="1100" b="1" dirty="0">
                          <a:solidFill>
                            <a:srgbClr val="000000"/>
                          </a:solidFill>
                          <a:latin typeface="Pretendard" pitchFamily="34" charset="0"/>
                          <a:ea typeface="Pretendard" pitchFamily="34" charset="-122"/>
                          <a:cs typeface="Pretendard" pitchFamily="34" charset="-120"/>
                        </a:rPr>
                        <a:t>맡은 역할</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7"/>
                    </a:solidFill>
                  </a:tcPr>
                </a:tc>
                <a:tc>
                  <a:txBody>
                    <a:bodyPr/>
                    <a:lstStyle/>
                    <a:p>
                      <a:pPr marL="0" indent="0" algn="ctr">
                        <a:buNone/>
                      </a:pPr>
                      <a:r>
                        <a:rPr lang="en-US" sz="1100" b="1" dirty="0">
                          <a:solidFill>
                            <a:srgbClr val="000000"/>
                          </a:solidFill>
                          <a:latin typeface="Pretendard" pitchFamily="34" charset="0"/>
                          <a:ea typeface="Pretendard" pitchFamily="34" charset="-122"/>
                          <a:cs typeface="Pretendard" pitchFamily="34" charset="-120"/>
                        </a:rPr>
                        <a:t>연결</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320040">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노트북</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가상 침실 계산, 시연 화면</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USB 시리얼</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nRF54LM20 DK</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표면 습도 계산, 판단, 릴레이 구동</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USB, GPIO, Thread</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2채널 릴레이</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선풍기, 가습기 전원 개입</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GPIO P1.20, P1.21</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선풍기, 가습기</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벽 데움, 가습 (화면 속 가전)</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릴레이 CH1, CH2</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r h="320040">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SmartThings Station</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Thread 보더 라우터, Matter 허브</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Thread, Wi-Fi</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5"/>
                  </a:ext>
                </a:extLst>
              </a:tr>
              <a:tr h="320040">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SmartThings 앱</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노드 등록, 원격 On/Off</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100" dirty="0">
                          <a:solidFill>
                            <a:srgbClr val="000000"/>
                          </a:solidFill>
                          <a:latin typeface="Pretendard" pitchFamily="34" charset="0"/>
                          <a:ea typeface="Pretendard" pitchFamily="34" charset="-122"/>
                          <a:cs typeface="Pretendard" pitchFamily="34" charset="-120"/>
                        </a:rPr>
                        <a:t>BLE(등록), Wi-Fi</a:t>
                      </a:r>
                      <a:endParaRPr lang="en-US" sz="1100" dirty="0">
                        <a:latin typeface="Pretendard" charset="0"/>
                        <a:ea typeface="Pretendard" charset="0"/>
                        <a:cs typeface="Pretendard" charset="0"/>
                      </a:endParaRPr>
                    </a:p>
                  </a:txBody>
                  <a:tcPr marL="73152" marR="73152"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3" name="Text 43"/>
          <p:cNvSpPr txBox="1"/>
          <p:nvPr/>
        </p:nvSpPr>
        <p:spPr>
          <a:xfrm>
            <a:off x="7178040" y="3959352"/>
            <a:ext cx="4480560" cy="274320"/>
          </a:xfrm>
          <a:prstGeom prst="rect">
            <a:avLst/>
          </a:prstGeom>
          <a:noFill/>
          <a:ln/>
        </p:spPr>
        <p:txBody>
          <a:bodyPr wrap="square" lIns="0" tIns="0" rIns="0" bIns="0" rtlCol="0" anchor="t"/>
          <a:lstStyle/>
          <a:p>
            <a:pPr marL="0" indent="0">
              <a:buNone/>
            </a:pPr>
            <a:r>
              <a:rPr lang="en-US" sz="1300" b="1" dirty="0">
                <a:solidFill>
                  <a:schemeClr val="tx1"/>
                </a:solidFill>
              </a:rPr>
              <a:t>회로: DK ↔ 2채널 릴레이</a:t>
            </a:r>
            <a:endParaRPr lang="en-US" sz="1300" dirty="0"/>
          </a:p>
        </p:txBody>
      </p:sp>
      <p:sp>
        <p:nvSpPr>
          <p:cNvPr id="54" name="Shape 44"/>
          <p:cNvSpPr/>
          <p:nvPr/>
        </p:nvSpPr>
        <p:spPr>
          <a:xfrm>
            <a:off x="7178040" y="4288536"/>
            <a:ext cx="2103120" cy="1938528"/>
          </a:xfrm>
          <a:prstGeom prst="roundRect">
            <a:avLst>
              <a:gd name="adj" fmla="val 4717"/>
            </a:avLst>
          </a:prstGeom>
          <a:solidFill>
            <a:srgbClr val="FFFFFF"/>
          </a:solidFill>
          <a:ln w="19050">
            <a:solidFill>
              <a:srgbClr val="1D5C45"/>
            </a:solidFill>
            <a:prstDash val="solid"/>
          </a:ln>
        </p:spPr>
      </p:sp>
      <p:sp>
        <p:nvSpPr>
          <p:cNvPr id="55" name="Text 45"/>
          <p:cNvSpPr txBox="1"/>
          <p:nvPr/>
        </p:nvSpPr>
        <p:spPr>
          <a:xfrm>
            <a:off x="7296912" y="4370832"/>
            <a:ext cx="1554480" cy="256032"/>
          </a:xfrm>
          <a:prstGeom prst="rect">
            <a:avLst/>
          </a:prstGeom>
          <a:noFill/>
          <a:ln/>
        </p:spPr>
        <p:txBody>
          <a:bodyPr wrap="square" lIns="0" tIns="0" rIns="0" bIns="0" rtlCol="0" anchor="t"/>
          <a:lstStyle/>
          <a:p>
            <a:pPr marL="0" indent="0">
              <a:buNone/>
            </a:pPr>
            <a:r>
              <a:rPr lang="en-US" sz="1200" b="1" dirty="0">
                <a:solidFill>
                  <a:schemeClr val="tx1"/>
                </a:solidFill>
              </a:rPr>
              <a:t>nRF54LM20 DK</a:t>
            </a:r>
            <a:endParaRPr lang="en-US" sz="1200" dirty="0"/>
          </a:p>
        </p:txBody>
      </p:sp>
      <p:pic>
        <p:nvPicPr>
          <p:cNvPr id="56" name="Image 7" descr="DK"/>
          <p:cNvPicPr>
            <a:picLocks noChangeAspect="1"/>
          </p:cNvPicPr>
          <p:nvPr/>
        </p:nvPicPr>
        <p:blipFill>
          <a:blip r:embed="rId10"/>
          <a:stretch>
            <a:fillRect/>
          </a:stretch>
        </p:blipFill>
        <p:spPr>
          <a:xfrm>
            <a:off x="8961120" y="4389120"/>
            <a:ext cx="219456" cy="219456"/>
          </a:xfrm>
          <a:prstGeom prst="rect">
            <a:avLst/>
          </a:prstGeom>
        </p:spPr>
      </p:pic>
      <p:sp>
        <p:nvSpPr>
          <p:cNvPr id="57" name="Shape 46"/>
          <p:cNvSpPr/>
          <p:nvPr/>
        </p:nvSpPr>
        <p:spPr>
          <a:xfrm>
            <a:off x="10012680" y="4288536"/>
            <a:ext cx="1645920" cy="1938528"/>
          </a:xfrm>
          <a:prstGeom prst="roundRect">
            <a:avLst>
              <a:gd name="adj" fmla="val 5556"/>
            </a:avLst>
          </a:prstGeom>
          <a:solidFill>
            <a:schemeClr val="bg2"/>
          </a:solidFill>
          <a:ln w="9525">
            <a:solidFill>
              <a:srgbClr val="E0E0E0"/>
            </a:solidFill>
            <a:prstDash val="solid"/>
          </a:ln>
        </p:spPr>
      </p:sp>
      <p:sp>
        <p:nvSpPr>
          <p:cNvPr id="58" name="Text 47"/>
          <p:cNvSpPr txBox="1"/>
          <p:nvPr/>
        </p:nvSpPr>
        <p:spPr>
          <a:xfrm>
            <a:off x="10104120" y="4352544"/>
            <a:ext cx="1280160" cy="411480"/>
          </a:xfrm>
          <a:prstGeom prst="rect">
            <a:avLst/>
          </a:prstGeom>
          <a:noFill/>
          <a:ln/>
        </p:spPr>
        <p:txBody>
          <a:bodyPr wrap="square" lIns="0" tIns="0" rIns="0" bIns="0" rtlCol="0" anchor="t"/>
          <a:lstStyle/>
          <a:p>
            <a:pPr marL="0" indent="0">
              <a:buNone/>
            </a:pPr>
            <a:r>
              <a:rPr lang="en-US" sz="1200" b="1" dirty="0">
                <a:solidFill>
                  <a:schemeClr val="tx1"/>
                </a:solidFill>
              </a:rPr>
              <a:t>2채널 릴레이</a:t>
            </a:r>
            <a:endParaRPr lang="en-US" sz="1200" dirty="0"/>
          </a:p>
          <a:p>
            <a:pPr marL="0" indent="0">
              <a:buNone/>
            </a:pPr>
            <a:r>
              <a:rPr lang="en-US" sz="1000" dirty="0">
                <a:solidFill>
                  <a:schemeClr val="tx1"/>
                </a:solidFill>
              </a:rPr>
              <a:t>LOW에서 켜짐</a:t>
            </a:r>
            <a:endParaRPr lang="en-US" sz="1200" dirty="0"/>
          </a:p>
        </p:txBody>
      </p:sp>
      <p:pic>
        <p:nvPicPr>
          <p:cNvPr id="59" name="Image 8" descr="릴레이"/>
          <p:cNvPicPr>
            <a:picLocks noChangeAspect="1"/>
          </p:cNvPicPr>
          <p:nvPr/>
        </p:nvPicPr>
        <p:blipFill>
          <a:blip r:embed="rId11"/>
          <a:stretch>
            <a:fillRect/>
          </a:stretch>
        </p:blipFill>
        <p:spPr>
          <a:xfrm>
            <a:off x="11356848" y="4389120"/>
            <a:ext cx="219456" cy="219456"/>
          </a:xfrm>
          <a:prstGeom prst="rect">
            <a:avLst/>
          </a:prstGeom>
        </p:spPr>
      </p:pic>
      <p:sp>
        <p:nvSpPr>
          <p:cNvPr id="60" name="Shape 48"/>
          <p:cNvSpPr/>
          <p:nvPr/>
        </p:nvSpPr>
        <p:spPr>
          <a:xfrm>
            <a:off x="7296912" y="4919472"/>
            <a:ext cx="100584" cy="100584"/>
          </a:xfrm>
          <a:prstGeom prst="ellipse">
            <a:avLst/>
          </a:prstGeom>
          <a:solidFill>
            <a:srgbClr val="30D158"/>
          </a:solidFill>
          <a:ln w="12700">
            <a:solidFill>
              <a:srgbClr val="30D158"/>
            </a:solidFill>
            <a:prstDash val="solid"/>
          </a:ln>
        </p:spPr>
      </p:sp>
      <p:sp>
        <p:nvSpPr>
          <p:cNvPr id="61" name="Text 49"/>
          <p:cNvSpPr txBox="1"/>
          <p:nvPr/>
        </p:nvSpPr>
        <p:spPr>
          <a:xfrm>
            <a:off x="7443216" y="4828032"/>
            <a:ext cx="1143000" cy="274320"/>
          </a:xfrm>
          <a:prstGeom prst="rect">
            <a:avLst/>
          </a:prstGeom>
          <a:noFill/>
          <a:ln/>
        </p:spPr>
        <p:txBody>
          <a:bodyPr wrap="square" lIns="0" tIns="0" rIns="0" bIns="0" rtlCol="0" anchor="ctr"/>
          <a:lstStyle/>
          <a:p>
            <a:pPr marL="0" indent="0">
              <a:buNone/>
            </a:pPr>
            <a:r>
              <a:rPr lang="en-US" sz="950" dirty="0">
                <a:solidFill>
                  <a:schemeClr val="tx1"/>
                </a:solidFill>
              </a:rPr>
              <a:t>LED0 Matter 상태</a:t>
            </a:r>
            <a:endParaRPr lang="en-US" sz="950" dirty="0"/>
          </a:p>
        </p:txBody>
      </p:sp>
      <p:sp>
        <p:nvSpPr>
          <p:cNvPr id="62" name="Shape 50"/>
          <p:cNvSpPr/>
          <p:nvPr/>
        </p:nvSpPr>
        <p:spPr>
          <a:xfrm>
            <a:off x="8595360" y="4828032"/>
            <a:ext cx="621792" cy="274320"/>
          </a:xfrm>
          <a:prstGeom prst="roundRect">
            <a:avLst>
              <a:gd name="adj" fmla="val 16667"/>
            </a:avLst>
          </a:prstGeom>
          <a:solidFill>
            <a:srgbClr val="FFFFFF"/>
          </a:solidFill>
          <a:ln w="9525">
            <a:solidFill>
              <a:srgbClr val="C7C7CC"/>
            </a:solidFill>
            <a:prstDash val="solid"/>
          </a:ln>
        </p:spPr>
      </p:sp>
      <p:sp>
        <p:nvSpPr>
          <p:cNvPr id="63" name="Text 51"/>
          <p:cNvSpPr txBox="1"/>
          <p:nvPr/>
        </p:nvSpPr>
        <p:spPr>
          <a:xfrm>
            <a:off x="8595360" y="4828032"/>
            <a:ext cx="621792" cy="274320"/>
          </a:xfrm>
          <a:prstGeom prst="rect">
            <a:avLst/>
          </a:prstGeom>
          <a:noFill/>
          <a:ln/>
        </p:spPr>
        <p:txBody>
          <a:bodyPr wrap="square" lIns="0" tIns="0" rIns="0" bIns="0" rtlCol="0" anchor="ctr"/>
          <a:lstStyle/>
          <a:p>
            <a:pPr marL="0" indent="0" algn="ctr">
              <a:buNone/>
            </a:pPr>
            <a:r>
              <a:rPr lang="en-US" sz="1000" b="1" dirty="0">
                <a:solidFill>
                  <a:schemeClr val="tx1"/>
                </a:solidFill>
              </a:rPr>
              <a:t>5V0</a:t>
            </a:r>
            <a:endParaRPr lang="en-US" sz="1000" dirty="0"/>
          </a:p>
        </p:txBody>
      </p:sp>
      <p:sp>
        <p:nvSpPr>
          <p:cNvPr id="64" name="Shape 52"/>
          <p:cNvSpPr/>
          <p:nvPr/>
        </p:nvSpPr>
        <p:spPr>
          <a:xfrm>
            <a:off x="9217152" y="4965192"/>
            <a:ext cx="886968" cy="0"/>
          </a:xfrm>
          <a:prstGeom prst="line">
            <a:avLst/>
          </a:prstGeom>
          <a:noFill/>
          <a:ln w="38100">
            <a:solidFill>
              <a:srgbClr val="E30000"/>
            </a:solidFill>
            <a:prstDash val="solid"/>
          </a:ln>
        </p:spPr>
      </p:sp>
      <p:sp>
        <p:nvSpPr>
          <p:cNvPr id="65" name="Text 53"/>
          <p:cNvSpPr txBox="1"/>
          <p:nvPr/>
        </p:nvSpPr>
        <p:spPr>
          <a:xfrm>
            <a:off x="9189720" y="4727448"/>
            <a:ext cx="969264" cy="182880"/>
          </a:xfrm>
          <a:prstGeom prst="rect">
            <a:avLst/>
          </a:prstGeom>
          <a:noFill/>
          <a:ln/>
        </p:spPr>
        <p:txBody>
          <a:bodyPr wrap="square" lIns="0" tIns="0" rIns="0" bIns="0" rtlCol="0" anchor="t"/>
          <a:lstStyle/>
          <a:p>
            <a:pPr marL="0" indent="0" algn="ctr">
              <a:buNone/>
            </a:pPr>
            <a:r>
              <a:rPr lang="en-US" sz="900" dirty="0">
                <a:solidFill>
                  <a:schemeClr val="tx1"/>
                </a:solidFill>
              </a:rPr>
              <a:t>5V 전원</a:t>
            </a:r>
            <a:endParaRPr lang="en-US" sz="900" dirty="0"/>
          </a:p>
        </p:txBody>
      </p:sp>
      <p:sp>
        <p:nvSpPr>
          <p:cNvPr id="66" name="Shape 54"/>
          <p:cNvSpPr/>
          <p:nvPr/>
        </p:nvSpPr>
        <p:spPr>
          <a:xfrm>
            <a:off x="10104120" y="4828032"/>
            <a:ext cx="502920" cy="274320"/>
          </a:xfrm>
          <a:prstGeom prst="roundRect">
            <a:avLst>
              <a:gd name="adj" fmla="val 16667"/>
            </a:avLst>
          </a:prstGeom>
          <a:solidFill>
            <a:srgbClr val="FFFFFF"/>
          </a:solidFill>
          <a:ln w="9525">
            <a:solidFill>
              <a:srgbClr val="C7C7CC"/>
            </a:solidFill>
            <a:prstDash val="solid"/>
          </a:ln>
        </p:spPr>
      </p:sp>
      <p:sp>
        <p:nvSpPr>
          <p:cNvPr id="67" name="Text 55"/>
          <p:cNvSpPr txBox="1"/>
          <p:nvPr/>
        </p:nvSpPr>
        <p:spPr>
          <a:xfrm>
            <a:off x="10104120" y="4828032"/>
            <a:ext cx="502920" cy="274320"/>
          </a:xfrm>
          <a:prstGeom prst="rect">
            <a:avLst/>
          </a:prstGeom>
          <a:noFill/>
          <a:ln/>
        </p:spPr>
        <p:txBody>
          <a:bodyPr wrap="square" lIns="0" tIns="0" rIns="0" bIns="0" rtlCol="0" anchor="ctr"/>
          <a:lstStyle/>
          <a:p>
            <a:pPr marL="0" indent="0" algn="ctr">
              <a:buNone/>
            </a:pPr>
            <a:r>
              <a:rPr lang="en-US" sz="1000" b="1" dirty="0">
                <a:solidFill>
                  <a:schemeClr val="tx1"/>
                </a:solidFill>
              </a:rPr>
              <a:t>DC+</a:t>
            </a:r>
            <a:endParaRPr lang="en-US" sz="1000" dirty="0"/>
          </a:p>
        </p:txBody>
      </p:sp>
      <p:sp>
        <p:nvSpPr>
          <p:cNvPr id="68" name="Shape 56"/>
          <p:cNvSpPr/>
          <p:nvPr/>
        </p:nvSpPr>
        <p:spPr>
          <a:xfrm>
            <a:off x="7296912" y="5266944"/>
            <a:ext cx="100584" cy="100584"/>
          </a:xfrm>
          <a:prstGeom prst="ellipse">
            <a:avLst/>
          </a:prstGeom>
          <a:solidFill>
            <a:srgbClr val="30D158"/>
          </a:solidFill>
          <a:ln w="12700">
            <a:solidFill>
              <a:srgbClr val="30D158"/>
            </a:solidFill>
            <a:prstDash val="solid"/>
          </a:ln>
        </p:spPr>
      </p:sp>
      <p:sp>
        <p:nvSpPr>
          <p:cNvPr id="69" name="Text 57"/>
          <p:cNvSpPr txBox="1"/>
          <p:nvPr/>
        </p:nvSpPr>
        <p:spPr>
          <a:xfrm>
            <a:off x="7443216" y="5175504"/>
            <a:ext cx="1143000" cy="274320"/>
          </a:xfrm>
          <a:prstGeom prst="rect">
            <a:avLst/>
          </a:prstGeom>
          <a:noFill/>
          <a:ln/>
        </p:spPr>
        <p:txBody>
          <a:bodyPr wrap="square" lIns="0" tIns="0" rIns="0" bIns="0" rtlCol="0" anchor="ctr"/>
          <a:lstStyle/>
          <a:p>
            <a:pPr marL="0" indent="0">
              <a:buNone/>
            </a:pPr>
            <a:r>
              <a:rPr lang="en-US" sz="950" dirty="0">
                <a:solidFill>
                  <a:schemeClr val="tx1"/>
                </a:solidFill>
              </a:rPr>
              <a:t>LED1 선풍기</a:t>
            </a:r>
            <a:endParaRPr lang="en-US" sz="950" dirty="0"/>
          </a:p>
        </p:txBody>
      </p:sp>
      <p:sp>
        <p:nvSpPr>
          <p:cNvPr id="70" name="Shape 58"/>
          <p:cNvSpPr/>
          <p:nvPr/>
        </p:nvSpPr>
        <p:spPr>
          <a:xfrm>
            <a:off x="8595360" y="5175504"/>
            <a:ext cx="621792" cy="274320"/>
          </a:xfrm>
          <a:prstGeom prst="roundRect">
            <a:avLst>
              <a:gd name="adj" fmla="val 16667"/>
            </a:avLst>
          </a:prstGeom>
          <a:solidFill>
            <a:srgbClr val="FFFFFF"/>
          </a:solidFill>
          <a:ln w="9525">
            <a:solidFill>
              <a:srgbClr val="C7C7CC"/>
            </a:solidFill>
            <a:prstDash val="solid"/>
          </a:ln>
        </p:spPr>
      </p:sp>
      <p:sp>
        <p:nvSpPr>
          <p:cNvPr id="71" name="Text 59"/>
          <p:cNvSpPr txBox="1"/>
          <p:nvPr/>
        </p:nvSpPr>
        <p:spPr>
          <a:xfrm>
            <a:off x="8595360" y="5175504"/>
            <a:ext cx="621792" cy="274320"/>
          </a:xfrm>
          <a:prstGeom prst="rect">
            <a:avLst/>
          </a:prstGeom>
          <a:noFill/>
          <a:ln/>
        </p:spPr>
        <p:txBody>
          <a:bodyPr wrap="square" lIns="0" tIns="0" rIns="0" bIns="0" rtlCol="0" anchor="ctr"/>
          <a:lstStyle/>
          <a:p>
            <a:pPr marL="0" indent="0" algn="ctr">
              <a:buNone/>
            </a:pPr>
            <a:r>
              <a:rPr lang="en-US" sz="1000" b="1" dirty="0">
                <a:solidFill>
                  <a:schemeClr val="tx1"/>
                </a:solidFill>
              </a:rPr>
              <a:t>GND</a:t>
            </a:r>
            <a:endParaRPr lang="en-US" sz="1000" dirty="0"/>
          </a:p>
        </p:txBody>
      </p:sp>
      <p:sp>
        <p:nvSpPr>
          <p:cNvPr id="72" name="Shape 60"/>
          <p:cNvSpPr/>
          <p:nvPr/>
        </p:nvSpPr>
        <p:spPr>
          <a:xfrm>
            <a:off x="9217152" y="5312664"/>
            <a:ext cx="886968" cy="0"/>
          </a:xfrm>
          <a:prstGeom prst="line">
            <a:avLst/>
          </a:prstGeom>
          <a:noFill/>
          <a:ln w="38100">
            <a:solidFill>
              <a:srgbClr val="1D1D1F"/>
            </a:solidFill>
            <a:prstDash val="solid"/>
          </a:ln>
        </p:spPr>
      </p:sp>
      <p:sp>
        <p:nvSpPr>
          <p:cNvPr id="73" name="Text 61"/>
          <p:cNvSpPr txBox="1"/>
          <p:nvPr/>
        </p:nvSpPr>
        <p:spPr>
          <a:xfrm>
            <a:off x="9189720" y="5074920"/>
            <a:ext cx="969264" cy="182880"/>
          </a:xfrm>
          <a:prstGeom prst="rect">
            <a:avLst/>
          </a:prstGeom>
          <a:noFill/>
          <a:ln/>
        </p:spPr>
        <p:txBody>
          <a:bodyPr wrap="square" lIns="0" tIns="0" rIns="0" bIns="0" rtlCol="0" anchor="t"/>
          <a:lstStyle/>
          <a:p>
            <a:pPr marL="0" indent="0" algn="ctr">
              <a:buNone/>
            </a:pPr>
            <a:r>
              <a:rPr lang="en-US" sz="900" dirty="0">
                <a:solidFill>
                  <a:schemeClr val="tx1"/>
                </a:solidFill>
              </a:rPr>
              <a:t>접지</a:t>
            </a:r>
            <a:endParaRPr lang="en-US" sz="900" dirty="0"/>
          </a:p>
        </p:txBody>
      </p:sp>
      <p:sp>
        <p:nvSpPr>
          <p:cNvPr id="74" name="Shape 62"/>
          <p:cNvSpPr/>
          <p:nvPr/>
        </p:nvSpPr>
        <p:spPr>
          <a:xfrm>
            <a:off x="10104120" y="5175504"/>
            <a:ext cx="502920" cy="274320"/>
          </a:xfrm>
          <a:prstGeom prst="roundRect">
            <a:avLst>
              <a:gd name="adj" fmla="val 16667"/>
            </a:avLst>
          </a:prstGeom>
          <a:solidFill>
            <a:srgbClr val="FFFFFF"/>
          </a:solidFill>
          <a:ln w="9525">
            <a:solidFill>
              <a:srgbClr val="C7C7CC"/>
            </a:solidFill>
            <a:prstDash val="solid"/>
          </a:ln>
        </p:spPr>
      </p:sp>
      <p:sp>
        <p:nvSpPr>
          <p:cNvPr id="75" name="Text 63"/>
          <p:cNvSpPr txBox="1"/>
          <p:nvPr/>
        </p:nvSpPr>
        <p:spPr>
          <a:xfrm>
            <a:off x="10104120" y="5175504"/>
            <a:ext cx="502920" cy="274320"/>
          </a:xfrm>
          <a:prstGeom prst="rect">
            <a:avLst/>
          </a:prstGeom>
          <a:noFill/>
          <a:ln/>
        </p:spPr>
        <p:txBody>
          <a:bodyPr wrap="square" lIns="0" tIns="0" rIns="0" bIns="0" rtlCol="0" anchor="ctr"/>
          <a:lstStyle/>
          <a:p>
            <a:pPr marL="0" indent="0" algn="ctr">
              <a:buNone/>
            </a:pPr>
            <a:r>
              <a:rPr lang="en-US" sz="1000" b="1" dirty="0">
                <a:solidFill>
                  <a:schemeClr val="tx1"/>
                </a:solidFill>
              </a:rPr>
              <a:t>DC−</a:t>
            </a:r>
            <a:endParaRPr lang="en-US" sz="1000" dirty="0"/>
          </a:p>
        </p:txBody>
      </p:sp>
      <p:sp>
        <p:nvSpPr>
          <p:cNvPr id="76" name="Shape 64"/>
          <p:cNvSpPr/>
          <p:nvPr/>
        </p:nvSpPr>
        <p:spPr>
          <a:xfrm>
            <a:off x="7296912" y="5614416"/>
            <a:ext cx="100584" cy="100584"/>
          </a:xfrm>
          <a:prstGeom prst="ellipse">
            <a:avLst/>
          </a:prstGeom>
          <a:solidFill>
            <a:srgbClr val="30D158"/>
          </a:solidFill>
          <a:ln w="12700">
            <a:solidFill>
              <a:srgbClr val="30D158"/>
            </a:solidFill>
            <a:prstDash val="solid"/>
          </a:ln>
        </p:spPr>
      </p:sp>
      <p:sp>
        <p:nvSpPr>
          <p:cNvPr id="77" name="Text 65"/>
          <p:cNvSpPr txBox="1"/>
          <p:nvPr/>
        </p:nvSpPr>
        <p:spPr>
          <a:xfrm>
            <a:off x="7443216" y="5522976"/>
            <a:ext cx="1143000" cy="274320"/>
          </a:xfrm>
          <a:prstGeom prst="rect">
            <a:avLst/>
          </a:prstGeom>
          <a:noFill/>
          <a:ln/>
        </p:spPr>
        <p:txBody>
          <a:bodyPr wrap="square" lIns="0" tIns="0" rIns="0" bIns="0" rtlCol="0" anchor="ctr"/>
          <a:lstStyle/>
          <a:p>
            <a:pPr marL="0" indent="0">
              <a:buNone/>
            </a:pPr>
            <a:r>
              <a:rPr lang="en-US" sz="950" dirty="0">
                <a:solidFill>
                  <a:schemeClr val="tx1"/>
                </a:solidFill>
              </a:rPr>
              <a:t>LED2 가습기</a:t>
            </a:r>
            <a:endParaRPr lang="en-US" sz="950" dirty="0"/>
          </a:p>
        </p:txBody>
      </p:sp>
      <p:sp>
        <p:nvSpPr>
          <p:cNvPr id="78" name="Shape 66"/>
          <p:cNvSpPr/>
          <p:nvPr/>
        </p:nvSpPr>
        <p:spPr>
          <a:xfrm>
            <a:off x="8595360" y="5522976"/>
            <a:ext cx="621792" cy="274320"/>
          </a:xfrm>
          <a:prstGeom prst="roundRect">
            <a:avLst>
              <a:gd name="adj" fmla="val 16667"/>
            </a:avLst>
          </a:prstGeom>
          <a:solidFill>
            <a:srgbClr val="FFFFFF"/>
          </a:solidFill>
          <a:ln w="9525">
            <a:solidFill>
              <a:srgbClr val="C7C7CC"/>
            </a:solidFill>
            <a:prstDash val="solid"/>
          </a:ln>
        </p:spPr>
      </p:sp>
      <p:sp>
        <p:nvSpPr>
          <p:cNvPr id="79" name="Text 67"/>
          <p:cNvSpPr txBox="1"/>
          <p:nvPr/>
        </p:nvSpPr>
        <p:spPr>
          <a:xfrm>
            <a:off x="8595360" y="5522976"/>
            <a:ext cx="621792" cy="274320"/>
          </a:xfrm>
          <a:prstGeom prst="rect">
            <a:avLst/>
          </a:prstGeom>
          <a:noFill/>
          <a:ln/>
        </p:spPr>
        <p:txBody>
          <a:bodyPr wrap="square" lIns="0" tIns="0" rIns="0" bIns="0" rtlCol="0" anchor="ctr"/>
          <a:lstStyle/>
          <a:p>
            <a:pPr marL="0" indent="0" algn="ctr">
              <a:buNone/>
            </a:pPr>
            <a:r>
              <a:rPr lang="en-US" sz="1000" b="1" dirty="0">
                <a:solidFill>
                  <a:schemeClr val="tx1"/>
                </a:solidFill>
              </a:rPr>
              <a:t>P1.20</a:t>
            </a:r>
            <a:endParaRPr lang="en-US" sz="1000" dirty="0"/>
          </a:p>
        </p:txBody>
      </p:sp>
      <p:sp>
        <p:nvSpPr>
          <p:cNvPr id="80" name="Shape 68"/>
          <p:cNvSpPr/>
          <p:nvPr/>
        </p:nvSpPr>
        <p:spPr>
          <a:xfrm>
            <a:off x="9217152" y="5660136"/>
            <a:ext cx="886968" cy="0"/>
          </a:xfrm>
          <a:prstGeom prst="line">
            <a:avLst/>
          </a:prstGeom>
          <a:noFill/>
          <a:ln w="38100">
            <a:solidFill>
              <a:srgbClr val="0066CC"/>
            </a:solidFill>
            <a:prstDash val="solid"/>
          </a:ln>
        </p:spPr>
      </p:sp>
      <p:sp>
        <p:nvSpPr>
          <p:cNvPr id="81" name="Text 69"/>
          <p:cNvSpPr txBox="1"/>
          <p:nvPr/>
        </p:nvSpPr>
        <p:spPr>
          <a:xfrm>
            <a:off x="9189720" y="5422392"/>
            <a:ext cx="969264" cy="182880"/>
          </a:xfrm>
          <a:prstGeom prst="rect">
            <a:avLst/>
          </a:prstGeom>
          <a:noFill/>
          <a:ln/>
        </p:spPr>
        <p:txBody>
          <a:bodyPr wrap="square" lIns="0" tIns="0" rIns="0" bIns="0" rtlCol="0" anchor="t"/>
          <a:lstStyle/>
          <a:p>
            <a:pPr marL="0" indent="0" algn="ctr">
              <a:buNone/>
            </a:pPr>
            <a:r>
              <a:rPr lang="en-US" sz="900" dirty="0">
                <a:solidFill>
                  <a:schemeClr val="tx1"/>
                </a:solidFill>
              </a:rPr>
              <a:t>선풍기 신호</a:t>
            </a:r>
            <a:endParaRPr lang="en-US" sz="900" dirty="0"/>
          </a:p>
        </p:txBody>
      </p:sp>
      <p:sp>
        <p:nvSpPr>
          <p:cNvPr id="82" name="Shape 70"/>
          <p:cNvSpPr/>
          <p:nvPr/>
        </p:nvSpPr>
        <p:spPr>
          <a:xfrm>
            <a:off x="10104120" y="5522976"/>
            <a:ext cx="502920" cy="274320"/>
          </a:xfrm>
          <a:prstGeom prst="roundRect">
            <a:avLst>
              <a:gd name="adj" fmla="val 16667"/>
            </a:avLst>
          </a:prstGeom>
          <a:solidFill>
            <a:srgbClr val="FFFFFF"/>
          </a:solidFill>
          <a:ln w="9525">
            <a:solidFill>
              <a:srgbClr val="C7C7CC"/>
            </a:solidFill>
            <a:prstDash val="solid"/>
          </a:ln>
        </p:spPr>
      </p:sp>
      <p:sp>
        <p:nvSpPr>
          <p:cNvPr id="83" name="Text 71"/>
          <p:cNvSpPr txBox="1"/>
          <p:nvPr/>
        </p:nvSpPr>
        <p:spPr>
          <a:xfrm>
            <a:off x="10104120" y="5522976"/>
            <a:ext cx="502920" cy="274320"/>
          </a:xfrm>
          <a:prstGeom prst="rect">
            <a:avLst/>
          </a:prstGeom>
          <a:noFill/>
          <a:ln/>
        </p:spPr>
        <p:txBody>
          <a:bodyPr wrap="square" lIns="0" tIns="0" rIns="0" bIns="0" rtlCol="0" anchor="ctr"/>
          <a:lstStyle/>
          <a:p>
            <a:pPr marL="0" indent="0" algn="ctr">
              <a:buNone/>
            </a:pPr>
            <a:r>
              <a:rPr lang="en-US" sz="1000" b="1" dirty="0">
                <a:solidFill>
                  <a:schemeClr val="tx1"/>
                </a:solidFill>
              </a:rPr>
              <a:t>IN1</a:t>
            </a:r>
            <a:endParaRPr lang="en-US" sz="1000" dirty="0"/>
          </a:p>
        </p:txBody>
      </p:sp>
      <p:pic>
        <p:nvPicPr>
          <p:cNvPr id="84" name="Image 9" descr="CH1 선풍기"/>
          <p:cNvPicPr>
            <a:picLocks noChangeAspect="1"/>
          </p:cNvPicPr>
          <p:nvPr/>
        </p:nvPicPr>
        <p:blipFill>
          <a:blip r:embed="rId12"/>
          <a:stretch>
            <a:fillRect/>
          </a:stretch>
        </p:blipFill>
        <p:spPr>
          <a:xfrm>
            <a:off x="10652760" y="5559552"/>
            <a:ext cx="201168" cy="201168"/>
          </a:xfrm>
          <a:prstGeom prst="rect">
            <a:avLst/>
          </a:prstGeom>
        </p:spPr>
      </p:pic>
      <p:sp>
        <p:nvSpPr>
          <p:cNvPr id="85" name="Text 72"/>
          <p:cNvSpPr txBox="1"/>
          <p:nvPr/>
        </p:nvSpPr>
        <p:spPr>
          <a:xfrm>
            <a:off x="10881360" y="5522976"/>
            <a:ext cx="777240" cy="274320"/>
          </a:xfrm>
          <a:prstGeom prst="rect">
            <a:avLst/>
          </a:prstGeom>
          <a:noFill/>
          <a:ln/>
        </p:spPr>
        <p:txBody>
          <a:bodyPr wrap="square" lIns="0" tIns="0" rIns="0" bIns="0" rtlCol="0" anchor="ctr"/>
          <a:lstStyle/>
          <a:p>
            <a:pPr marL="0" indent="0">
              <a:buNone/>
            </a:pPr>
            <a:r>
              <a:rPr lang="en-US" sz="950" b="1" dirty="0">
                <a:solidFill>
                  <a:schemeClr val="tx1"/>
                </a:solidFill>
              </a:rPr>
              <a:t>CH1 선풍기</a:t>
            </a:r>
            <a:endParaRPr lang="en-US" sz="950" dirty="0"/>
          </a:p>
        </p:txBody>
      </p:sp>
      <p:sp>
        <p:nvSpPr>
          <p:cNvPr id="86" name="Shape 73"/>
          <p:cNvSpPr/>
          <p:nvPr/>
        </p:nvSpPr>
        <p:spPr>
          <a:xfrm>
            <a:off x="7296912" y="5961888"/>
            <a:ext cx="100584" cy="100584"/>
          </a:xfrm>
          <a:prstGeom prst="ellipse">
            <a:avLst/>
          </a:prstGeom>
          <a:solidFill>
            <a:srgbClr val="30D158"/>
          </a:solidFill>
          <a:ln w="12700">
            <a:solidFill>
              <a:srgbClr val="30D158"/>
            </a:solidFill>
            <a:prstDash val="solid"/>
          </a:ln>
        </p:spPr>
      </p:sp>
      <p:sp>
        <p:nvSpPr>
          <p:cNvPr id="87" name="Text 74"/>
          <p:cNvSpPr txBox="1"/>
          <p:nvPr/>
        </p:nvSpPr>
        <p:spPr>
          <a:xfrm>
            <a:off x="7443216" y="5870448"/>
            <a:ext cx="1143000" cy="274320"/>
          </a:xfrm>
          <a:prstGeom prst="rect">
            <a:avLst/>
          </a:prstGeom>
          <a:noFill/>
          <a:ln/>
        </p:spPr>
        <p:txBody>
          <a:bodyPr wrap="square" lIns="0" tIns="0" rIns="0" bIns="0" rtlCol="0" anchor="ctr"/>
          <a:lstStyle/>
          <a:p>
            <a:pPr marL="0" indent="0">
              <a:buNone/>
            </a:pPr>
            <a:r>
              <a:rPr lang="en-US" sz="950" dirty="0">
                <a:solidFill>
                  <a:schemeClr val="tx1"/>
                </a:solidFill>
              </a:rPr>
              <a:t>LED3 표면 80%↑</a:t>
            </a:r>
            <a:endParaRPr lang="en-US" sz="950" dirty="0"/>
          </a:p>
        </p:txBody>
      </p:sp>
      <p:sp>
        <p:nvSpPr>
          <p:cNvPr id="88" name="Shape 75"/>
          <p:cNvSpPr/>
          <p:nvPr/>
        </p:nvSpPr>
        <p:spPr>
          <a:xfrm>
            <a:off x="8595360" y="5870448"/>
            <a:ext cx="621792" cy="274320"/>
          </a:xfrm>
          <a:prstGeom prst="roundRect">
            <a:avLst>
              <a:gd name="adj" fmla="val 16667"/>
            </a:avLst>
          </a:prstGeom>
          <a:solidFill>
            <a:srgbClr val="FFFFFF"/>
          </a:solidFill>
          <a:ln w="9525">
            <a:solidFill>
              <a:srgbClr val="C7C7CC"/>
            </a:solidFill>
            <a:prstDash val="solid"/>
          </a:ln>
        </p:spPr>
      </p:sp>
      <p:sp>
        <p:nvSpPr>
          <p:cNvPr id="89" name="Text 76"/>
          <p:cNvSpPr txBox="1"/>
          <p:nvPr/>
        </p:nvSpPr>
        <p:spPr>
          <a:xfrm>
            <a:off x="8595360" y="5870448"/>
            <a:ext cx="621792" cy="274320"/>
          </a:xfrm>
          <a:prstGeom prst="rect">
            <a:avLst/>
          </a:prstGeom>
          <a:noFill/>
          <a:ln/>
        </p:spPr>
        <p:txBody>
          <a:bodyPr wrap="square" lIns="0" tIns="0" rIns="0" bIns="0" rtlCol="0" anchor="ctr"/>
          <a:lstStyle/>
          <a:p>
            <a:pPr marL="0" indent="0" algn="ctr">
              <a:buNone/>
            </a:pPr>
            <a:r>
              <a:rPr lang="en-US" sz="1000" b="1" dirty="0">
                <a:solidFill>
                  <a:schemeClr val="tx1"/>
                </a:solidFill>
              </a:rPr>
              <a:t>P1.21</a:t>
            </a:r>
            <a:endParaRPr lang="en-US" sz="1000" dirty="0"/>
          </a:p>
        </p:txBody>
      </p:sp>
      <p:sp>
        <p:nvSpPr>
          <p:cNvPr id="90" name="Shape 77"/>
          <p:cNvSpPr/>
          <p:nvPr/>
        </p:nvSpPr>
        <p:spPr>
          <a:xfrm>
            <a:off x="9217152" y="6007608"/>
            <a:ext cx="886968" cy="0"/>
          </a:xfrm>
          <a:prstGeom prst="line">
            <a:avLst/>
          </a:prstGeom>
          <a:noFill/>
          <a:ln w="38100">
            <a:solidFill>
              <a:srgbClr val="F08A00"/>
            </a:solidFill>
            <a:prstDash val="solid"/>
          </a:ln>
        </p:spPr>
      </p:sp>
      <p:sp>
        <p:nvSpPr>
          <p:cNvPr id="91" name="Text 78"/>
          <p:cNvSpPr txBox="1"/>
          <p:nvPr/>
        </p:nvSpPr>
        <p:spPr>
          <a:xfrm>
            <a:off x="9189720" y="5769864"/>
            <a:ext cx="969264" cy="182880"/>
          </a:xfrm>
          <a:prstGeom prst="rect">
            <a:avLst/>
          </a:prstGeom>
          <a:noFill/>
          <a:ln/>
        </p:spPr>
        <p:txBody>
          <a:bodyPr wrap="square" lIns="0" tIns="0" rIns="0" bIns="0" rtlCol="0" anchor="t"/>
          <a:lstStyle/>
          <a:p>
            <a:pPr marL="0" indent="0" algn="ctr">
              <a:buNone/>
            </a:pPr>
            <a:r>
              <a:rPr lang="en-US" sz="900" dirty="0">
                <a:solidFill>
                  <a:schemeClr val="tx1"/>
                </a:solidFill>
              </a:rPr>
              <a:t>가습기 신호</a:t>
            </a:r>
            <a:endParaRPr lang="en-US" sz="900" dirty="0"/>
          </a:p>
        </p:txBody>
      </p:sp>
      <p:sp>
        <p:nvSpPr>
          <p:cNvPr id="92" name="Shape 79"/>
          <p:cNvSpPr/>
          <p:nvPr/>
        </p:nvSpPr>
        <p:spPr>
          <a:xfrm>
            <a:off x="10104120" y="5870448"/>
            <a:ext cx="502920" cy="274320"/>
          </a:xfrm>
          <a:prstGeom prst="roundRect">
            <a:avLst>
              <a:gd name="adj" fmla="val 16667"/>
            </a:avLst>
          </a:prstGeom>
          <a:solidFill>
            <a:srgbClr val="FFFFFF"/>
          </a:solidFill>
          <a:ln w="9525">
            <a:solidFill>
              <a:srgbClr val="C7C7CC"/>
            </a:solidFill>
            <a:prstDash val="solid"/>
          </a:ln>
        </p:spPr>
      </p:sp>
      <p:sp>
        <p:nvSpPr>
          <p:cNvPr id="93" name="Text 80"/>
          <p:cNvSpPr txBox="1"/>
          <p:nvPr/>
        </p:nvSpPr>
        <p:spPr>
          <a:xfrm>
            <a:off x="10104120" y="5870448"/>
            <a:ext cx="502920" cy="274320"/>
          </a:xfrm>
          <a:prstGeom prst="rect">
            <a:avLst/>
          </a:prstGeom>
          <a:noFill/>
          <a:ln/>
        </p:spPr>
        <p:txBody>
          <a:bodyPr wrap="square" lIns="0" tIns="0" rIns="0" bIns="0" rtlCol="0" anchor="ctr"/>
          <a:lstStyle/>
          <a:p>
            <a:pPr marL="0" indent="0" algn="ctr">
              <a:buNone/>
            </a:pPr>
            <a:r>
              <a:rPr lang="en-US" sz="1000" b="1" dirty="0">
                <a:solidFill>
                  <a:schemeClr val="tx1"/>
                </a:solidFill>
              </a:rPr>
              <a:t>IN2</a:t>
            </a:r>
            <a:endParaRPr lang="en-US" sz="1000" dirty="0"/>
          </a:p>
        </p:txBody>
      </p:sp>
      <p:pic>
        <p:nvPicPr>
          <p:cNvPr id="94" name="Image 10" descr="CH2 가습기"/>
          <p:cNvPicPr>
            <a:picLocks noChangeAspect="1"/>
          </p:cNvPicPr>
          <p:nvPr/>
        </p:nvPicPr>
        <p:blipFill>
          <a:blip r:embed="rId13"/>
          <a:stretch>
            <a:fillRect/>
          </a:stretch>
        </p:blipFill>
        <p:spPr>
          <a:xfrm>
            <a:off x="10652760" y="5907024"/>
            <a:ext cx="201168" cy="201168"/>
          </a:xfrm>
          <a:prstGeom prst="rect">
            <a:avLst/>
          </a:prstGeom>
        </p:spPr>
      </p:pic>
      <p:sp>
        <p:nvSpPr>
          <p:cNvPr id="95" name="Text 81"/>
          <p:cNvSpPr txBox="1"/>
          <p:nvPr/>
        </p:nvSpPr>
        <p:spPr>
          <a:xfrm>
            <a:off x="10881360" y="5870448"/>
            <a:ext cx="777240" cy="274320"/>
          </a:xfrm>
          <a:prstGeom prst="rect">
            <a:avLst/>
          </a:prstGeom>
          <a:noFill/>
          <a:ln/>
        </p:spPr>
        <p:txBody>
          <a:bodyPr wrap="square" lIns="0" tIns="0" rIns="0" bIns="0" rtlCol="0" anchor="ctr"/>
          <a:lstStyle/>
          <a:p>
            <a:pPr marL="0" indent="0">
              <a:buNone/>
            </a:pPr>
            <a:r>
              <a:rPr lang="en-US" sz="950" b="1" dirty="0">
                <a:solidFill>
                  <a:schemeClr val="tx1"/>
                </a:solidFill>
              </a:rPr>
              <a:t>CH2 가습기</a:t>
            </a:r>
            <a:endParaRPr lang="en-US" sz="950" dirty="0"/>
          </a:p>
        </p:txBody>
      </p:sp>
      <p:sp>
        <p:nvSpPr>
          <p:cNvPr id="96"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92608"/>
          </a:xfrm>
          <a:prstGeom prst="rect">
            <a:avLst/>
          </a:prstGeom>
          <a:noFill/>
          <a:ln/>
        </p:spPr>
        <p:txBody>
          <a:bodyPr wrap="square" lIns="0" tIns="0" rIns="0" bIns="0" rtlCol="0"/>
          <a:lstStyle/>
          <a:p>
            <a:pPr marL="0" indent="0">
              <a:buNone/>
            </a:pPr>
            <a:r>
              <a:rPr lang="en-US" sz="1300" b="1" dirty="0">
                <a:solidFill>
                  <a:schemeClr val="tx1"/>
                </a:solidFill>
              </a:rPr>
              <a:t>시연 내용 ② 시연 화면과 구동 순서</a:t>
            </a:r>
            <a:endParaRPr lang="en-US" sz="1300" dirty="0"/>
          </a:p>
        </p:txBody>
      </p:sp>
      <p:sp>
        <p:nvSpPr>
          <p:cNvPr id="3" name="Text 1"/>
          <p:cNvSpPr txBox="1"/>
          <p:nvPr/>
        </p:nvSpPr>
        <p:spPr>
          <a:xfrm>
            <a:off x="8503920" y="256032"/>
            <a:ext cx="868680" cy="292608"/>
          </a:xfrm>
          <a:prstGeom prst="rect">
            <a:avLst/>
          </a:prstGeom>
          <a:noFill/>
          <a:ln/>
        </p:spPr>
        <p:txBody>
          <a:bodyPr wrap="square" lIns="0" tIns="0" rIns="0" bIns="0" rtlCol="0" anchor="ctr"/>
          <a:lstStyle/>
          <a:p>
            <a:pPr marL="0" indent="0" algn="ctr">
              <a:buNone/>
            </a:pPr>
            <a:r>
              <a:rPr lang="en-US" sz="1150" dirty="0">
                <a:solidFill>
                  <a:schemeClr val="tx1"/>
                </a:solidFill>
              </a:rPr>
              <a:t>핵심 주제</a:t>
            </a:r>
            <a:endParaRPr lang="en-US" sz="1150" dirty="0"/>
          </a:p>
        </p:txBody>
      </p:sp>
      <p:sp>
        <p:nvSpPr>
          <p:cNvPr id="4" name="Text 2"/>
          <p:cNvSpPr txBox="1"/>
          <p:nvPr/>
        </p:nvSpPr>
        <p:spPr>
          <a:xfrm>
            <a:off x="9464040" y="256032"/>
            <a:ext cx="1234440" cy="292608"/>
          </a:xfrm>
          <a:prstGeom prst="rect">
            <a:avLst/>
          </a:prstGeom>
          <a:noFill/>
          <a:ln/>
        </p:spPr>
        <p:txBody>
          <a:bodyPr wrap="square" lIns="0" tIns="0" rIns="0" bIns="0" rtlCol="0" anchor="ctr"/>
          <a:lstStyle/>
          <a:p>
            <a:pPr marL="0" indent="0" algn="ctr">
              <a:buNone/>
            </a:pPr>
            <a:r>
              <a:rPr lang="en-US" sz="1150" dirty="0">
                <a:solidFill>
                  <a:schemeClr val="tx1"/>
                </a:solidFill>
              </a:rPr>
              <a:t>주요 개발 내용</a:t>
            </a:r>
            <a:endParaRPr lang="en-US" sz="1150" dirty="0"/>
          </a:p>
        </p:txBody>
      </p:sp>
      <p:sp>
        <p:nvSpPr>
          <p:cNvPr id="5" name="Shape 3"/>
          <p:cNvSpPr/>
          <p:nvPr/>
        </p:nvSpPr>
        <p:spPr>
          <a:xfrm>
            <a:off x="10789920" y="256032"/>
            <a:ext cx="868680" cy="292608"/>
          </a:xfrm>
          <a:prstGeom prst="roundRect">
            <a:avLst>
              <a:gd name="adj" fmla="val 50000"/>
            </a:avLst>
          </a:prstGeom>
          <a:solidFill>
            <a:srgbClr val="F5F5F7"/>
          </a:solidFill>
          <a:ln w="12700">
            <a:solidFill>
              <a:srgbClr val="0066CC"/>
            </a:solidFill>
            <a:prstDash val="solid"/>
          </a:ln>
        </p:spPr>
      </p:sp>
      <p:sp>
        <p:nvSpPr>
          <p:cNvPr id="6" name="Text 4"/>
          <p:cNvSpPr txBox="1"/>
          <p:nvPr/>
        </p:nvSpPr>
        <p:spPr>
          <a:xfrm>
            <a:off x="10789920" y="256032"/>
            <a:ext cx="868680" cy="292608"/>
          </a:xfrm>
          <a:prstGeom prst="rect">
            <a:avLst/>
          </a:prstGeom>
          <a:noFill/>
          <a:ln/>
        </p:spPr>
        <p:txBody>
          <a:bodyPr wrap="square" lIns="0" tIns="0" rIns="0" bIns="0" rtlCol="0" anchor="ctr"/>
          <a:lstStyle/>
          <a:p>
            <a:pPr marL="0" indent="0" algn="ctr">
              <a:buNone/>
            </a:pPr>
            <a:r>
              <a:rPr lang="en-US" sz="1150" b="1" dirty="0">
                <a:solidFill>
                  <a:schemeClr val="tx1"/>
                </a:solidFill>
              </a:rPr>
              <a:t>시연 내용</a:t>
            </a:r>
            <a:endParaRPr lang="en-US" sz="1150" dirty="0"/>
          </a:p>
        </p:txBody>
      </p:sp>
      <p:sp>
        <p:nvSpPr>
          <p:cNvPr id="7" name="Text 0"/>
          <p:cNvSpPr>
            <a:spLocks noGrp="1"/>
          </p:cNvSpPr>
          <p:nvPr>
            <p:ph type="title" idx="101" hasCustomPrompt="1"/>
          </p:nvPr>
        </p:nvSpPr>
        <p:spPr>
          <a:xfrm>
            <a:off x="548640" y="566928"/>
            <a:ext cx="11064240" cy="658368"/>
          </a:xfrm>
          <a:prstGeom prst="rect">
            <a:avLst/>
          </a:prstGeom>
          <a:noFill/>
          <a:ln/>
        </p:spPr>
        <p:txBody>
          <a:bodyPr wrap="square" lIns="0" tIns="0" rIns="0" bIns="0" rtlCol="0" anchor="t"/>
          <a:lstStyle/>
          <a:p>
            <a:pPr marL="0" indent="0" algn="l">
              <a:buNone/>
            </a:pPr>
            <a:r>
              <a:rPr lang="en-US" sz="3000" b="1" dirty="0">
                <a:solidFill>
                  <a:schemeClr val="tx1"/>
                </a:solidFill>
              </a:rPr>
              <a:t>한파의 밤 10시간을 60초로 재현해 누적 위험 시간 0분을 달성함</a:t>
            </a:r>
            <a:endParaRPr lang="en-US" sz="3000" dirty="0"/>
          </a:p>
        </p:txBody>
      </p:sp>
      <p:pic>
        <p:nvPicPr>
          <p:cNvPr id="8" name="Image 0" descr="시연 화면: 가상 침실과 판단 노드"/>
          <p:cNvPicPr>
            <a:picLocks noChangeAspect="1"/>
          </p:cNvPicPr>
          <p:nvPr/>
        </p:nvPicPr>
        <p:blipFill>
          <a:blip r:embed="rId3"/>
          <a:stretch>
            <a:fillRect/>
          </a:stretch>
        </p:blipFill>
        <p:spPr>
          <a:xfrm>
            <a:off x="548640" y="1371600"/>
            <a:ext cx="6990080" cy="3931920"/>
          </a:xfrm>
          <a:prstGeom prst="rect">
            <a:avLst/>
          </a:prstGeom>
        </p:spPr>
      </p:pic>
      <p:sp>
        <p:nvSpPr>
          <p:cNvPr id="9" name="Text 6"/>
          <p:cNvSpPr txBox="1"/>
          <p:nvPr/>
        </p:nvSpPr>
        <p:spPr>
          <a:xfrm>
            <a:off x="548640" y="5376672"/>
            <a:ext cx="7223760" cy="274320"/>
          </a:xfrm>
          <a:prstGeom prst="rect">
            <a:avLst/>
          </a:prstGeom>
          <a:noFill/>
          <a:ln/>
        </p:spPr>
        <p:txBody>
          <a:bodyPr wrap="square" lIns="0" tIns="0" rIns="0" bIns="0" rtlCol="0" anchor="t"/>
          <a:lstStyle/>
          <a:p>
            <a:pPr marL="0" indent="0">
              <a:buNone/>
            </a:pPr>
            <a:r>
              <a:rPr lang="en-US" sz="1100" dirty="0">
                <a:solidFill>
                  <a:schemeClr val="tx1"/>
                </a:solidFill>
              </a:rPr>
              <a:t>실제 보드를 연결한 03:00 화면. 실내와 벽 표면 습도, 노드의 판단, 가습기와 선풍기, 허브 보고를 한 화면에 보여줌</a:t>
            </a:r>
            <a:endParaRPr lang="en-US" sz="1100" dirty="0"/>
          </a:p>
        </p:txBody>
      </p:sp>
      <p:sp>
        <p:nvSpPr>
          <p:cNvPr id="10" name="Shape 7"/>
          <p:cNvSpPr/>
          <p:nvPr/>
        </p:nvSpPr>
        <p:spPr>
          <a:xfrm>
            <a:off x="8284464" y="1563624"/>
            <a:ext cx="0" cy="3291840"/>
          </a:xfrm>
          <a:prstGeom prst="line">
            <a:avLst/>
          </a:prstGeom>
          <a:noFill/>
          <a:ln w="19050">
            <a:solidFill>
              <a:srgbClr val="E0E0E0"/>
            </a:solidFill>
            <a:prstDash val="solid"/>
          </a:ln>
        </p:spPr>
      </p:sp>
      <p:sp>
        <p:nvSpPr>
          <p:cNvPr id="11" name="Shape 8"/>
          <p:cNvSpPr/>
          <p:nvPr/>
        </p:nvSpPr>
        <p:spPr>
          <a:xfrm>
            <a:off x="7900416" y="4197096"/>
            <a:ext cx="192024" cy="0"/>
          </a:xfrm>
          <a:prstGeom prst="line">
            <a:avLst/>
          </a:prstGeom>
          <a:noFill/>
          <a:ln w="19050">
            <a:solidFill>
              <a:srgbClr val="8E8E93"/>
            </a:solidFill>
            <a:prstDash val="dash"/>
          </a:ln>
        </p:spPr>
      </p:sp>
      <p:sp>
        <p:nvSpPr>
          <p:cNvPr id="12" name="Shape 9"/>
          <p:cNvSpPr/>
          <p:nvPr/>
        </p:nvSpPr>
        <p:spPr>
          <a:xfrm>
            <a:off x="7900416" y="1563624"/>
            <a:ext cx="0" cy="2633472"/>
          </a:xfrm>
          <a:prstGeom prst="line">
            <a:avLst/>
          </a:prstGeom>
          <a:noFill/>
          <a:ln w="19050">
            <a:solidFill>
              <a:srgbClr val="8E8E93"/>
            </a:solidFill>
            <a:prstDash val="dash"/>
          </a:ln>
        </p:spPr>
      </p:sp>
      <p:sp>
        <p:nvSpPr>
          <p:cNvPr id="13" name="Shape 10"/>
          <p:cNvSpPr/>
          <p:nvPr/>
        </p:nvSpPr>
        <p:spPr>
          <a:xfrm>
            <a:off x="7900416" y="1563624"/>
            <a:ext cx="192024" cy="0"/>
          </a:xfrm>
          <a:prstGeom prst="line">
            <a:avLst/>
          </a:prstGeom>
          <a:noFill/>
          <a:ln w="19050">
            <a:solidFill>
              <a:srgbClr val="8E8E93"/>
            </a:solidFill>
            <a:prstDash val="dash"/>
            <a:tailEnd type="triangle"/>
          </a:ln>
        </p:spPr>
      </p:sp>
      <p:sp>
        <p:nvSpPr>
          <p:cNvPr id="14" name="Shape 11"/>
          <p:cNvSpPr/>
          <p:nvPr/>
        </p:nvSpPr>
        <p:spPr>
          <a:xfrm>
            <a:off x="8092440" y="1371600"/>
            <a:ext cx="384048" cy="384048"/>
          </a:xfrm>
          <a:prstGeom prst="ellipse">
            <a:avLst/>
          </a:prstGeom>
          <a:solidFill>
            <a:schemeClr val="accent1"/>
          </a:solidFill>
          <a:ln w="12700">
            <a:solidFill>
              <a:srgbClr val="0066CC"/>
            </a:solidFill>
            <a:prstDash val="solid"/>
          </a:ln>
        </p:spPr>
      </p:sp>
      <p:pic>
        <p:nvPicPr>
          <p:cNvPr id="15" name="Image 1" descr="laptop"/>
          <p:cNvPicPr>
            <a:picLocks noChangeAspect="1"/>
          </p:cNvPicPr>
          <p:nvPr/>
        </p:nvPicPr>
        <p:blipFill>
          <a:blip r:embed="rId4"/>
          <a:stretch>
            <a:fillRect/>
          </a:stretch>
        </p:blipFill>
        <p:spPr>
          <a:xfrm>
            <a:off x="8176931" y="1456091"/>
            <a:ext cx="215067" cy="215067"/>
          </a:xfrm>
          <a:prstGeom prst="rect">
            <a:avLst/>
          </a:prstGeom>
        </p:spPr>
      </p:pic>
      <p:sp>
        <p:nvSpPr>
          <p:cNvPr id="16" name="Text 12"/>
          <p:cNvSpPr txBox="1"/>
          <p:nvPr/>
        </p:nvSpPr>
        <p:spPr>
          <a:xfrm>
            <a:off x="8659368" y="1335024"/>
            <a:ext cx="2999232" cy="603504"/>
          </a:xfrm>
          <a:prstGeom prst="rect">
            <a:avLst/>
          </a:prstGeom>
          <a:noFill/>
          <a:ln/>
        </p:spPr>
        <p:txBody>
          <a:bodyPr wrap="square" lIns="0" tIns="0" rIns="0" bIns="0" rtlCol="0" anchor="t"/>
          <a:lstStyle/>
          <a:p>
            <a:pPr marL="0" indent="0">
              <a:buNone/>
            </a:pPr>
            <a:r>
              <a:rPr lang="en-US" sz="1300" b="1" dirty="0">
                <a:solidFill>
                  <a:schemeClr val="tx1"/>
                </a:solidFill>
              </a:rPr>
              <a:t>① 가상 침실</a:t>
            </a:r>
            <a:endParaRPr lang="en-US" sz="1300" dirty="0"/>
          </a:p>
          <a:p>
            <a:pPr marL="0" indent="0">
              <a:buNone/>
            </a:pPr>
            <a:r>
              <a:rPr lang="en-US" sz="1150" dirty="0">
                <a:solidFill>
                  <a:schemeClr val="tx1"/>
                </a:solidFill>
              </a:rPr>
              <a:t>한파의 밤 10시간을 60초로 진행함</a:t>
            </a:r>
            <a:endParaRPr lang="en-US" sz="1300" dirty="0"/>
          </a:p>
          <a:p>
            <a:pPr marL="0" indent="0">
              <a:buNone/>
            </a:pPr>
            <a:r>
              <a:rPr lang="en-US" sz="1150" dirty="0">
                <a:solidFill>
                  <a:schemeClr val="tx1"/>
                </a:solidFill>
              </a:rPr>
              <a:t>가전 상태를 반영해 온습도와 벽 온도를 만듦</a:t>
            </a:r>
            <a:endParaRPr lang="en-US" sz="1300" dirty="0"/>
          </a:p>
        </p:txBody>
      </p:sp>
      <p:sp>
        <p:nvSpPr>
          <p:cNvPr id="17" name="Shape 13"/>
          <p:cNvSpPr/>
          <p:nvPr/>
        </p:nvSpPr>
        <p:spPr>
          <a:xfrm>
            <a:off x="8092440" y="2029968"/>
            <a:ext cx="384048" cy="384048"/>
          </a:xfrm>
          <a:prstGeom prst="ellipse">
            <a:avLst/>
          </a:prstGeom>
          <a:solidFill>
            <a:schemeClr val="accent1"/>
          </a:solidFill>
          <a:ln w="12700">
            <a:solidFill>
              <a:srgbClr val="0066CC"/>
            </a:solidFill>
            <a:prstDash val="solid"/>
          </a:ln>
        </p:spPr>
      </p:sp>
      <p:pic>
        <p:nvPicPr>
          <p:cNvPr id="18" name="Image 2" descr="upload"/>
          <p:cNvPicPr>
            <a:picLocks noChangeAspect="1"/>
          </p:cNvPicPr>
          <p:nvPr/>
        </p:nvPicPr>
        <p:blipFill>
          <a:blip r:embed="rId5"/>
          <a:stretch>
            <a:fillRect/>
          </a:stretch>
        </p:blipFill>
        <p:spPr>
          <a:xfrm>
            <a:off x="8176931" y="2114459"/>
            <a:ext cx="215067" cy="215067"/>
          </a:xfrm>
          <a:prstGeom prst="rect">
            <a:avLst/>
          </a:prstGeom>
        </p:spPr>
      </p:pic>
      <p:sp>
        <p:nvSpPr>
          <p:cNvPr id="19" name="Text 14"/>
          <p:cNvSpPr txBox="1"/>
          <p:nvPr/>
        </p:nvSpPr>
        <p:spPr>
          <a:xfrm>
            <a:off x="8659368" y="1993392"/>
            <a:ext cx="2999232" cy="603504"/>
          </a:xfrm>
          <a:prstGeom prst="rect">
            <a:avLst/>
          </a:prstGeom>
          <a:noFill/>
          <a:ln/>
        </p:spPr>
        <p:txBody>
          <a:bodyPr wrap="square" lIns="0" tIns="0" rIns="0" bIns="0" rtlCol="0" anchor="t"/>
          <a:lstStyle/>
          <a:p>
            <a:pPr marL="0" indent="0">
              <a:buNone/>
            </a:pPr>
            <a:r>
              <a:rPr lang="en-US" sz="1300" b="1" dirty="0">
                <a:solidFill>
                  <a:schemeClr val="tx1"/>
                </a:solidFill>
              </a:rPr>
              <a:t>② 센서값 전송</a:t>
            </a:r>
            <a:endParaRPr lang="en-US" sz="1300" dirty="0"/>
          </a:p>
          <a:p>
            <a:pPr marL="0" indent="0">
              <a:buNone/>
            </a:pPr>
            <a:r>
              <a:rPr lang="en-US" sz="1150" dirty="0">
                <a:solidFill>
                  <a:schemeClr val="tx1"/>
                </a:solidFill>
              </a:rPr>
              <a:t>0.5초마다 USB로 DK에 보냄</a:t>
            </a:r>
            <a:endParaRPr lang="en-US" sz="1300" dirty="0"/>
          </a:p>
          <a:p>
            <a:pPr marL="0" indent="0">
              <a:buNone/>
            </a:pPr>
            <a:r>
              <a:rPr lang="en-US" sz="1150" dirty="0">
                <a:solidFill>
                  <a:schemeClr val="tx1"/>
                </a:solidFill>
              </a:rPr>
              <a:t>실제 제품에서는 센서가 이 값을 측정함</a:t>
            </a:r>
            <a:endParaRPr lang="en-US" sz="1300" dirty="0"/>
          </a:p>
        </p:txBody>
      </p:sp>
      <p:sp>
        <p:nvSpPr>
          <p:cNvPr id="20" name="Shape 15"/>
          <p:cNvSpPr/>
          <p:nvPr/>
        </p:nvSpPr>
        <p:spPr>
          <a:xfrm>
            <a:off x="8092440" y="2688336"/>
            <a:ext cx="384048" cy="384048"/>
          </a:xfrm>
          <a:prstGeom prst="ellipse">
            <a:avLst/>
          </a:prstGeom>
          <a:solidFill>
            <a:schemeClr val="accent1"/>
          </a:solidFill>
          <a:ln w="12700">
            <a:solidFill>
              <a:srgbClr val="0066CC"/>
            </a:solidFill>
            <a:prstDash val="solid"/>
          </a:ln>
        </p:spPr>
      </p:sp>
      <p:pic>
        <p:nvPicPr>
          <p:cNvPr id="21" name="Image 3" descr="cpu"/>
          <p:cNvPicPr>
            <a:picLocks noChangeAspect="1"/>
          </p:cNvPicPr>
          <p:nvPr/>
        </p:nvPicPr>
        <p:blipFill>
          <a:blip r:embed="rId6"/>
          <a:stretch>
            <a:fillRect/>
          </a:stretch>
        </p:blipFill>
        <p:spPr>
          <a:xfrm>
            <a:off x="8176931" y="2772827"/>
            <a:ext cx="215067" cy="215067"/>
          </a:xfrm>
          <a:prstGeom prst="rect">
            <a:avLst/>
          </a:prstGeom>
        </p:spPr>
      </p:pic>
      <p:sp>
        <p:nvSpPr>
          <p:cNvPr id="22" name="Text 16"/>
          <p:cNvSpPr txBox="1"/>
          <p:nvPr/>
        </p:nvSpPr>
        <p:spPr>
          <a:xfrm>
            <a:off x="8659368" y="2651760"/>
            <a:ext cx="2999232" cy="603504"/>
          </a:xfrm>
          <a:prstGeom prst="rect">
            <a:avLst/>
          </a:prstGeom>
          <a:noFill/>
          <a:ln/>
        </p:spPr>
        <p:txBody>
          <a:bodyPr wrap="square" lIns="0" tIns="0" rIns="0" bIns="0" rtlCol="0" anchor="t"/>
          <a:lstStyle/>
          <a:p>
            <a:pPr marL="0" indent="0">
              <a:buNone/>
            </a:pPr>
            <a:r>
              <a:rPr lang="en-US" sz="1300" b="1" dirty="0">
                <a:solidFill>
                  <a:schemeClr val="tx1"/>
                </a:solidFill>
              </a:rPr>
              <a:t>③ DK 판단</a:t>
            </a:r>
            <a:endParaRPr lang="en-US" sz="1300" dirty="0"/>
          </a:p>
          <a:p>
            <a:pPr marL="0" indent="0">
              <a:buNone/>
            </a:pPr>
            <a:r>
              <a:rPr lang="en-US" sz="1150" dirty="0">
                <a:solidFill>
                  <a:schemeClr val="tx1"/>
                </a:solidFill>
              </a:rPr>
              <a:t>벽 표면 습도와 절대습도를 계산해</a:t>
            </a:r>
            <a:endParaRPr lang="en-US" sz="1300" dirty="0"/>
          </a:p>
          <a:p>
            <a:pPr marL="0" indent="0">
              <a:buNone/>
            </a:pPr>
            <a:r>
              <a:rPr lang="en-US" sz="1150" dirty="0">
                <a:solidFill>
                  <a:schemeClr val="tx1"/>
                </a:solidFill>
              </a:rPr>
              <a:t>가습기와 선풍기 ON/OFF를 결정함</a:t>
            </a:r>
            <a:endParaRPr lang="en-US" sz="1300" dirty="0"/>
          </a:p>
        </p:txBody>
      </p:sp>
      <p:sp>
        <p:nvSpPr>
          <p:cNvPr id="23" name="Shape 17"/>
          <p:cNvSpPr/>
          <p:nvPr/>
        </p:nvSpPr>
        <p:spPr>
          <a:xfrm>
            <a:off x="8092440" y="3346704"/>
            <a:ext cx="384048" cy="384048"/>
          </a:xfrm>
          <a:prstGeom prst="ellipse">
            <a:avLst/>
          </a:prstGeom>
          <a:solidFill>
            <a:schemeClr val="accent1"/>
          </a:solidFill>
          <a:ln w="12700">
            <a:solidFill>
              <a:srgbClr val="0066CC"/>
            </a:solidFill>
            <a:prstDash val="solid"/>
          </a:ln>
        </p:spPr>
      </p:sp>
      <p:pic>
        <p:nvPicPr>
          <p:cNvPr id="24" name="Image 4" descr="plug"/>
          <p:cNvPicPr>
            <a:picLocks noChangeAspect="1"/>
          </p:cNvPicPr>
          <p:nvPr/>
        </p:nvPicPr>
        <p:blipFill>
          <a:blip r:embed="rId7"/>
          <a:stretch>
            <a:fillRect/>
          </a:stretch>
        </p:blipFill>
        <p:spPr>
          <a:xfrm>
            <a:off x="8176931" y="3431195"/>
            <a:ext cx="215067" cy="215067"/>
          </a:xfrm>
          <a:prstGeom prst="rect">
            <a:avLst/>
          </a:prstGeom>
        </p:spPr>
      </p:pic>
      <p:sp>
        <p:nvSpPr>
          <p:cNvPr id="25" name="Text 18"/>
          <p:cNvSpPr txBox="1"/>
          <p:nvPr/>
        </p:nvSpPr>
        <p:spPr>
          <a:xfrm>
            <a:off x="8659368" y="3310128"/>
            <a:ext cx="2999232" cy="603504"/>
          </a:xfrm>
          <a:prstGeom prst="rect">
            <a:avLst/>
          </a:prstGeom>
          <a:noFill/>
          <a:ln/>
        </p:spPr>
        <p:txBody>
          <a:bodyPr wrap="square" lIns="0" tIns="0" rIns="0" bIns="0" rtlCol="0" anchor="t"/>
          <a:lstStyle/>
          <a:p>
            <a:pPr marL="0" indent="0">
              <a:buNone/>
            </a:pPr>
            <a:r>
              <a:rPr lang="en-US" sz="1300" b="1" dirty="0">
                <a:solidFill>
                  <a:schemeClr val="tx1"/>
                </a:solidFill>
              </a:rPr>
              <a:t>④ 릴레이 구동</a:t>
            </a:r>
            <a:endParaRPr lang="en-US" sz="1300" dirty="0"/>
          </a:p>
          <a:p>
            <a:pPr marL="0" indent="0">
              <a:buNone/>
            </a:pPr>
            <a:r>
              <a:rPr lang="en-US" sz="1150" dirty="0">
                <a:solidFill>
                  <a:schemeClr val="tx1"/>
                </a:solidFill>
              </a:rPr>
              <a:t>CH1 선풍기, CH2 가습기 전원을 켜고 끔</a:t>
            </a:r>
            <a:endParaRPr lang="en-US" sz="1300" dirty="0"/>
          </a:p>
          <a:p>
            <a:pPr marL="0" indent="0">
              <a:buNone/>
            </a:pPr>
            <a:r>
              <a:rPr lang="en-US" sz="1150" dirty="0">
                <a:solidFill>
                  <a:schemeClr val="tx1"/>
                </a:solidFill>
              </a:rPr>
              <a:t>딸깍 소리와 함께 가전이 실제로 바뀜</a:t>
            </a:r>
            <a:endParaRPr lang="en-US" sz="1300" dirty="0"/>
          </a:p>
        </p:txBody>
      </p:sp>
      <p:sp>
        <p:nvSpPr>
          <p:cNvPr id="26" name="Shape 19"/>
          <p:cNvSpPr/>
          <p:nvPr/>
        </p:nvSpPr>
        <p:spPr>
          <a:xfrm>
            <a:off x="8092440" y="4005072"/>
            <a:ext cx="384048" cy="384048"/>
          </a:xfrm>
          <a:prstGeom prst="ellipse">
            <a:avLst/>
          </a:prstGeom>
          <a:solidFill>
            <a:schemeClr val="accent1"/>
          </a:solidFill>
          <a:ln w="12700">
            <a:solidFill>
              <a:srgbClr val="0066CC"/>
            </a:solidFill>
            <a:prstDash val="solid"/>
          </a:ln>
        </p:spPr>
      </p:sp>
      <p:pic>
        <p:nvPicPr>
          <p:cNvPr id="27" name="Image 5" descr="wave"/>
          <p:cNvPicPr>
            <a:picLocks noChangeAspect="1"/>
          </p:cNvPicPr>
          <p:nvPr/>
        </p:nvPicPr>
        <p:blipFill>
          <a:blip r:embed="rId8"/>
          <a:stretch>
            <a:fillRect/>
          </a:stretch>
        </p:blipFill>
        <p:spPr>
          <a:xfrm>
            <a:off x="8176931" y="4089563"/>
            <a:ext cx="215067" cy="215067"/>
          </a:xfrm>
          <a:prstGeom prst="rect">
            <a:avLst/>
          </a:prstGeom>
        </p:spPr>
      </p:pic>
      <p:sp>
        <p:nvSpPr>
          <p:cNvPr id="28" name="Text 20"/>
          <p:cNvSpPr txBox="1"/>
          <p:nvPr/>
        </p:nvSpPr>
        <p:spPr>
          <a:xfrm>
            <a:off x="8659368" y="3968496"/>
            <a:ext cx="2999232" cy="603504"/>
          </a:xfrm>
          <a:prstGeom prst="rect">
            <a:avLst/>
          </a:prstGeom>
          <a:noFill/>
          <a:ln/>
        </p:spPr>
        <p:txBody>
          <a:bodyPr wrap="square" lIns="0" tIns="0" rIns="0" bIns="0" rtlCol="0" anchor="t"/>
          <a:lstStyle/>
          <a:p>
            <a:pPr marL="0" indent="0">
              <a:buNone/>
            </a:pPr>
            <a:r>
              <a:rPr lang="en-US" sz="1300" b="1" dirty="0">
                <a:solidFill>
                  <a:schemeClr val="tx1"/>
                </a:solidFill>
              </a:rPr>
              <a:t>⑤ Matter 보고</a:t>
            </a:r>
            <a:endParaRPr lang="en-US" sz="1300" dirty="0"/>
          </a:p>
          <a:p>
            <a:pPr marL="0" indent="0">
              <a:buNone/>
            </a:pPr>
            <a:r>
              <a:rPr lang="en-US" sz="1150" dirty="0">
                <a:solidFill>
                  <a:schemeClr val="tx1"/>
                </a:solidFill>
              </a:rPr>
              <a:t>같은 결과를 SmartThings 허브에 보고함</a:t>
            </a:r>
            <a:endParaRPr lang="en-US" sz="1300" dirty="0"/>
          </a:p>
          <a:p>
            <a:pPr marL="0" indent="0">
              <a:buNone/>
            </a:pPr>
            <a:r>
              <a:rPr lang="en-US" sz="1150" dirty="0">
                <a:solidFill>
                  <a:schemeClr val="tx1"/>
                </a:solidFill>
              </a:rPr>
              <a:t>12회 모두 수신 확인, 평균 92ms</a:t>
            </a:r>
            <a:endParaRPr lang="en-US" sz="1300" dirty="0"/>
          </a:p>
        </p:txBody>
      </p:sp>
      <p:sp>
        <p:nvSpPr>
          <p:cNvPr id="29" name="Shape 21"/>
          <p:cNvSpPr/>
          <p:nvPr/>
        </p:nvSpPr>
        <p:spPr>
          <a:xfrm>
            <a:off x="8092440" y="4663440"/>
            <a:ext cx="384048" cy="384048"/>
          </a:xfrm>
          <a:prstGeom prst="ellipse">
            <a:avLst/>
          </a:prstGeom>
          <a:solidFill>
            <a:schemeClr val="accent1"/>
          </a:solidFill>
          <a:ln w="12700">
            <a:solidFill>
              <a:srgbClr val="0066CC"/>
            </a:solidFill>
            <a:prstDash val="solid"/>
          </a:ln>
        </p:spPr>
      </p:sp>
      <p:pic>
        <p:nvPicPr>
          <p:cNvPr id="30" name="Image 6" descr="shield"/>
          <p:cNvPicPr>
            <a:picLocks noChangeAspect="1"/>
          </p:cNvPicPr>
          <p:nvPr/>
        </p:nvPicPr>
        <p:blipFill>
          <a:blip r:embed="rId9"/>
          <a:stretch>
            <a:fillRect/>
          </a:stretch>
        </p:blipFill>
        <p:spPr>
          <a:xfrm>
            <a:off x="8176931" y="4747931"/>
            <a:ext cx="215067" cy="215067"/>
          </a:xfrm>
          <a:prstGeom prst="rect">
            <a:avLst/>
          </a:prstGeom>
        </p:spPr>
      </p:pic>
      <p:sp>
        <p:nvSpPr>
          <p:cNvPr id="31" name="Text 22"/>
          <p:cNvSpPr txBox="1"/>
          <p:nvPr/>
        </p:nvSpPr>
        <p:spPr>
          <a:xfrm>
            <a:off x="8659368" y="4626864"/>
            <a:ext cx="2999232" cy="603504"/>
          </a:xfrm>
          <a:prstGeom prst="rect">
            <a:avLst/>
          </a:prstGeom>
          <a:noFill/>
          <a:ln/>
        </p:spPr>
        <p:txBody>
          <a:bodyPr wrap="square" lIns="0" tIns="0" rIns="0" bIns="0" rtlCol="0" anchor="t"/>
          <a:lstStyle/>
          <a:p>
            <a:pPr marL="0" indent="0">
              <a:buNone/>
            </a:pPr>
            <a:r>
              <a:rPr lang="en-US" sz="1300" b="1" dirty="0">
                <a:solidFill>
                  <a:schemeClr val="tx1"/>
                </a:solidFill>
              </a:rPr>
              <a:t>⑥ 결과: 누적 위험 시간</a:t>
            </a:r>
            <a:endParaRPr lang="en-US" sz="1300" dirty="0"/>
          </a:p>
          <a:p>
            <a:pPr marL="0" indent="0">
              <a:buNone/>
            </a:pPr>
            <a:r>
              <a:rPr lang="en-US" sz="1150" dirty="0">
                <a:solidFill>
                  <a:schemeClr val="tx1"/>
                </a:solidFill>
              </a:rPr>
              <a:t>우리 노드 0분, 최고 벽 표면 78%</a:t>
            </a:r>
            <a:endParaRPr lang="en-US" sz="1300" dirty="0"/>
          </a:p>
          <a:p>
            <a:pPr marL="0" indent="0">
              <a:buNone/>
            </a:pPr>
            <a:r>
              <a:rPr lang="en-US" sz="1150" dirty="0">
                <a:solidFill>
                  <a:schemeClr val="tx1"/>
                </a:solidFill>
              </a:rPr>
              <a:t>일반 가습기였다면 8시간 38분, 결로 6시간 14분</a:t>
            </a:r>
            <a:endParaRPr lang="en-US" sz="1300" dirty="0"/>
          </a:p>
        </p:txBody>
      </p:sp>
      <p:sp>
        <p:nvSpPr>
          <p:cNvPr id="32" name="Shape 23"/>
          <p:cNvSpPr/>
          <p:nvPr/>
        </p:nvSpPr>
        <p:spPr>
          <a:xfrm>
            <a:off x="640080" y="5815584"/>
            <a:ext cx="10927080" cy="0"/>
          </a:xfrm>
          <a:prstGeom prst="line">
            <a:avLst/>
          </a:prstGeom>
          <a:noFill/>
          <a:ln w="19050">
            <a:solidFill>
              <a:srgbClr val="E0E0E0"/>
            </a:solidFill>
            <a:prstDash val="solid"/>
          </a:ln>
        </p:spPr>
      </p:sp>
      <p:sp>
        <p:nvSpPr>
          <p:cNvPr id="33" name="Shape 24"/>
          <p:cNvSpPr/>
          <p:nvPr/>
        </p:nvSpPr>
        <p:spPr>
          <a:xfrm>
            <a:off x="548640" y="5733288"/>
            <a:ext cx="164592" cy="164592"/>
          </a:xfrm>
          <a:prstGeom prst="ellipse">
            <a:avLst/>
          </a:prstGeom>
          <a:solidFill>
            <a:schemeClr val="accent1"/>
          </a:solidFill>
          <a:ln w="12700">
            <a:solidFill>
              <a:srgbClr val="0066CC"/>
            </a:solidFill>
            <a:prstDash val="solid"/>
          </a:ln>
        </p:spPr>
      </p:sp>
      <p:sp>
        <p:nvSpPr>
          <p:cNvPr id="34" name="Text 25"/>
          <p:cNvSpPr txBox="1"/>
          <p:nvPr/>
        </p:nvSpPr>
        <p:spPr>
          <a:xfrm>
            <a:off x="548640" y="5943600"/>
            <a:ext cx="2103120" cy="457200"/>
          </a:xfrm>
          <a:prstGeom prst="rect">
            <a:avLst/>
          </a:prstGeom>
          <a:noFill/>
          <a:ln/>
        </p:spPr>
        <p:txBody>
          <a:bodyPr wrap="square" lIns="0" tIns="0" rIns="0" bIns="0" rtlCol="0" anchor="t"/>
          <a:lstStyle/>
          <a:p>
            <a:pPr marL="0" indent="0">
              <a:buNone/>
            </a:pPr>
            <a:r>
              <a:rPr lang="en-US" sz="1200" b="1" dirty="0">
                <a:solidFill>
                  <a:schemeClr val="tx1"/>
                </a:solidFill>
              </a:rPr>
              <a:t>22:00</a:t>
            </a:r>
            <a:endParaRPr lang="en-US" sz="1200" dirty="0"/>
          </a:p>
          <a:p>
            <a:pPr marL="0" indent="0">
              <a:buNone/>
            </a:pPr>
            <a:r>
              <a:rPr lang="en-US" sz="1200" dirty="0">
                <a:solidFill>
                  <a:schemeClr val="tx1"/>
                </a:solidFill>
              </a:rPr>
              <a:t>건조 → 가습 시작</a:t>
            </a:r>
            <a:endParaRPr lang="en-US" sz="1200" dirty="0"/>
          </a:p>
        </p:txBody>
      </p:sp>
      <p:sp>
        <p:nvSpPr>
          <p:cNvPr id="35" name="Shape 26"/>
          <p:cNvSpPr/>
          <p:nvPr/>
        </p:nvSpPr>
        <p:spPr>
          <a:xfrm>
            <a:off x="2788920" y="5733288"/>
            <a:ext cx="164592" cy="164592"/>
          </a:xfrm>
          <a:prstGeom prst="ellipse">
            <a:avLst/>
          </a:prstGeom>
          <a:solidFill>
            <a:schemeClr val="accent1"/>
          </a:solidFill>
          <a:ln w="12700">
            <a:solidFill>
              <a:srgbClr val="0066CC"/>
            </a:solidFill>
            <a:prstDash val="solid"/>
          </a:ln>
        </p:spPr>
      </p:sp>
      <p:sp>
        <p:nvSpPr>
          <p:cNvPr id="36" name="Text 27"/>
          <p:cNvSpPr txBox="1"/>
          <p:nvPr/>
        </p:nvSpPr>
        <p:spPr>
          <a:xfrm>
            <a:off x="2788920" y="5943600"/>
            <a:ext cx="2103120" cy="457200"/>
          </a:xfrm>
          <a:prstGeom prst="rect">
            <a:avLst/>
          </a:prstGeom>
          <a:noFill/>
          <a:ln/>
        </p:spPr>
        <p:txBody>
          <a:bodyPr wrap="square" lIns="0" tIns="0" rIns="0" bIns="0" rtlCol="0" anchor="t"/>
          <a:lstStyle/>
          <a:p>
            <a:pPr marL="0" indent="0">
              <a:buNone/>
            </a:pPr>
            <a:r>
              <a:rPr lang="en-US" sz="1200" b="1" dirty="0">
                <a:solidFill>
                  <a:schemeClr val="tx1"/>
                </a:solidFill>
              </a:rPr>
              <a:t>01:00</a:t>
            </a:r>
            <a:endParaRPr lang="en-US" sz="1200" dirty="0"/>
          </a:p>
          <a:p>
            <a:pPr marL="0" indent="0">
              <a:buNone/>
            </a:pPr>
            <a:r>
              <a:rPr lang="en-US" sz="1200" dirty="0">
                <a:solidFill>
                  <a:schemeClr val="tx1"/>
                </a:solidFill>
              </a:rPr>
              <a:t>표면 75% → 가습 정지</a:t>
            </a:r>
            <a:endParaRPr lang="en-US" sz="1200" dirty="0"/>
          </a:p>
        </p:txBody>
      </p:sp>
      <p:sp>
        <p:nvSpPr>
          <p:cNvPr id="37" name="Shape 28"/>
          <p:cNvSpPr/>
          <p:nvPr/>
        </p:nvSpPr>
        <p:spPr>
          <a:xfrm>
            <a:off x="5029200" y="5733288"/>
            <a:ext cx="164592" cy="164592"/>
          </a:xfrm>
          <a:prstGeom prst="ellipse">
            <a:avLst/>
          </a:prstGeom>
          <a:solidFill>
            <a:schemeClr val="accent1"/>
          </a:solidFill>
          <a:ln w="12700">
            <a:solidFill>
              <a:srgbClr val="0066CC"/>
            </a:solidFill>
            <a:prstDash val="solid"/>
          </a:ln>
        </p:spPr>
      </p:sp>
      <p:sp>
        <p:nvSpPr>
          <p:cNvPr id="38" name="Text 29"/>
          <p:cNvSpPr txBox="1"/>
          <p:nvPr/>
        </p:nvSpPr>
        <p:spPr>
          <a:xfrm>
            <a:off x="5029200" y="5943600"/>
            <a:ext cx="2103120" cy="457200"/>
          </a:xfrm>
          <a:prstGeom prst="rect">
            <a:avLst/>
          </a:prstGeom>
          <a:noFill/>
          <a:ln/>
        </p:spPr>
        <p:txBody>
          <a:bodyPr wrap="square" lIns="0" tIns="0" rIns="0" bIns="0" rtlCol="0" anchor="t"/>
          <a:lstStyle/>
          <a:p>
            <a:pPr marL="0" indent="0">
              <a:buNone/>
            </a:pPr>
            <a:r>
              <a:rPr lang="en-US" sz="1200" b="1" dirty="0">
                <a:solidFill>
                  <a:schemeClr val="tx1"/>
                </a:solidFill>
              </a:rPr>
              <a:t>01:10</a:t>
            </a:r>
            <a:endParaRPr lang="en-US" sz="1200" dirty="0"/>
          </a:p>
          <a:p>
            <a:pPr marL="0" indent="0">
              <a:buNone/>
            </a:pPr>
            <a:r>
              <a:rPr lang="en-US" sz="1200" dirty="0">
                <a:solidFill>
                  <a:schemeClr val="tx1"/>
                </a:solidFill>
              </a:rPr>
              <a:t>선풍기 ON, 효과 학습</a:t>
            </a:r>
            <a:endParaRPr lang="en-US" sz="1200" dirty="0"/>
          </a:p>
        </p:txBody>
      </p:sp>
      <p:sp>
        <p:nvSpPr>
          <p:cNvPr id="39" name="Shape 30"/>
          <p:cNvSpPr/>
          <p:nvPr/>
        </p:nvSpPr>
        <p:spPr>
          <a:xfrm>
            <a:off x="7269480" y="5733288"/>
            <a:ext cx="164592" cy="164592"/>
          </a:xfrm>
          <a:prstGeom prst="ellipse">
            <a:avLst/>
          </a:prstGeom>
          <a:solidFill>
            <a:schemeClr val="accent1"/>
          </a:solidFill>
          <a:ln w="12700">
            <a:solidFill>
              <a:srgbClr val="0066CC"/>
            </a:solidFill>
            <a:prstDash val="solid"/>
          </a:ln>
        </p:spPr>
      </p:sp>
      <p:sp>
        <p:nvSpPr>
          <p:cNvPr id="40" name="Text 31"/>
          <p:cNvSpPr txBox="1"/>
          <p:nvPr/>
        </p:nvSpPr>
        <p:spPr>
          <a:xfrm>
            <a:off x="7269480" y="5943600"/>
            <a:ext cx="2103120" cy="457200"/>
          </a:xfrm>
          <a:prstGeom prst="rect">
            <a:avLst/>
          </a:prstGeom>
          <a:noFill/>
          <a:ln/>
        </p:spPr>
        <p:txBody>
          <a:bodyPr wrap="square" lIns="0" tIns="0" rIns="0" bIns="0" rtlCol="0" anchor="t"/>
          <a:lstStyle/>
          <a:p>
            <a:pPr marL="0" indent="0">
              <a:buNone/>
            </a:pPr>
            <a:r>
              <a:rPr lang="en-US" sz="1200" b="1" dirty="0">
                <a:solidFill>
                  <a:schemeClr val="tx1"/>
                </a:solidFill>
              </a:rPr>
              <a:t>02:55~</a:t>
            </a:r>
            <a:endParaRPr lang="en-US" sz="1200" dirty="0"/>
          </a:p>
          <a:p>
            <a:pPr marL="0" indent="0">
              <a:buNone/>
            </a:pPr>
            <a:r>
              <a:rPr lang="en-US" sz="1200" dirty="0">
                <a:solidFill>
                  <a:schemeClr val="tx1"/>
                </a:solidFill>
              </a:rPr>
              <a:t>선풍기 켠 채 가습</a:t>
            </a:r>
            <a:endParaRPr lang="en-US" sz="1200" dirty="0"/>
          </a:p>
        </p:txBody>
      </p:sp>
      <p:sp>
        <p:nvSpPr>
          <p:cNvPr id="41" name="Shape 32"/>
          <p:cNvSpPr/>
          <p:nvPr/>
        </p:nvSpPr>
        <p:spPr>
          <a:xfrm>
            <a:off x="9509760" y="5733288"/>
            <a:ext cx="164592" cy="164592"/>
          </a:xfrm>
          <a:prstGeom prst="ellipse">
            <a:avLst/>
          </a:prstGeom>
          <a:solidFill>
            <a:schemeClr val="accent1"/>
          </a:solidFill>
          <a:ln w="12700">
            <a:solidFill>
              <a:srgbClr val="0066CC"/>
            </a:solidFill>
            <a:prstDash val="solid"/>
          </a:ln>
        </p:spPr>
      </p:sp>
      <p:sp>
        <p:nvSpPr>
          <p:cNvPr id="42" name="Text 33"/>
          <p:cNvSpPr txBox="1"/>
          <p:nvPr/>
        </p:nvSpPr>
        <p:spPr>
          <a:xfrm>
            <a:off x="9509760" y="5943600"/>
            <a:ext cx="2103120" cy="457200"/>
          </a:xfrm>
          <a:prstGeom prst="rect">
            <a:avLst/>
          </a:prstGeom>
          <a:noFill/>
          <a:ln/>
        </p:spPr>
        <p:txBody>
          <a:bodyPr wrap="square" lIns="0" tIns="0" rIns="0" bIns="0" rtlCol="0" anchor="t"/>
          <a:lstStyle/>
          <a:p>
            <a:pPr marL="0" indent="0">
              <a:buNone/>
            </a:pPr>
            <a:r>
              <a:rPr lang="en-US" sz="1200" b="1" dirty="0">
                <a:solidFill>
                  <a:schemeClr val="tx1"/>
                </a:solidFill>
              </a:rPr>
              <a:t>07:30</a:t>
            </a:r>
            <a:endParaRPr lang="en-US" sz="1200" dirty="0"/>
          </a:p>
          <a:p>
            <a:pPr marL="0" indent="0">
              <a:buNone/>
            </a:pPr>
            <a:r>
              <a:rPr lang="en-US" sz="1200" dirty="0">
                <a:solidFill>
                  <a:schemeClr val="tx1"/>
                </a:solidFill>
              </a:rPr>
              <a:t>벽 회복 → 선풍기 OFF</a:t>
            </a:r>
            <a:endParaRPr lang="en-US" sz="1200" dirty="0"/>
          </a:p>
        </p:txBody>
      </p:sp>
      <p:sp>
        <p:nvSpPr>
          <p:cNvPr id="43"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5</a:t>
            </a:fld>
            <a:endParaRPr lang="en-US"/>
          </a:p>
        </p:txBody>
      </p:sp>
    </p:spTree>
  </p:cSld>
  <p:clrMapOvr>
    <a:masterClrMapping/>
  </p:clrMapOvr>
</p:sld>
</file>

<file path=ppt/theme/theme1.xml><?xml version="1.0" encoding="utf-8"?>
<a:theme xmlns:a="http://schemas.openxmlformats.org/drawingml/2006/main" name="Bedroom Node">
  <a:themeElements>
    <a:clrScheme name="Bedroom Node">
      <a:dk1>
        <a:srgbClr val="000000"/>
      </a:dk1>
      <a:lt1>
        <a:srgbClr val="FFFFFF"/>
      </a:lt1>
      <a:dk2>
        <a:srgbClr val="000000"/>
      </a:dk2>
      <a:lt2>
        <a:srgbClr val="F5F5F7"/>
      </a:lt2>
      <a:accent1>
        <a:srgbClr val="0066CC"/>
      </a:accent1>
      <a:accent2>
        <a:srgbClr val="1D5C45"/>
      </a:accent2>
      <a:accent3>
        <a:srgbClr val="E30000"/>
      </a:accent3>
      <a:accent4>
        <a:srgbClr val="BF4800"/>
      </a:accent4>
      <a:accent5>
        <a:srgbClr val="8E8E93"/>
      </a:accent5>
      <a:accent6>
        <a:srgbClr val="2997FF"/>
      </a:accent6>
      <a:hlink>
        <a:srgbClr val="0066CC"/>
      </a:hlink>
      <a:folHlink>
        <a:srgbClr val="000000"/>
      </a:folHlink>
    </a:clrScheme>
    <a:fontScheme name="Bedroom Node">
      <a:majorFont>
        <a:latin typeface="Pretendard"/>
        <a:ea typeface="Pretendard"/>
        <a:cs typeface=""/>
        <a:font script="Jpan" typeface="游ゴシック Light"/>
        <a:font script="Hang" typeface="Pretendard"/>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Pretendard"/>
        <a:cs typeface=""/>
        <a:font script="Jpan" typeface="游ゴシック"/>
        <a:font script="Hang" typeface="Pretendard"/>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1573</Words>
  <Application>Microsoft Office PowerPoint</Application>
  <PresentationFormat>와이드스크린</PresentationFormat>
  <Paragraphs>256</Paragraphs>
  <Slides>5</Slides>
  <Notes>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5</vt:i4>
      </vt:variant>
    </vt:vector>
  </HeadingPairs>
  <TitlesOfParts>
    <vt:vector size="9" baseType="lpstr">
      <vt:lpstr>Pretendard</vt:lpstr>
      <vt:lpstr>Cambria Math</vt:lpstr>
      <vt:lpstr>Arial</vt:lpstr>
      <vt:lpstr>Bedroom Node</vt:lpstr>
      <vt:lpstr>방 습도계가 45%여도 차가운 벽 표면은 80%임</vt:lpstr>
      <vt:lpstr>nRF Connect SDK로 노드 하나를 엔드포인트 6개로 직접 구성함</vt:lpstr>
      <vt:lpstr>노드가 스스로 계산하고 학습하고 개입함</vt:lpstr>
      <vt:lpstr>기기마다 역할을 나눠 하나의 고리로 동작함</vt:lpstr>
      <vt:lpstr>한파의 밤 10시간을 60초로 재현해 누적 위험 시간 0분을 달성함</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침실 환경 면역 방어 노드</dc:title>
  <dc:subject>PptxGenJS Presentation</dc:subject>
  <dc:creator>밤새고 네집내집가기</dc:creator>
  <cp:lastModifiedBy>건우 박</cp:lastModifiedBy>
  <cp:revision>2</cp:revision>
  <dcterms:created xsi:type="dcterms:W3CDTF">2026-10-12T02:06:51Z</dcterms:created>
  <dcterms:modified xsi:type="dcterms:W3CDTF">2026-10-12T02:07:21Z</dcterms:modified>
</cp:coreProperties>
</file>