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embeddedFontLst>
    <p:embeddedFont>
      <p:font typeface="Pretendard" panose="02000503000000020004" pitchFamily="2" charset="-127"/>
      <p:regular r:id="rId8"/>
      <p:bold r:id="rId9"/>
    </p:embeddedFont>
    <p:embeddedFont>
      <p:font typeface="Cambria Math" panose="02040503050406030204" pitchFamily="18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9453E5FE-6A3D-5A91-782B-D399CB2631BF}">
          <p14:sldIdLst>
            <p14:sldId id="256"/>
          </p14:sldIdLst>
        </p14:section>
        <p14:section name="주요 개발 내용" id="{48698E11-F1C6-EFA5-2880-2181755A9D3B}">
          <p14:sldIdLst>
            <p14:sldId id="257"/>
            <p14:sldId id="258"/>
            <p14:sldId id="259"/>
          </p14:sldIdLst>
        </p14:section>
        <p14:section name="시연 내용" id="{B1716346-E395-CDAC-E62E-754BA9916C0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벽 표면 온도별 허용 실내 습도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(</a:t>
            </a: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실내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21℃)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8CB8E8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30-4E3D-88FD-DCEB6BA1A3DD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30-4E3D-88FD-DCEB6BA1A3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341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12℃까지 식은 북측 벽 표면에 닿은 공기는 80%임. 곰팡이 임계는 벽 표면 값으로 정해짐. 수면, 점막 방어, 곰팡이 세 목표가 서로 충돌하고, 벽 온도에 따라 허용 습도 구간이 30%에서 55%까지 달라짐. 이 구간을 계산해 지키는 것이 이 노드임.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4계층임. 판단은 nRF54LM20 DK 안에서 끝나고, 결과는 릴레이로 가전 전원을 켜고 끄며, 같은 결과를 Matter 엔드포인트로 SmartThings에 보고함. 릴레이는 LOW에서 켜지는 모듈이라 핀을 active-low로 정의함.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추가함. 습도와 온도는 표준 측정 클러스터로, 가습기와 선풍기는 On/Off로 노출함. 판단부가 속성을 설정하면 SDK가 허브로 ReportData를 보내고, 시연 1회 동안 11번 보고해 11번 모두 수신 확인을 받았으며 응답은 평균 92ms였음. 앱에서 직접 조작한 값은 콜백으로 받아 판단부에 반영함.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벽 표면 습도와 절대습도를 계산함. 예를 들어 방이 21℃, 45%이고 벽이 12℃이면 벽 표면 습도는 약 80%로 곰팡이 임계에 닿음. 75%에서 가습을 멈추고, 그래도 오르면 선풍기를 켬. 선풍기를 켤 때 벽이 몇 도 오르는지 스스로 재서, 선풍기를 꺼도 안전한지를 판단함. 선풍기로 허용 구간을 넓힌 뒤에는 선풍기를 켠 채로 가습을 이어가 점막 방어와 곰팡이 방어를 동시에 지킴.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시연은 오른쪽 순서로 동작함. 노트북의 가상 침실이 한파의 밤을 진행하며 0.5초마다 센서값을 DK로 보내고, DK가 벽 표면 습도를 계산해 릴레이로 가습기와 선풍기를 켜고 끄며, 같은 결과를 SmartThings 허브에 보고함. 바뀐 가전 상태는 다시 가상 침실에 반영됨. 실내 습도는 40%대에 머무는데 벽 표면 습도만 올라가고, 75%에서 노드가 가습을 멈춘 뒤 선풍기로 벽을 데움. 같은 밤 일반 가습기였다면 8시간 넘게 곰팡이 임계를 넘었을 것을 우리 노드는 0분으로 막음.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침실 환경 면역 방어 노드  |  팀 밤새고 네집내집가기  | 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7.png"/><Relationship Id="rId4" Type="http://schemas.openxmlformats.org/officeDocument/2006/relationships/image" Target="../media/image34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주제  (응모 분야 Living Assist)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45%여도 차가운 벽 표면은 80%임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벽 표면 습도를 계산해 곰팡이 임계 전에 가습기와 선풍기를 스스로 조절하는 Matter 디바이스를 제안함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방 공기 기준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E30000"/>
            </a:solidFill>
            <a:prstDash val="solid"/>
          </a:ln>
        </p:spPr>
      </p:sp>
      <p:pic>
        <p:nvPicPr>
          <p:cNvPr id="11" name="Image 1" descr="차가운 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수면: 침실 18~20℃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사용자가 정하는 제약 조건임 (Prather, SLEEP 2015)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방어: 절대습도 6 g/㎥ 이상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(Shaman &amp; Kohn, PNAS 2009)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곰팡이와 진드기: 벽 표면 80% 이하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(ISO 13788:2012)</a:t>
            </a:r>
            <a:endParaRPr lang="en-US" sz="14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6400800" y="1783080"/>
          <a:ext cx="5257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벽이 약 7.2℃ 아래로 내려가면 두 목표를 함께 만족하는 구간이 사라짐.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노드는 선풍기로 벽 표면을 데워 이 구간을 되찾음.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안에서 판단하고, 릴레이로 개입하고, Matter로 보고함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실내 온도와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온도, 침구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시연에서는 가상 침실이 값을 생성함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nRF54LM20 DK 안에서 처리함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습도 계산, 75/70% 판정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학습과 예측,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2채널 릴레이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CH1 선풍기, CH2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GPIO P1.20,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(Matter)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EP1 선풍기, EP5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EP2, EP3 습도, EP4 온도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표준 클러스터 사용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닫힌 고리: 선풍기와 가습기가 바꾼 환경이 다시 측정값으로 돌아옴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Station과 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Thread로 보고,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회로: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PCA10184, nRF54LM20B</a:t>
            </a:r>
            <a:endParaRPr lang="en-US" sz="1100" dirty="0"/>
          </a:p>
        </p:txBody>
      </p:sp>
      <p:pic>
        <p:nvPicPr>
          <p:cNvPr id="39" name="Image 5" descr="D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칩이 nRF54LM20B라 설명서의 a 타깃 대신 b로 빌드함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P1.20, P1.21을 GPIO_ACTIVE_LOW로 정의함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DK의 LED0 핀과 겹쳐 오동작해 옆 핀 P1.21로 이동함</a:t>
            </a:r>
            <a:endParaRPr lang="en-US" sz="13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구성함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243230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Info, 커미셔닝,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커미셔닝,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Level,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light_bulb.zap에 EP2~EP5를 추가하고 west zap-generate로 생성함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Accessors로 값 설정, ScheduleWork로 Matter 스레드에서 실행, 허브에 ReportData 전송함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MatterPostAttributeChangeCallback으로 받아 릴레이 구동과 판단부에 반영함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공장 데이터와 BLE로 SmartThings에 등록하고 Thread 네트워크에 합류함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11 / 11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92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보고 후 허브 응답 (평균)</a:t>
            </a:r>
            <a:endParaRPr lang="en-US" sz="1100" dirty="0"/>
          </a:p>
        </p:txBody>
      </p:sp>
      <p:pic>
        <p:nvPicPr>
          <p:cNvPr id="26" name="Image 7" descr="cpu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앱은 스위치와 센서가 섞인 기기에서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센서 엔드포인트를 표시하지 않음.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EP2~EP4 값은 시연 화면에서 함께 보여줌.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 학습하고 개입함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893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계산: 차가운 벽 앞 공기의 습도를 구함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81965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DK가 0.5초마다 직접 계산함, 클라우드 불필요</a:t>
            </a:r>
            <a:endParaRPr lang="en-US" sz="11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실내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방 온도,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벽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벽 표면 온도,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15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RH</m:t>
                    </m:r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상대습도(%),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50" b="0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포화 수증기압(hPa)</a:t>
                </a:r>
                <a:endParaRPr lang="ko-KR" sz="1150"/>
              </a:p>
            </p:txBody>
          </p:sp>
        </mc:Choice>
        <mc:Fallback xmlns="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150" dirty="0">
                    <a:solidFill>
                      <a:schemeClr val="tx1"/>
                    </a:solidFill>
                  </a:rPr>
                  <a:t>T실내: 방 온도, T벽: 벽 표면 온도, RH: 상대습도(%), Pₛ: 포화 수증기압(hPa)</a:t>
                </a:r>
                <a:endParaRPr lang="en-US" sz="1150" dirty="0"/>
              </a:p>
            </p:txBody>
          </p:sp>
        </mc:Fallback>
      </mc:AlternateContent>
      <p:sp>
        <p:nvSpPr>
          <p:cNvPr id="10" name="Shape 7"/>
          <p:cNvSpPr/>
          <p:nvPr/>
        </p:nvSpPr>
        <p:spPr>
          <a:xfrm>
            <a:off x="777240" y="2560320"/>
            <a:ext cx="553212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651760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포화 수증기압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온도별로 공기가 품을 수 있는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수증기의 최대치임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)=6.112</m:t>
                      </m:r>
                      <m:func>
                        <m:func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17.62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num>
                                <m:den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243.12+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Pₛ(T) = 6.112 exp(17.62T / (243.12 + T))</a:t>
                </a:r>
                <a:endParaRPr lang="en-US" sz="1500" dirty="0"/>
              </a:p>
            </p:txBody>
          </p:sp>
        </mc:Fallback>
      </mc:AlternateContent>
      <p:sp>
        <p:nvSpPr>
          <p:cNvPr id="13" name="Text 10"/>
          <p:cNvSpPr txBox="1"/>
          <p:nvPr/>
        </p:nvSpPr>
        <p:spPr>
          <a:xfrm>
            <a:off x="777240" y="3401568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벽 표면 상대습도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방 공기가 벽 온도로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식었을 때의 습도임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실내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RH표면 = RH실내 × Pₛ(T실내) / Pₛ(T벽)</a:t>
                </a:r>
                <a:endParaRPr lang="en-US" sz="1500" dirty="0"/>
              </a:p>
            </p:txBody>
          </p:sp>
        </mc:Fallback>
      </mc:AlternateContent>
      <p:sp>
        <p:nvSpPr>
          <p:cNvPr id="15" name="Text 12"/>
          <p:cNvSpPr txBox="1"/>
          <p:nvPr/>
        </p:nvSpPr>
        <p:spPr>
          <a:xfrm>
            <a:off x="777240" y="4151376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③ 절대습도 (g/㎥)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공기 1㎥에 든 수증기 양,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점막 방어의 기준임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AH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216.7×</m:t>
                          </m:r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  <m:d>
                            <m:dPr>
                              <m:ctrl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273.15+</m:t>
                              </m:r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AH = 216.7 × RH × Pₛ(T) / (100 (273.15 + T))</a:t>
                </a:r>
                <a:endParaRPr lang="en-US" sz="1500" dirty="0"/>
              </a:p>
            </p:txBody>
          </p:sp>
        </mc:Fallback>
      </mc:AlternateContent>
      <p:sp>
        <p:nvSpPr>
          <p:cNvPr id="17" name="Text 14"/>
          <p:cNvSpPr txBox="1"/>
          <p:nvPr/>
        </p:nvSpPr>
        <p:spPr>
          <a:xfrm>
            <a:off x="777240" y="490118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④ 허용 상한 (표 3)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벽 표면이 80%를 넘지 않는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실내 습도의 최댓값임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상한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=80×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RH상한 = 80 × Pₛ(T벽) / Pₛ(T실내)</a:t>
                </a:r>
                <a:endParaRPr lang="en-US" sz="1500" dirty="0"/>
              </a:p>
            </p:txBody>
          </p:sp>
        </mc:Fallback>
      </mc:AlternateContent>
      <p:sp>
        <p:nvSpPr>
          <p:cNvPr id="19" name="Shape 16"/>
          <p:cNvSpPr/>
          <p:nvPr/>
        </p:nvSpPr>
        <p:spPr>
          <a:xfrm>
            <a:off x="731520" y="5641848"/>
            <a:ext cx="56235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564184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예) 방 21℃, 45%이고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벽이 12℃이면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4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=45×</m:t>
                      </m:r>
                      <m:f>
                        <m:f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24.8</m:t>
                          </m:r>
                        </m:num>
                        <m:den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14.0</m:t>
                          </m:r>
                        </m:den>
                      </m:f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≈80%</m:t>
                      </m:r>
                    </m:oMath>
                  </m:oMathPara>
                </a14:m>
                <a:endParaRPr lang="ko-KR" sz="1400"/>
              </a:p>
            </p:txBody>
          </p:sp>
        </mc:Choice>
        <mc:Fallback xmlns="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400" dirty="0">
                    <a:solidFill>
                      <a:schemeClr val="tx1"/>
                    </a:solidFill>
                  </a:rPr>
                  <a:t>RH표면 = 45 × 24.8 / 14.0 ≈ 80%</a:t>
                </a:r>
                <a:endParaRPr lang="en-US" sz="1400" dirty="0"/>
              </a:p>
            </p:txBody>
          </p:sp>
        </mc:Fallback>
      </mc:AlternateContent>
      <p:sp>
        <p:nvSpPr>
          <p:cNvPr id="22" name="Text 19"/>
          <p:cNvSpPr txBox="1"/>
          <p:nvPr/>
        </p:nvSpPr>
        <p:spPr>
          <a:xfrm>
            <a:off x="68122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 규칙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812280" y="18105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747" y="1890979"/>
            <a:ext cx="204826" cy="20482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360920" y="1773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곰팡이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75%에서 가습 정지, 70% 미만에서만 재개함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812280" y="2359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7" name="Image 2" descr="dropl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747" y="2439619"/>
            <a:ext cx="204826" cy="20482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60920" y="23225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점막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절대습도 6.5 g/㎥ 미만이면 가습, 8 g/㎥에서 정지함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812280" y="29077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0" name="Image 3" descr="fa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747" y="2988259"/>
            <a:ext cx="204826" cy="20482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360920" y="2871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선풍기 개입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가습을 멈춰도 75% 이상이면 선풍기로 벽 표면을 데움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812280" y="34564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3" name="Image 4" descr="bra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2747" y="3536899"/>
            <a:ext cx="204826" cy="204826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360920" y="341985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학습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효과(시연 +2.8℃)를 재서 끄는 시점을 판단함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6812280" y="400507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6" name="Image 5" descr="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2747" y="4085539"/>
            <a:ext cx="204826" cy="20482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360920" y="3968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예측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온도 추세로 임계 80%까지 남은 시간을 계산함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6812280" y="45537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9" name="Image 6" descr="joi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2747" y="4634179"/>
            <a:ext cx="204826" cy="204826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5171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동시 가동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선풍기로 넓힌 구간에서 켠 채 가습해 ②, ③을 함께 지킴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6812280" y="5102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2" name="Image 7" descr="use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2747" y="5182819"/>
            <a:ext cx="204826" cy="20482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360920" y="5065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우선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앱 조작은 30분 존중, 벽 표면 80%를 넘으면 방어를 우선함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6812280" y="56509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5" name="Image 8" descr="histor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2747" y="5731459"/>
            <a:ext cx="204826" cy="204826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360920" y="56144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기록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80% 이상인 시간을 누적 위험 시간으로 기록함</a:t>
            </a:r>
            <a:endParaRPr lang="en-US" sz="13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60초로 재현해 누적 위험 시간 0분을 달성함</a:t>
            </a:r>
            <a:endParaRPr lang="en-US" sz="3000" dirty="0"/>
          </a:p>
        </p:txBody>
      </p:sp>
      <p:pic>
        <p:nvPicPr>
          <p:cNvPr id="4" name="Image 0" descr="시연 화면: 가상 침실과 판단 노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보드를 연결한 03:00 화면. 실내와 벽 표면 습도, 노드의 판단, 가습기와 선풍기, 허브 보고를 한 화면에 보여줌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84464" y="1563624"/>
            <a:ext cx="0" cy="329184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00416" y="4197096"/>
            <a:ext cx="192024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7900416" y="1563624"/>
            <a:ext cx="0" cy="2633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7900416" y="1563624"/>
            <a:ext cx="192024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09244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1" descr="lap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31" y="1456091"/>
            <a:ext cx="215067" cy="215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659368" y="1335024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가상 침실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한파의 밤 10시간을 60초로 진행함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가전 상태를 반영해 온습도와 벽 온도를 만듦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9244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4" name="Image 2" descr="uplo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931" y="2114459"/>
            <a:ext cx="215067" cy="21506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659368" y="1993392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센서값 전송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0.5초마다 USB로 DK에 보냄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실제 제품에서는 센서가 이 값을 측정함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92440" y="268833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3" descr="cp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6931" y="2772827"/>
            <a:ext cx="215067" cy="21506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59368" y="2651760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③ DK 판단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벽 표면 습도와 절대습도를 계산해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가습기와 선풍기 ON/OFF를 결정함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8092440" y="33467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4" descr="plu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6931" y="3431195"/>
            <a:ext cx="215067" cy="21506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659368" y="3310128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④ 릴레이 구동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CH1 선풍기, CH2 가습기 전원을 켜고 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딸깍 소리와 함께 가전이 실제로 바뀜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092440" y="400507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6931" y="4089563"/>
            <a:ext cx="215067" cy="21506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659368" y="3968496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⑤ Matter 보고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결과를 SmartThings 허브에 보고함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11회 모두 수신 확인, 평균 92ms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8092440" y="4663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6" name="Image 6" descr="shiel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6931" y="4747931"/>
            <a:ext cx="215067" cy="21506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659368" y="4626864"/>
            <a:ext cx="2999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⑥ 결과: 누적 위험 시간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우리 노드 0분, 최고 벽 표면 78%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일반 가습기였다면 8시간 38분, 최고 119%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ON, 효과 학습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02:55~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07:25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000000"/>
      </a:dk1>
      <a:lt1>
        <a:srgbClr val="FFFFFF"/>
      </a:lt1>
      <a:dk2>
        <a:srgbClr val="000000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000000"/>
      </a:folHlink>
    </a:clrScheme>
    <a:fontScheme name="Bedroom Nod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1333</Words>
  <Application>Microsoft Office PowerPoint</Application>
  <PresentationFormat>와이드스크린</PresentationFormat>
  <Paragraphs>207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</vt:lpstr>
      <vt:lpstr>Cambria Math</vt:lpstr>
      <vt:lpstr>Arial</vt:lpstr>
      <vt:lpstr>Bedroom Node</vt:lpstr>
      <vt:lpstr>방 습도계가 45%여도 차가운 벽 표면은 80%임</vt:lpstr>
      <vt:lpstr>보드 안에서 판단하고, 릴레이로 개입하고, Matter로 보고함</vt:lpstr>
      <vt:lpstr>nRF Connect SDK로 노드 하나를 엔드포인트 6개로 직접 구성함</vt:lpstr>
      <vt:lpstr>노드가 스스로 계산하고 학습하고 개입함</vt:lpstr>
      <vt:lpstr>한파의 밤 10시간을 60초로 재현해 누적 위험 시간 0분을 달성함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건우 박</cp:lastModifiedBy>
  <cp:revision>2</cp:revision>
  <dcterms:created xsi:type="dcterms:W3CDTF">2026-10-12T01:52:22Z</dcterms:created>
  <dcterms:modified xsi:type="dcterms:W3CDTF">2026-10-12T01:52:28Z</dcterms:modified>
</cp:coreProperties>
</file>