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a5b37329-ddbc-c281-bde4-ae3a76af07c3}">
          <p14:sldIdLst>
            <p14:sldId id="256"/>
          </p14:sldIdLst>
        </p14:section>
        <p14:section name="주요 개발 내용" id="{fa487d0a-50ca-e40e-f562-939851156b30}">
          <p14:sldIdLst>
            <p14:sldId id="257"/>
            <p14:sldId id="258"/>
            <p14:sldId id="259"/>
          </p14:sldIdLst>
        </p14:section>
        <p14:section name="시연 내용" id="{0711be4d-f726-8838-86c8-2b9cf18399f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1D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D1D1F"/>
                </a:solidFill>
                <a:latin typeface="+mn-lt"/>
              </a:rPr>
              <a:t>벽 표면 온도별 허용 실내 습도 (실내 21℃)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15℃</c:v>
                  </c:pt>
                  <c:pt idx="1">
                    <c:v>12℃</c:v>
                  </c:pt>
                  <c:pt idx="2">
                    <c:v>9℃</c:v>
                  </c:pt>
                  <c:pt idx="3">
                    <c:v>약 7.2℃</c:v>
                  </c:pt>
                  <c:pt idx="4">
                    <c:v>6℃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Base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solidFill>
              <a:srgbClr val="E30000"/>
            </a:solidFill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30000"/>
              </a:solidFill>
              <a:ln w="9525" cap="flat">
                <a:solidFill>
                  <a:srgbClr val="E3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15℃</c:v>
                  </c:pt>
                  <c:pt idx="1">
                    <c:v>12℃</c:v>
                  </c:pt>
                  <c:pt idx="2">
                    <c:v>9℃</c:v>
                  </c:pt>
                  <c:pt idx="3">
                    <c:v>약 7.2℃</c:v>
                  </c:pt>
                  <c:pt idx="4">
                    <c:v>6℃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E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E6E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12도까지 식은 북측 벽 표면에 닿은 공기는 80%입니다. 곰팡이 임계는 벽 표면 값으로 정해집니다. 수면, 점막 방어, 곰팡이 세 목표가 서로 충돌하고, 벽 온도에 따라 허용 습도 구간이 30%에서 55%까지 달라집니다. 이 구간을 계산해 지키는 것이 이 노드입니다.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4계층입니다. 판단은 nRF54LM20 DK 안에서 끝나고, 결과는 릴레이로 가전 전원을 켜고 끄며, 같은 결과를 Matter 엔드포인트로 SmartThings에 보고합니다. 릴레이는 LOW에서 켜지는 모듈이라 핀을 active-low로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추가했습니다. 습도·온도는 표준 측정 클러스터로, 가습기와 선풍기는 On/Off로 노출합니다. 판단부가 속성을 설정하면 SDK가 허브로 ReportData를 보내고, 시연 1회 동안 13번 보고해 13번 모두 수신 확인을 받았고, 응답은 평균 92ms였습니다. 앱에서 직접 조작한 값은 콜백으로 받아 판단부에 반영합니다.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표면 습도와 절대습도를 계산합니다. 75%에서 가습을 멈추고, 그래도 오르면 선풍기를 켭니다. 선풍기를 켤 때 벽이 몇 도 오르는지 스스로 재서, 선풍기를 꺼도 안전한지를 판단합니다. 선풍기로 허용 구간을 넓힌 뒤에는 선풍기를 켠 채로 가습을 이어가 점막 방어와 곰팡이 방어를 동시에 지킵니다.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화면 하나로 시연합니다. 22시부터 08시까지를 60초로 압축했습니다. 실내 습도는 40%대에 머무는데 벽 표면 습도만 올라가고, 75%에서 노드가 가습을 멈춘 뒤 선풍기로 벽을 데웁니다. 그 순간 릴레이가 딸깍하고, 노드가 허브로 보고하는 것이 화면에 표시됩니다. 같은 밤 일반 가습기였다면 8시간 넘게 곰팡이 임계를 넘었을 것을 우리 노드는 0분으로 막았습니다.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침실 환경 면역 방어 노드 · 팀 밤새고 네집내집가기 ·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핵심 주제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45%일 때, 차가운 벽 표면은 80%입니다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벽 표면의 습도를 계산해 곰팡이 임계 전에 가습기와 선풍기를 스스로 조절하는 Matter 디바이스 · 응모 분야 Living Assist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방 공기의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1" name="Image 1" descr="차가운 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 · 침실 18~20℃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Prather, SLEEP 2015 · 사용자가 정하는 제약 조건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 · 절대습도 6 g/㎥ 이상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Shaman &amp; Kohn, PNAS 2009 · 노드가 제어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곰팡이·진드기 · 벽 표면 80% 이하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ISO 13788:2012 · 노드가 제어</a:t>
            </a:r>
            <a:endParaRPr lang="en-US" sz="14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400800" y="1783080"/>
          <a:ext cx="5257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벽이 약 7.2℃ 아래로 내려가면 두 목표를 함께 만족하는 구간이 사라집니다. 노드는 선풍기로 벽 표면을 데워 이 구간을 되찾습니다.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판단은 보드 안에서, 개입은 릴레이로, 결과는 Matter로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실내 온·습도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벽 표면 온도 · 침구 습도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시연: 가상 침실이 값 생성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rgbClr val="2E7D60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9DD"/>
                </a:solidFill>
              </a:rPr>
              <a:t>nRF54LM20 DK 안에서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9DD"/>
                </a:solidFill>
              </a:rPr>
              <a:t>표면 습도 · 75/70% 판정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9DD"/>
                </a:solidFill>
              </a:rPr>
              <a:t>학습 · 예측 ·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2채널 릴레이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CH1 선풍기 · CH2 가습기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GPIO P1.20 ·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· Matter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EP1 선풍기 · EP5 가습기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EP2·3 습도 · EP4 온도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표준 클러스터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닫힌 고리: 선풍기·가습기가 바꾼 환경이 다시 측정값으로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 · 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</a:rPr>
              <a:t>Thread로 보고 ·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 ·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chemeClr val="accent2"/>
          </a:solidFill>
          <a:ln w="1270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PCA10184 · nRF54LM20B</a:t>
            </a:r>
            <a:endParaRPr lang="en-US" sz="1100" dirty="0"/>
          </a:p>
        </p:txBody>
      </p:sp>
      <p:pic>
        <p:nvPicPr>
          <p:cNvPr id="39" name="Image 5" descr="D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9DD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칩이 nRF54LM20B라 설명서의 a 타깃 대신 b로 빌드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P1.20 · P1.21 = GPIO_ACTIVE_LOW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DK의 LED0 핀과 겹쳐 오동작 → 옆 핀 P1.21로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48840"/>
                <a:gridCol w="2148840"/>
                <a:gridCol w="2194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 · 커미셔닝 ·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 ·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· Level ·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·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light_bulb.zap에 EP2~EP5 추가 → west zap-generate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Accessors로 값 설정, ScheduleWork로 Matter 스레드에서 실행 → 허브에 ReportData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MatterPostAttributeChangeCallback → 릴레이 구동 + 판단부 반영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공장 데이터 + BLE로 SmartThings 등록 → Thread 네트워크 합류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/ 13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92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보고 → 허브 응답 (평균)</a:t>
            </a:r>
            <a:endParaRPr lang="en-US" sz="1100" dirty="0"/>
          </a:p>
        </p:txBody>
      </p:sp>
      <p:pic>
        <p:nvPicPr>
          <p:cNvPr id="26" name="Image 7" descr="cpu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SmartThings 앱은 스위치와 센서가 섞인 기기에서 센서 엔드포인트를 표시하지 않아, EP2~EP4 값은 시연 화면에서 함께 보여줍니다.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계산하고, 학습하고, 개입합니다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206240" cy="48463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627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 (0.5초마다)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포화 수증기압 (Magnus)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23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Pₛ(T) = 6.112 · exp(17.62T / (243.12 + T))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벽 표면 상대습도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46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RHₛ = RH실내 · Pₛ(T실내) / Pₛ(T벽)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794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절대습도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069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AH = 216.7 · (RH/100 · Pₛ(T)) / (273.15 + T)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617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허용 상한 (표 3)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892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RH상한 = 80 · Pₛ(T벽) / Pₛ(T실내)</a:t>
            </a:r>
            <a:endParaRPr lang="en-US" sz="1400" dirty="0"/>
          </a:p>
        </p:txBody>
      </p:sp>
      <p:pic>
        <p:nvPicPr>
          <p:cNvPr id="16" name="Image 1" descr="클라우드 불필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3212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88720" y="54864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판단·학습·예측은 모두 DK 안에서. Wi-Fi나 클라우드가 끊겨도 방어는 계속됩니다.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7492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2" descr="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411" y="1456091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41848" y="1335024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곰팡이 방어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벽 표면 75%(ISO 80 − 불확실성 5%p)에서 가습 정지, 70% 아래에서만 재개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74920" y="1975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9411" y="2059595"/>
            <a:ext cx="215067" cy="21506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641848" y="1938528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 점막 방어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절대습도 6.5 g/㎥ 아래면 가습, 8 g/㎥에서 정지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074920" y="25786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5" name="Image 4" descr="f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9411" y="2663099"/>
            <a:ext cx="215067" cy="21506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41848" y="2542032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선풍기 개입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가습을 멈춰도 75% 이상이면 0.5초 뒤 선풍기 ON → 벽 표면을 데움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5074920" y="318211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8" name="Image 5" descr="bra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9411" y="3266603"/>
            <a:ext cx="215067" cy="215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641848" y="3145536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 학습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선풍기 ON 후 3분간 벽 표면 상승폭을 재고(시연 +2.8℃) 끄는 시점을 판단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507492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1" name="Image 6" descr="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9411" y="3870107"/>
            <a:ext cx="215067" cy="215067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1848" y="3749040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 예측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벽 표면 온도 추세로 임계 80% 도달까지 남은 시간 계산</a:t>
            </a:r>
            <a:endParaRPr lang="en-US" sz="1400" dirty="0"/>
          </a:p>
        </p:txBody>
      </p:sp>
      <p:sp>
        <p:nvSpPr>
          <p:cNvPr id="33" name="Shape 24"/>
          <p:cNvSpPr/>
          <p:nvPr/>
        </p:nvSpPr>
        <p:spPr>
          <a:xfrm>
            <a:off x="5074920" y="4389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4" name="Image 7" descr="jo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9411" y="4473611"/>
            <a:ext cx="215067" cy="215067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1848" y="4352544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동시 가동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선풍기로 넓힌 구간 안에서 선풍기를 켠 채 가습 재개 (②·③ 동시 충족)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5074920" y="49926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7" name="Image 8" descr="us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9411" y="5077115"/>
            <a:ext cx="215067" cy="215067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5641848" y="4956048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사용자 우선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앱·버튼 조작은 30분 존중, 벽 표면 80%를 넘으면 방어 우선</a:t>
            </a:r>
            <a:endParaRPr lang="en-US" sz="1400" dirty="0"/>
          </a:p>
        </p:txBody>
      </p:sp>
      <p:sp>
        <p:nvSpPr>
          <p:cNvPr id="39" name="Shape 28"/>
          <p:cNvSpPr/>
          <p:nvPr/>
        </p:nvSpPr>
        <p:spPr>
          <a:xfrm>
            <a:off x="5074920" y="55961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0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411" y="5680619"/>
            <a:ext cx="215067" cy="215067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641848" y="5559552"/>
            <a:ext cx="6016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기록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</a:rPr>
              <a:t>벽 표면 80% 이상이었던 시간을 누적 위험 시간으로 기록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60초에: 누적 위험 시간 0분</a:t>
            </a:r>
            <a:endParaRPr lang="en-US" sz="3000" dirty="0"/>
          </a:p>
        </p:txBody>
      </p:sp>
      <p:pic>
        <p:nvPicPr>
          <p:cNvPr id="4" name="Image 0" descr="시연 화면: 가상 침실과 판단 노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실제 보드를 연결한 03:00 화면 · 실내·벽 표면 습도, 노드의 판단, 가습기·선풍기, 허브 보고가 한 화면에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092440" y="14447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7" name="Image 1" descr="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977" y="1537289"/>
            <a:ext cx="235549" cy="23554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59368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0분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8659368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누적 위험 시간 · 우리 노드 (실제 보드)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92440" y="235915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2" descr="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4977" y="2451689"/>
            <a:ext cx="235549" cy="23554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59368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8시간 38분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8659368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같은 밤 · 일반 가습기(60% 목표)였다면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92440" y="32735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977" y="3366089"/>
            <a:ext cx="235549" cy="23554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59368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77% / 119%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8659368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최고 벽 표면 습도 · 우리 노드 / 일반 가습기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92440" y="4187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4" descr="f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977" y="4280489"/>
            <a:ext cx="235549" cy="23554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59368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+2.8℃</a:t>
            </a:r>
            <a:endParaRPr lang="en-US" sz="3000" dirty="0"/>
          </a:p>
        </p:txBody>
      </p:sp>
      <p:sp>
        <p:nvSpPr>
          <p:cNvPr id="21" name="Text 14"/>
          <p:cNvSpPr txBox="1"/>
          <p:nvPr/>
        </p:nvSpPr>
        <p:spPr>
          <a:xfrm>
            <a:off x="8659368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노드가 학습한 선풍기 효과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선풍기 ON · 효과 학습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02:45~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1D1D1F"/>
      </a:dk1>
      <a:lt1>
        <a:srgbClr val="FFFFFF"/>
      </a:lt1>
      <a:dk2>
        <a:srgbClr val="6E6E73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6E6E73"/>
      </a:folHlink>
    </a:clrScheme>
    <a:fontScheme name="Bedroom Nod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밤새고 네집내집가기</cp:lastModifiedBy>
  <cp:revision>1</cp:revision>
  <dcterms:created xsi:type="dcterms:W3CDTF">2026-10-12T01:08:56Z</dcterms:created>
  <dcterms:modified xsi:type="dcterms:W3CDTF">2026-10-12T01:08:56Z</dcterms:modified>
</cp:coreProperties>
</file>